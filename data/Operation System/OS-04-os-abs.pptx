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</p:sldMasterIdLst>
  <p:notesMasterIdLst>
    <p:notesMasterId r:id="rId90"/>
  </p:notesMasterIdLst>
  <p:handoutMasterIdLst>
    <p:handoutMasterId r:id="rId91"/>
  </p:handoutMasterIdLst>
  <p:sldIdLst>
    <p:sldId id="2769" r:id="rId3"/>
    <p:sldId id="2313" r:id="rId4"/>
    <p:sldId id="2689" r:id="rId5"/>
    <p:sldId id="2766" r:id="rId6"/>
    <p:sldId id="2263" r:id="rId7"/>
    <p:sldId id="2764" r:id="rId8"/>
    <p:sldId id="2765" r:id="rId9"/>
    <p:sldId id="2317" r:id="rId10"/>
    <p:sldId id="2727" r:id="rId11"/>
    <p:sldId id="2728" r:id="rId12"/>
    <p:sldId id="1359" r:id="rId13"/>
    <p:sldId id="2729" r:id="rId14"/>
    <p:sldId id="2730" r:id="rId15"/>
    <p:sldId id="2244" r:id="rId16"/>
    <p:sldId id="2245" r:id="rId17"/>
    <p:sldId id="2731" r:id="rId18"/>
    <p:sldId id="2248" r:id="rId19"/>
    <p:sldId id="2732" r:id="rId20"/>
    <p:sldId id="2249" r:id="rId21"/>
    <p:sldId id="2258" r:id="rId22"/>
    <p:sldId id="2256" r:id="rId23"/>
    <p:sldId id="2259" r:id="rId24"/>
    <p:sldId id="2260" r:id="rId25"/>
    <p:sldId id="2261" r:id="rId26"/>
    <p:sldId id="2264" r:id="rId27"/>
    <p:sldId id="2265" r:id="rId28"/>
    <p:sldId id="2733" r:id="rId29"/>
    <p:sldId id="2270" r:id="rId30"/>
    <p:sldId id="2734" r:id="rId31"/>
    <p:sldId id="2272" r:id="rId32"/>
    <p:sldId id="2759" r:id="rId33"/>
    <p:sldId id="2246" r:id="rId34"/>
    <p:sldId id="2275" r:id="rId35"/>
    <p:sldId id="2277" r:id="rId36"/>
    <p:sldId id="2279" r:id="rId37"/>
    <p:sldId id="2280" r:id="rId38"/>
    <p:sldId id="2281" r:id="rId39"/>
    <p:sldId id="2282" r:id="rId40"/>
    <p:sldId id="2283" r:id="rId41"/>
    <p:sldId id="2284" r:id="rId42"/>
    <p:sldId id="2285" r:id="rId43"/>
    <p:sldId id="2739" r:id="rId44"/>
    <p:sldId id="2319" r:id="rId45"/>
    <p:sldId id="2738" r:id="rId46"/>
    <p:sldId id="2741" r:id="rId47"/>
    <p:sldId id="2750" r:id="rId48"/>
    <p:sldId id="2751" r:id="rId49"/>
    <p:sldId id="2752" r:id="rId50"/>
    <p:sldId id="2754" r:id="rId51"/>
    <p:sldId id="2755" r:id="rId52"/>
    <p:sldId id="2691" r:id="rId53"/>
    <p:sldId id="2692" r:id="rId54"/>
    <p:sldId id="2693" r:id="rId55"/>
    <p:sldId id="2778" r:id="rId56"/>
    <p:sldId id="2771" r:id="rId57"/>
    <p:sldId id="2772" r:id="rId58"/>
    <p:sldId id="2779" r:id="rId59"/>
    <p:sldId id="2782" r:id="rId60"/>
    <p:sldId id="2700" r:id="rId61"/>
    <p:sldId id="2783" r:id="rId62"/>
    <p:sldId id="2784" r:id="rId63"/>
    <p:sldId id="2785" r:id="rId64"/>
    <p:sldId id="2786" r:id="rId65"/>
    <p:sldId id="2787" r:id="rId66"/>
    <p:sldId id="2788" r:id="rId67"/>
    <p:sldId id="2789" r:id="rId68"/>
    <p:sldId id="2790" r:id="rId69"/>
    <p:sldId id="2721" r:id="rId70"/>
    <p:sldId id="2722" r:id="rId71"/>
    <p:sldId id="2756" r:id="rId72"/>
    <p:sldId id="2757" r:id="rId73"/>
    <p:sldId id="2318" r:id="rId74"/>
    <p:sldId id="2278" r:id="rId75"/>
    <p:sldId id="2289" r:id="rId76"/>
    <p:sldId id="2290" r:id="rId77"/>
    <p:sldId id="2291" r:id="rId78"/>
    <p:sldId id="2292" r:id="rId79"/>
    <p:sldId id="2294" r:id="rId80"/>
    <p:sldId id="2295" r:id="rId81"/>
    <p:sldId id="2296" r:id="rId82"/>
    <p:sldId id="2297" r:id="rId83"/>
    <p:sldId id="2298" r:id="rId84"/>
    <p:sldId id="2299" r:id="rId85"/>
    <p:sldId id="2758" r:id="rId86"/>
    <p:sldId id="2760" r:id="rId87"/>
    <p:sldId id="2761" r:id="rId88"/>
    <p:sldId id="2762" r:id="rId89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600"/>
    <a:srgbClr val="F2F2F2"/>
    <a:srgbClr val="007AC3"/>
    <a:srgbClr val="0033CC"/>
    <a:srgbClr val="0432FF"/>
    <a:srgbClr val="73FEFF"/>
    <a:srgbClr val="941100"/>
    <a:srgbClr val="212121"/>
    <a:srgbClr val="005493"/>
    <a:srgbClr val="FF2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83356" autoAdjust="0"/>
  </p:normalViewPr>
  <p:slideViewPr>
    <p:cSldViewPr>
      <p:cViewPr>
        <p:scale>
          <a:sx n="90" d="100"/>
          <a:sy n="90" d="100"/>
        </p:scale>
        <p:origin x="1784" y="728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notesMaster" Target="notesMasters/notesMaster1.xml"/><Relationship Id="rId95" Type="http://schemas.openxmlformats.org/officeDocument/2006/relationships/tableStyles" Target="tableStyles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2025/9/23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964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如何使用</a:t>
            </a:r>
            <a:r>
              <a:rPr kumimoji="1" lang="en-US" altLang="zh-CN" dirty="0"/>
              <a:t>CPU</a:t>
            </a:r>
            <a:r>
              <a:rPr kumimoji="1" lang="zh-CN" altLang="en-US" dirty="0"/>
              <a:t>资源、内存资源、设备资源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直通</a:t>
            </a:r>
            <a:br>
              <a:rPr kumimoji="1" lang="en-US" altLang="zh-CN" dirty="0"/>
            </a:br>
            <a:r>
              <a:rPr kumimoji="1" lang="en-US" altLang="zh-CN" dirty="0"/>
              <a:t>ISA</a:t>
            </a:r>
            <a:r>
              <a:rPr kumimoji="1" lang="zh-CN" altLang="en-US" dirty="0"/>
              <a:t>：系统</a:t>
            </a:r>
            <a:r>
              <a:rPr kumimoji="1" lang="en-US" altLang="zh-CN" dirty="0"/>
              <a:t>ISA</a:t>
            </a:r>
            <a:r>
              <a:rPr kumimoji="1" lang="zh-CN" altLang="en-US" dirty="0"/>
              <a:t>、用户</a:t>
            </a:r>
            <a:r>
              <a:rPr kumimoji="1" lang="en-US" altLang="zh-CN" dirty="0"/>
              <a:t>ISA</a:t>
            </a:r>
            <a:br>
              <a:rPr kumimoji="1" lang="en-US" altLang="zh-CN" dirty="0"/>
            </a:br>
            <a:br>
              <a:rPr kumimoji="1" lang="en-US" altLang="zh-CN" dirty="0"/>
            </a:br>
            <a:r>
              <a:rPr kumimoji="1" lang="zh-CN" altLang="en-US" dirty="0"/>
              <a:t>抽象</a:t>
            </a:r>
            <a:endParaRPr kumimoji="1" lang="en-US" altLang="zh-CN" dirty="0"/>
          </a:p>
          <a:p>
            <a:r>
              <a:rPr kumimoji="1" lang="en-US" altLang="zh-CN" dirty="0"/>
              <a:t>CPU</a:t>
            </a:r>
            <a:r>
              <a:rPr kumimoji="1" lang="zh-CN" altLang="en-US" dirty="0"/>
              <a:t>、内存、设备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028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设置每个程序每次最长 连续运行的时间（称为时间片）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696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比如运行</a:t>
            </a:r>
            <a:r>
              <a:rPr kumimoji="1" lang="en-US" altLang="zh-CN" dirty="0"/>
              <a:t>lab</a:t>
            </a:r>
            <a:r>
              <a:rPr kumimoji="1" lang="zh-CN" altLang="en-US" dirty="0"/>
              <a:t>中的</a:t>
            </a:r>
            <a:r>
              <a:rPr kumimoji="1" lang="en-US" altLang="zh-CN" dirty="0"/>
              <a:t>bomb</a:t>
            </a:r>
            <a:r>
              <a:rPr kumimoji="1" lang="zh-CN" altLang="en-US" dirty="0"/>
              <a:t>程序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596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30528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一个进程的指令和另一个进程的指令交错执行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5439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父进程和新创建的子进程有不同的</a:t>
            </a:r>
            <a:r>
              <a:rPr kumimoji="1" lang="en-US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endParaRPr kumimoji="1" lang="zh-CN" alt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3578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子进程的代码和父进程完全一样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15321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0293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err="1"/>
              <a:t>Fork+execve</a:t>
            </a:r>
            <a:r>
              <a:rPr kumimoji="1" lang="zh-CN" altLang="en-US" dirty="0"/>
              <a:t>（创建一个不同的应用进程）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6831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5997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进程所观察到 的是一段连续的虚拟地址空间。一块连续虚拟地址的区域可以映射到多块不连 续的物理内存区域，对于没有使用的虚拟地址区域，操作系统可以不做映射， 从而节省物理内存。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9529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程序员在编程时，无需关心物理内存具体如何分配，也不用关心所使用的地址是否会与其他进程重叠；实际运行时的内存资源分配由操作系统负责，进而大大减轻了程序员的负担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每个应用程序的虚拟地址空间是彼此隔离的，因此应用程序在运行期间的内存读写，对其他应用程序是不可见的，这样就保证了不同应用程序之间的隔离，防止出错程序或恶意程序 干扰或破坏其他程序的执行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5334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操作系统可以选择只将程序实际正在使用的 虚拟地址映射到物理内存地址，对于从未被进程使用的虚拟地址，操作系统还可以不将其映射到任何位置，从而提高内存的资源利用率。</a:t>
            </a:r>
            <a:br>
              <a:rPr kumimoji="1" lang="en-US" altLang="zh-CN" dirty="0"/>
            </a:br>
            <a:br>
              <a:rPr kumimoji="1" lang="en-US" altLang="zh-CN" dirty="0"/>
            </a:br>
            <a:r>
              <a:rPr kumimoji="1" lang="zh-CN" altLang="en-US" dirty="0"/>
              <a:t>操作系统可以选择将部分虚拟内存区域的数据暂存到磁盘上，从而允许应用程序能够使用的内存大小突破物理内存的容量限制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4726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内核部分。进程地址空间最顶端的部分，通常是为操作系统内核保留的区 域，又可以进一步细分为内核代码段、内核数据段、内核栈等。应用程序无法 直接访问这部分内存区域，只有操作系统内核才能访问。对于不同进程来说， 这部分虚拟地址空间的映射都是一样的。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在上面的例子中，由于内核地址空间对用户进程不可见，因此</a:t>
            </a:r>
            <a:r>
              <a:rPr kumimoji="1" lang="en-US" altLang="zh-CN" dirty="0"/>
              <a:t>maps</a:t>
            </a:r>
            <a:r>
              <a:rPr kumimoji="1" lang="zh-CN" altLang="en-US" dirty="0"/>
              <a:t>内容 没有包含内核部分的映射。除此之外，</a:t>
            </a:r>
            <a:r>
              <a:rPr kumimoji="1" lang="en-US" altLang="zh-CN" dirty="0"/>
              <a:t>maps</a:t>
            </a:r>
            <a:r>
              <a:rPr kumimoji="1" lang="zh-CN" altLang="en-US" dirty="0"/>
              <a:t>的内容与图</a:t>
            </a:r>
            <a:r>
              <a:rPr kumimoji="1" lang="en-US" altLang="zh-CN" dirty="0"/>
              <a:t>3.17</a:t>
            </a:r>
            <a:r>
              <a:rPr kumimoji="1" lang="zh-CN" altLang="en-US" dirty="0"/>
              <a:t>基本吻合，但还有 一些额外的区域，例如</a:t>
            </a:r>
            <a:r>
              <a:rPr kumimoji="1" lang="en-US" altLang="zh-CN" dirty="0" err="1"/>
              <a:t>vdso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vvar</a:t>
            </a:r>
            <a:r>
              <a:rPr kumimoji="1" lang="zh-CN" altLang="en-US" dirty="0"/>
              <a:t>是与系统调用相关的内存区域。另外，进 程也会映射一些匿名内存区域用于完成缓存、共享内存等工作，这里不做展 开。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2647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内核部分。进程地址空间最顶端的部分，通常是为操作系统内核保留的区 域，又可以进一步细分为内核代码段、内核数据段、内核栈等。应用程序无法 直接访问这部分内存区域，只有操作系统内核才能访问。对于不同进程来说， 这部分虚拟地址空间的映射都是一样的。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在上面的例子中，由于内核地址空间对用户进程不可见，因此</a:t>
            </a:r>
            <a:r>
              <a:rPr kumimoji="1" lang="en-US" altLang="zh-CN" dirty="0"/>
              <a:t>maps</a:t>
            </a:r>
            <a:r>
              <a:rPr kumimoji="1" lang="zh-CN" altLang="en-US" dirty="0"/>
              <a:t>内容 没有包含内核部分的映射。除此之外，</a:t>
            </a:r>
            <a:r>
              <a:rPr kumimoji="1" lang="en-US" altLang="zh-CN" dirty="0"/>
              <a:t>maps</a:t>
            </a:r>
            <a:r>
              <a:rPr kumimoji="1" lang="zh-CN" altLang="en-US" dirty="0"/>
              <a:t>的内容与图</a:t>
            </a:r>
            <a:r>
              <a:rPr kumimoji="1" lang="en-US" altLang="zh-CN" dirty="0"/>
              <a:t>3.17</a:t>
            </a:r>
            <a:r>
              <a:rPr kumimoji="1" lang="zh-CN" altLang="en-US" dirty="0"/>
              <a:t>基本吻合，但还有 一些额外的区域，例如</a:t>
            </a:r>
            <a:r>
              <a:rPr kumimoji="1" lang="en-US" altLang="zh-CN" dirty="0" err="1"/>
              <a:t>vdso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vvar</a:t>
            </a:r>
            <a:r>
              <a:rPr kumimoji="1" lang="zh-CN" altLang="en-US" dirty="0"/>
              <a:t>是与系统调用相关的内存区域。另外，进 程也会映射一些匿名内存区域用于完成缓存、共享内存等工作，这里不做展 开。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7258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内存相关的系统调用在后面的课程中介绍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5072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文件除了作为存储设备的抽象，网络设备（</a:t>
            </a:r>
            <a:r>
              <a:rPr kumimoji="1" lang="en-US" altLang="zh-CN" dirty="0"/>
              <a:t>socket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87914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非所有设备都适合被抽象为文件，通过</a:t>
            </a:r>
            <a:r>
              <a:rPr kumimoji="1" lang="en-US" altLang="zh-CN" dirty="0"/>
              <a:t>read</a:t>
            </a:r>
            <a:r>
              <a:rPr kumimoji="1" lang="zh-CN" altLang="en-US" dirty="0"/>
              <a:t>、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接口来操 作。例如，如果说将音频数据写入声音设备就能播放该音频的话，那么调整音 量应该如何操作呢？如果说将图像数据写入显卡就能显示图像，那么调节分辨 率、刷新率该如何操作呢？为了实现这些并不标准的操作，操作系统提供了更 加通用的底层接口</a:t>
            </a:r>
            <a:r>
              <a:rPr kumimoji="1" lang="en-US" altLang="zh-CN" dirty="0" err="1"/>
              <a:t>ioctl</a:t>
            </a:r>
            <a:r>
              <a:rPr kumimoji="1" lang="zh-CN" altLang="en-US" dirty="0"/>
              <a:t>，来允许应用程序以更灵活的方式向设备发送命令与 数据。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2859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进程使用设备资源（通过文件抽象）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205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585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624512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360576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19320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814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4800" dirty="0"/>
              <a:t>从应用视角看操作系统抽象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CS3601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操作系统（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2025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微软雅黑"/>
              </a:rPr>
              <a:t>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副标题 5">
            <a:extLst>
              <a:ext uri="{FF2B5EF4-FFF2-40B4-BE49-F238E27FC236}">
                <a16:creationId xmlns:a16="http://schemas.microsoft.com/office/drawing/2014/main" id="{8E6E9FE5-704E-7677-1033-E056DF5C6602}"/>
              </a:ext>
            </a:extLst>
          </p:cNvPr>
          <p:cNvSpPr txBox="1">
            <a:spLocks/>
          </p:cNvSpPr>
          <p:nvPr/>
        </p:nvSpPr>
        <p:spPr>
          <a:xfrm>
            <a:off x="685800" y="3297888"/>
            <a:ext cx="7772400" cy="122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董明凯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IPADS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上海交通大学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856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版权声明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/>
              <a:t>本内容版权归</a:t>
            </a:r>
            <a:r>
              <a:rPr lang="zh-CN" altLang="en-US" sz="2000" dirty="0"/>
              <a:t>上海交通大学并行与分布式系统研究所</a:t>
            </a:r>
            <a:r>
              <a:rPr lang="zh-CN" altLang="en-US" sz="2000" b="0" dirty="0"/>
              <a:t>所有</a:t>
            </a:r>
            <a:endParaRPr lang="en-US" altLang="zh-CN" sz="2000" b="0" dirty="0"/>
          </a:p>
          <a:p>
            <a:r>
              <a:rPr lang="zh-CN" altLang="en-US" sz="2000" b="0" dirty="0"/>
              <a:t>使用者可以将全部或部分本内容免费用于非商业用途</a:t>
            </a:r>
            <a:endParaRPr lang="en-US" altLang="zh-CN" sz="2000" b="0" dirty="0"/>
          </a:p>
          <a:p>
            <a:r>
              <a:rPr lang="zh-CN" altLang="en-US" sz="2000" b="0" dirty="0"/>
              <a:t>使用者在使用全部或部分本内容时请注明来源</a:t>
            </a:r>
            <a:endParaRPr lang="en-US" altLang="zh-CN" sz="2000" b="0" dirty="0"/>
          </a:p>
          <a:p>
            <a:pPr lvl="1"/>
            <a:r>
              <a:rPr lang="zh-CN" altLang="en-US" sz="1600" dirty="0"/>
              <a:t>内容</a:t>
            </a:r>
            <a:r>
              <a:rPr lang="zh-CN" altLang="en-US" sz="1600" b="0" dirty="0"/>
              <a:t>来自</a:t>
            </a:r>
            <a:r>
              <a:rPr lang="zh-CN" altLang="en-US" sz="1600" dirty="0"/>
              <a:t>：上海交通大学并行与分布式系统研究所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b="0" dirty="0"/>
          </a:p>
          <a:p>
            <a:r>
              <a:rPr lang="zh-CN" altLang="en-US" sz="2000" b="0" dirty="0"/>
              <a:t>对于不遵守此声明或者其他违法使用本内容者，将依法保留追究权</a:t>
            </a:r>
            <a:endParaRPr lang="en-US" altLang="zh-CN" sz="2000" b="0" dirty="0"/>
          </a:p>
          <a:p>
            <a:r>
              <a:rPr lang="zh-CN" altLang="en-US" sz="2000" b="0" dirty="0"/>
              <a:t>本内容的发布采用 </a:t>
            </a:r>
            <a:r>
              <a:rPr lang="en-US" altLang="zh-CN" sz="2000" b="0" dirty="0"/>
              <a:t>Creative Commons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Attribution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4.0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License</a:t>
            </a:r>
            <a:endParaRPr lang="en-US" altLang="zh-CN" sz="2400" b="0" dirty="0"/>
          </a:p>
          <a:p>
            <a:pPr lvl="1"/>
            <a:r>
              <a:rPr lang="zh-CN" altLang="en-US" sz="1600" dirty="0"/>
              <a:t>完整文本：</a:t>
            </a:r>
            <a:r>
              <a:rPr lang="en-US" altLang="zh-CN" sz="1600" dirty="0">
                <a:hlinkClick r:id="rId2"/>
              </a:rPr>
              <a:t>https://creativecommons.org/licenses/by/4.0/legalcode</a:t>
            </a:r>
            <a:endParaRPr lang="en-US" altLang="zh-CN" sz="1800" b="0" dirty="0"/>
          </a:p>
          <a:p>
            <a:endParaRPr kumimoji="1" lang="zh-CN" altLang="en-US" sz="200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2E5CE76-2F4D-9342-BAA0-201C8B147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017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8333B-342C-56F1-180B-C9A6C65CB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38F1D3-8C25-588C-9195-03F2E491E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9AB554B-75FB-7596-5890-DDBD71726E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129308"/>
            <a:ext cx="7174146" cy="439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389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9AF81BF-789B-3B4E-8A65-E26308EA0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系统调用（回顾）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3FD2469-E0B1-FE4B-9F15-731DA3CB9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F6C5AF-D2BA-0F4F-81C7-AAA045BB4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814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B2A85F-6EE2-B743-A20D-96CF8F2D4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5EF2D9-3283-8B47-A5AC-BC8B73F5D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硬件提供了一对指令在用户态、内核态之间切换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svc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/</a:t>
            </a:r>
            <a:r>
              <a:rPr kumimoji="1" lang="zh-CN" altLang="en-US" sz="2000" dirty="0"/>
              <a:t> </a:t>
            </a:r>
            <a:r>
              <a:rPr kumimoji="1" lang="en-US" altLang="zh-CN" sz="2000" dirty="0" err="1"/>
              <a:t>eret</a:t>
            </a:r>
            <a:endParaRPr kumimoji="1" lang="en-US" altLang="zh-CN" sz="2200" dirty="0"/>
          </a:p>
          <a:p>
            <a:r>
              <a:rPr kumimoji="1" lang="zh-CN" altLang="en-US" sz="2400" dirty="0"/>
              <a:t>系统调用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用户与操作系统之间，类似于过程调用的接口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通过受限的方式访问内核提供的服务</a:t>
            </a:r>
          </a:p>
        </p:txBody>
      </p:sp>
      <p:grpSp>
        <p:nvGrpSpPr>
          <p:cNvPr id="5" name="组合 2">
            <a:extLst>
              <a:ext uri="{FF2B5EF4-FFF2-40B4-BE49-F238E27FC236}">
                <a16:creationId xmlns:a16="http://schemas.microsoft.com/office/drawing/2014/main" id="{CAA63033-28D2-8B41-BA8A-DDC966B66C9F}"/>
              </a:ext>
            </a:extLst>
          </p:cNvPr>
          <p:cNvGrpSpPr>
            <a:grpSpLocks/>
          </p:cNvGrpSpPr>
          <p:nvPr/>
        </p:nvGrpSpPr>
        <p:grpSpPr bwMode="auto">
          <a:xfrm>
            <a:off x="1392238" y="4053421"/>
            <a:ext cx="5160962" cy="1547812"/>
            <a:chOff x="1995126" y="4260645"/>
            <a:chExt cx="6882197" cy="206353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A49BE1-B378-9B44-8A3F-AD80067893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126" y="4260645"/>
              <a:ext cx="1106202" cy="4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latin typeface="Arial" panose="020B0604020202020204" pitchFamily="34" charset="0"/>
                </a:rPr>
                <a:t>用户态</a:t>
              </a:r>
              <a:endParaRPr lang="en-US" altLang="zh-CN" sz="1800" dirty="0">
                <a:latin typeface="Arial" panose="020B060402020202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3FF82DF-EF5C-E848-93AF-44C8F9898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6574" y="4414838"/>
              <a:ext cx="1106202" cy="4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latin typeface="Arial" panose="020B0604020202020204" pitchFamily="34" charset="0"/>
                </a:rPr>
                <a:t>内核态</a:t>
              </a:r>
              <a:endParaRPr lang="en-US" altLang="zh-CN" sz="1800" dirty="0">
                <a:latin typeface="Arial" panose="020B0604020202020204" pitchFamily="34" charset="0"/>
              </a:endParaRPr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C21927C0-E695-FF43-A612-C7F620A3EC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5788" y="4795838"/>
              <a:ext cx="0" cy="3635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07F1FA58-39CC-514E-B01A-0F2F4D5E58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2138" y="5165725"/>
              <a:ext cx="28067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C9C3C3B6-FD69-1A4D-882C-73C3D2EB30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45188" y="5172075"/>
              <a:ext cx="0" cy="596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D0B46FF2-6453-3C4F-BE89-B1FC7F72E7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25788" y="5329237"/>
              <a:ext cx="2825750" cy="4524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A53CFF04-6976-4548-AD53-4394C97E4B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5788" y="5322888"/>
              <a:ext cx="6350" cy="6969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3B4995ED-42DC-1042-AD1C-AEB02DAC22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1" y="5257800"/>
              <a:ext cx="2933722" cy="459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b="0" i="1" dirty="0">
                  <a:latin typeface="Arial" panose="020B0604020202020204" pitchFamily="34" charset="0"/>
                </a:rPr>
                <a:t>系统调用代码</a:t>
              </a:r>
              <a:endParaRPr lang="en-US" altLang="zh-CN" sz="1800" b="0" i="1" dirty="0">
                <a:latin typeface="Arial" panose="020B0604020202020204" pitchFamily="34" charset="0"/>
              </a:endParaRPr>
            </a:p>
          </p:txBody>
        </p:sp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B030275C-013A-A34B-AF77-09D1BDB1C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183" y="5864908"/>
              <a:ext cx="711294" cy="4592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1800" b="0" dirty="0" err="1">
                  <a:latin typeface="Arial" panose="020B0604020202020204" pitchFamily="34" charset="0"/>
                </a:rPr>
                <a:t>eret</a:t>
              </a:r>
              <a:endParaRPr lang="en-US" altLang="zh-CN" sz="1350" b="0" dirty="0">
                <a:latin typeface="Arial" panose="020B0604020202020204" pitchFamily="34" charset="0"/>
              </a:endParaRPr>
            </a:p>
          </p:txBody>
        </p:sp>
        <p:sp>
          <p:nvSpPr>
            <p:cNvPr id="15" name="Text Box 16">
              <a:extLst>
                <a:ext uri="{FF2B5EF4-FFF2-40B4-BE49-F238E27FC236}">
                  <a16:creationId xmlns:a16="http://schemas.microsoft.com/office/drawing/2014/main" id="{ACF33873-25D6-2245-8B1F-9F71993CED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7790" y="4699001"/>
              <a:ext cx="707981" cy="492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</a:rPr>
                <a:t>svc</a:t>
              </a:r>
            </a:p>
          </p:txBody>
        </p:sp>
        <p:sp>
          <p:nvSpPr>
            <p:cNvPr id="16" name="Text Box 17">
              <a:extLst>
                <a:ext uri="{FF2B5EF4-FFF2-40B4-BE49-F238E27FC236}">
                  <a16:creationId xmlns:a16="http://schemas.microsoft.com/office/drawing/2014/main" id="{2D9355AB-3AF3-7E45-9654-277DB9D168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5350" y="5181600"/>
              <a:ext cx="853273" cy="533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next</a:t>
              </a:r>
              <a:endParaRPr lang="en-US" altLang="zh-CN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36789FC0-4105-BA45-BF1C-0750E85CB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714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42809B-CCBA-D34F-8839-FCA141BA8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eret</a:t>
            </a:r>
            <a:r>
              <a:rPr kumimoji="1" lang="zh-CN" altLang="en-US" dirty="0"/>
              <a:t>：从内核态返回到用户态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E165A4-911C-2749-89B1-35BBB2342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kumimoji="1" lang="zh-CN" altLang="en-US" dirty="0"/>
              <a:t>将</a:t>
            </a:r>
            <a:r>
              <a:rPr kumimoji="1" lang="en" altLang="zh-CN" dirty="0"/>
              <a:t>SPSR_EL1</a:t>
            </a:r>
            <a:r>
              <a:rPr kumimoji="1" lang="zh-CN" altLang="en-US" dirty="0"/>
              <a:t>中的处理器状态写入</a:t>
            </a:r>
            <a:r>
              <a:rPr kumimoji="1" lang="en" altLang="zh-CN" dirty="0"/>
              <a:t>PSTATE</a:t>
            </a:r>
            <a:r>
              <a:rPr kumimoji="1" lang="zh-CN" altLang="en-US" dirty="0"/>
              <a:t>中</a:t>
            </a:r>
            <a:endParaRPr kumimoji="1" lang="en-US" altLang="zh-CN" dirty="0"/>
          </a:p>
          <a:p>
            <a:pPr marL="914400" lvl="1" indent="-514350"/>
            <a:r>
              <a:rPr kumimoji="1" lang="zh-CN" altLang="en-US" dirty="0"/>
              <a:t>处理器状态也从 </a:t>
            </a:r>
            <a:r>
              <a:rPr kumimoji="1" lang="en" altLang="zh-CN" dirty="0"/>
              <a:t>EL1 </a:t>
            </a:r>
            <a:r>
              <a:rPr kumimoji="1" lang="zh-CN" altLang="en-US" dirty="0"/>
              <a:t>切换到 </a:t>
            </a:r>
            <a:r>
              <a:rPr kumimoji="1" lang="en" altLang="zh-CN" dirty="0"/>
              <a:t>EL0</a:t>
            </a:r>
            <a:endParaRPr kumimoji="1"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effectLst/>
                <a:latin typeface="Helvetica" pitchFamily="2" charset="0"/>
              </a:rPr>
              <a:t>栈寄存器不再使用</a:t>
            </a:r>
            <a:r>
              <a:rPr lang="en" altLang="zh-CN" dirty="0">
                <a:effectLst/>
                <a:latin typeface="Helvetica" pitchFamily="2" charset="0"/>
              </a:rPr>
              <a:t>SP_EL1</a:t>
            </a:r>
            <a:r>
              <a:rPr lang="zh-CN" altLang="en" dirty="0">
                <a:effectLst/>
                <a:latin typeface="Helvetica" pitchFamily="2" charset="0"/>
              </a:rPr>
              <a:t>，</a:t>
            </a:r>
            <a:r>
              <a:rPr lang="zh-CN" altLang="en-US" dirty="0">
                <a:effectLst/>
                <a:latin typeface="Helvetica" pitchFamily="2" charset="0"/>
              </a:rPr>
              <a:t>开始使用</a:t>
            </a:r>
            <a:r>
              <a:rPr lang="en" altLang="zh-CN" dirty="0">
                <a:effectLst/>
                <a:latin typeface="Helvetica" pitchFamily="2" charset="0"/>
              </a:rPr>
              <a:t>SP_EL0</a:t>
            </a:r>
            <a:endParaRPr lang="en-US" altLang="zh-CN" dirty="0">
              <a:latin typeface="Helvetica" pitchFamily="2" charset="0"/>
            </a:endParaRPr>
          </a:p>
          <a:p>
            <a:pPr marL="914400" lvl="1" indent="-514350"/>
            <a:r>
              <a:rPr lang="zh-CN" altLang="en-US" dirty="0">
                <a:effectLst/>
                <a:latin typeface="Helvetica" pitchFamily="2" charset="0"/>
              </a:rPr>
              <a:t>注意：</a:t>
            </a:r>
            <a:r>
              <a:rPr lang="en" altLang="zh-CN" dirty="0">
                <a:effectLst/>
                <a:latin typeface="Helvetica" pitchFamily="2" charset="0"/>
              </a:rPr>
              <a:t>SP_EL1</a:t>
            </a:r>
            <a:r>
              <a:rPr lang="zh-CN" altLang="en-US" dirty="0">
                <a:effectLst/>
                <a:latin typeface="Helvetica" pitchFamily="2" charset="0"/>
              </a:rPr>
              <a:t>的值并没有改变</a:t>
            </a:r>
            <a:endParaRPr lang="en-US" altLang="zh-CN" dirty="0">
              <a:effectLst/>
              <a:latin typeface="Helvetica" pitchFamily="2" charset="0"/>
            </a:endParaRPr>
          </a:p>
          <a:p>
            <a:pPr marL="914400" lvl="1" indent="-514350"/>
            <a:r>
              <a:rPr lang="zh-CN" altLang="en-US" dirty="0">
                <a:effectLst/>
                <a:latin typeface="Helvetica" pitchFamily="2" charset="0"/>
              </a:rPr>
              <a:t>下一次下陷时，操作系统依然会使用这个内核栈</a:t>
            </a:r>
            <a:endParaRPr lang="en-US" altLang="zh-CN" dirty="0">
              <a:effectLst/>
              <a:latin typeface="Helvetica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effectLst/>
                <a:latin typeface="Helvetica" pitchFamily="2" charset="0"/>
              </a:rPr>
              <a:t>将</a:t>
            </a:r>
            <a:r>
              <a:rPr lang="en" altLang="zh-CN" dirty="0">
                <a:effectLst/>
                <a:latin typeface="Helvetica" pitchFamily="2" charset="0"/>
              </a:rPr>
              <a:t>ELR_EL1</a:t>
            </a:r>
            <a:r>
              <a:rPr lang="zh-CN" altLang="en-US" dirty="0">
                <a:effectLst/>
                <a:latin typeface="Helvetica" pitchFamily="2" charset="0"/>
              </a:rPr>
              <a:t>中的地址写入</a:t>
            </a:r>
            <a:r>
              <a:rPr lang="en" altLang="zh-CN" dirty="0">
                <a:effectLst/>
                <a:latin typeface="Helvetica" pitchFamily="2" charset="0"/>
              </a:rPr>
              <a:t>PC</a:t>
            </a:r>
            <a:r>
              <a:rPr lang="zh-CN" altLang="en-US" dirty="0">
                <a:effectLst/>
                <a:latin typeface="Helvetica" pitchFamily="2" charset="0"/>
              </a:rPr>
              <a:t>，并执行应用程序代码</a:t>
            </a:r>
          </a:p>
          <a:p>
            <a:pPr marL="514350" indent="-514350">
              <a:buFont typeface="+mj-lt"/>
              <a:buAutoNum type="arabicPeriod"/>
            </a:pPr>
            <a:endParaRPr kumimoji="1" lang="zh-CN" altLang="en" dirty="0"/>
          </a:p>
          <a:p>
            <a:pPr marL="514350" indent="-514350">
              <a:buFont typeface="+mj-lt"/>
              <a:buAutoNum type="arabicPeriod"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B16A08-FD63-4644-BD3A-564EC001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239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7AA0D6-0722-784A-92BE-0BA4AA144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操作系统在切换过程中的任务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486EF7-8B23-3141-90F1-F24251FC4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400" dirty="0"/>
              <a:t>主要任务：将属于应用程序的 </a:t>
            </a:r>
            <a:r>
              <a:rPr kumimoji="1" lang="en" altLang="zh-CN" sz="2400" dirty="0"/>
              <a:t>CPU </a:t>
            </a:r>
            <a:r>
              <a:rPr kumimoji="1" lang="zh-CN" altLang="en-US" sz="2400" dirty="0"/>
              <a:t>状态保存到内存中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用于之后恢复应用程序继续运行</a:t>
            </a:r>
            <a:endParaRPr kumimoji="1" lang="en-US" altLang="zh-CN" sz="2000" dirty="0"/>
          </a:p>
          <a:p>
            <a:r>
              <a:rPr kumimoji="1" lang="zh-CN" altLang="en-US" sz="2400" dirty="0"/>
              <a:t>应用程序需要保存的运行状态称为处理器上下文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处理器上下文（</a:t>
            </a:r>
            <a:r>
              <a:rPr kumimoji="1" lang="en" altLang="zh-CN" sz="2000" dirty="0"/>
              <a:t>Processor Context</a:t>
            </a:r>
            <a:r>
              <a:rPr kumimoji="1" lang="zh-CN" altLang="en-US" sz="2000" dirty="0"/>
              <a:t>）：</a:t>
            </a:r>
            <a:r>
              <a:rPr kumimoji="1" lang="zh-CN" altLang="en-US" sz="2000" dirty="0">
                <a:solidFill>
                  <a:schemeClr val="accent1"/>
                </a:solidFill>
              </a:rPr>
              <a:t>应用程序在完成切换后恢复执行所需的最小处理器状态集合</a:t>
            </a:r>
            <a:endParaRPr kumimoji="1" lang="en-US" altLang="zh-CN" sz="2000" dirty="0">
              <a:solidFill>
                <a:schemeClr val="accent1"/>
              </a:solidFill>
            </a:endParaRPr>
          </a:p>
          <a:p>
            <a:pPr lvl="1"/>
            <a:r>
              <a:rPr kumimoji="1" lang="zh-CN" altLang="en-US" sz="2000" dirty="0"/>
              <a:t>处理器上下文中的寄存器具体包括：</a:t>
            </a:r>
            <a:endParaRPr kumimoji="1" lang="en-US" altLang="zh-CN" sz="2000" dirty="0"/>
          </a:p>
          <a:p>
            <a:pPr lvl="2"/>
            <a:r>
              <a:rPr lang="zh-CN" alt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通用寄存器 </a:t>
            </a:r>
            <a:r>
              <a:rPr lang="en" altLang="zh-CN" sz="1800" dirty="0">
                <a:solidFill>
                  <a:srgbClr val="000000"/>
                </a:solidFill>
                <a:effectLst/>
                <a:latin typeface="Helvetica" pitchFamily="2" charset="0"/>
              </a:rPr>
              <a:t>X0-X30</a:t>
            </a:r>
          </a:p>
          <a:p>
            <a:pPr lvl="2"/>
            <a:r>
              <a:rPr lang="zh-CN" alt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特殊寄存器，主要</a:t>
            </a:r>
            <a:r>
              <a:rPr lang="zh-CN" altLang="en-US" sz="1800" dirty="0">
                <a:solidFill>
                  <a:srgbClr val="000000"/>
                </a:solidFill>
                <a:latin typeface="Helvetica" pitchFamily="2" charset="0"/>
              </a:rPr>
              <a:t>包括</a:t>
            </a:r>
            <a:r>
              <a:rPr lang="en" altLang="zh-CN" sz="1800" dirty="0">
                <a:solidFill>
                  <a:srgbClr val="000000"/>
                </a:solidFill>
                <a:latin typeface="Helvetica" pitchFamily="2" charset="0"/>
              </a:rPr>
              <a:t>PC</a:t>
            </a:r>
            <a:r>
              <a:rPr lang="zh-CN" altLang="en" sz="1800" dirty="0">
                <a:solidFill>
                  <a:srgbClr val="000000"/>
                </a:solidFill>
                <a:latin typeface="Helvetica" pitchFamily="2" charset="0"/>
              </a:rPr>
              <a:t>、</a:t>
            </a:r>
            <a:r>
              <a:rPr lang="en" altLang="zh-CN" sz="1800" dirty="0">
                <a:solidFill>
                  <a:srgbClr val="000000"/>
                </a:solidFill>
                <a:latin typeface="Helvetica" pitchFamily="2" charset="0"/>
              </a:rPr>
              <a:t>SP</a:t>
            </a:r>
            <a:r>
              <a:rPr lang="zh-CN" altLang="en-US" sz="1800" dirty="0">
                <a:solidFill>
                  <a:srgbClr val="000000"/>
                </a:solidFill>
                <a:latin typeface="Helvetica" pitchFamily="2" charset="0"/>
              </a:rPr>
              <a:t>和</a:t>
            </a:r>
            <a:r>
              <a:rPr lang="en" altLang="zh-CN" sz="1800" dirty="0">
                <a:solidFill>
                  <a:srgbClr val="000000"/>
                </a:solidFill>
                <a:latin typeface="Helvetica" pitchFamily="2" charset="0"/>
              </a:rPr>
              <a:t>PSTATE</a:t>
            </a:r>
          </a:p>
          <a:p>
            <a:pPr lvl="2"/>
            <a:r>
              <a:rPr lang="zh-CN" altLang="en-US" sz="1800" dirty="0">
                <a:solidFill>
                  <a:srgbClr val="000000"/>
                </a:solidFill>
                <a:latin typeface="Helvetica" pitchFamily="2" charset="0"/>
              </a:rPr>
              <a:t>系统寄存器，包括页表基地址寄存器等</a:t>
            </a:r>
          </a:p>
          <a:p>
            <a:pPr lvl="2"/>
            <a:endParaRPr kumimoji="1" lang="zh-CN" altLang="en-US" sz="1800" dirty="0"/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37FFAB-E392-D94A-B2FA-80C333A19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189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B94C3E-1AF7-CC68-9CAD-2FA018878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8CB74C-8883-1461-829B-DE61D9885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63B743-DEDE-2728-2839-ECD1A220F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484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61DE2-9722-C086-11D4-A7679D2B7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分时复用有限的</a:t>
            </a:r>
            <a:r>
              <a:rPr kumimoji="1" lang="en-US" altLang="zh-CN" dirty="0"/>
              <a:t>CPU</a:t>
            </a:r>
            <a:r>
              <a:rPr kumimoji="1" lang="zh-CN" altLang="en-US" dirty="0"/>
              <a:t>资源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2C477F1B-295F-C077-371A-F2C2C07C24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51"/>
          <a:stretch/>
        </p:blipFill>
        <p:spPr>
          <a:xfrm>
            <a:off x="611560" y="1417340"/>
            <a:ext cx="6616700" cy="240702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9C36EB-FBF5-2160-880E-19BDFCF89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5336BC2-610A-5E2E-5448-483D83FB7BB1}"/>
              </a:ext>
            </a:extLst>
          </p:cNvPr>
          <p:cNvSpPr/>
          <p:nvPr/>
        </p:nvSpPr>
        <p:spPr>
          <a:xfrm>
            <a:off x="683568" y="2137420"/>
            <a:ext cx="3816424" cy="360040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D71AEC3-0B3E-61D9-01D2-0BE19880BF90}"/>
              </a:ext>
            </a:extLst>
          </p:cNvPr>
          <p:cNvSpPr txBox="1"/>
          <p:nvPr/>
        </p:nvSpPr>
        <p:spPr>
          <a:xfrm>
            <a:off x="4211960" y="1169118"/>
            <a:ext cx="5580620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rgbClr val="C00000"/>
                </a:solidFill>
                <a:latin typeface="+mn-ea"/>
              </a:rPr>
              <a:t>CPU</a:t>
            </a:r>
            <a:r>
              <a:rPr kumimoji="1" lang="zh-CN" altLang="en-US" dirty="0">
                <a:solidFill>
                  <a:srgbClr val="C00000"/>
                </a:solidFill>
                <a:latin typeface="+mn-ea"/>
              </a:rPr>
              <a:t>核心数量少于应用程序数量，如何运行？</a:t>
            </a:r>
            <a:endParaRPr kumimoji="1" lang="en-US" altLang="zh-CN" dirty="0">
              <a:solidFill>
                <a:srgbClr val="C00000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rgbClr val="C00000"/>
                </a:solidFill>
                <a:latin typeface="+mn-ea"/>
              </a:rPr>
              <a:t>单个</a:t>
            </a:r>
            <a:r>
              <a:rPr kumimoji="1" lang="en-US" altLang="zh-CN" dirty="0">
                <a:solidFill>
                  <a:srgbClr val="C00000"/>
                </a:solidFill>
                <a:latin typeface="+mn-ea"/>
              </a:rPr>
              <a:t>CPU</a:t>
            </a:r>
            <a:r>
              <a:rPr kumimoji="1" lang="zh-CN" altLang="en-US" dirty="0">
                <a:solidFill>
                  <a:srgbClr val="C00000"/>
                </a:solidFill>
                <a:latin typeface="+mn-ea"/>
              </a:rPr>
              <a:t>核心如何运行多个应用程序？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44EE93-191D-9C41-65FD-3BBE8EE48BB4}"/>
              </a:ext>
            </a:extLst>
          </p:cNvPr>
          <p:cNvSpPr txBox="1"/>
          <p:nvPr/>
        </p:nvSpPr>
        <p:spPr>
          <a:xfrm>
            <a:off x="611560" y="3926574"/>
            <a:ext cx="8398091" cy="17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b="1" dirty="0">
                <a:latin typeface="+mn-ea"/>
              </a:rPr>
              <a:t>类比运动场地</a:t>
            </a:r>
            <a:r>
              <a:rPr kumimoji="1" lang="zh-CN" altLang="en-US" dirty="0">
                <a:latin typeface="+mn-ea"/>
              </a:rPr>
              <a:t>（分时复用）</a:t>
            </a:r>
            <a:endParaRPr kumimoji="1" lang="en-US" altLang="zh-CN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+mn-ea"/>
              </a:rPr>
              <a:t>气膜的羽毛球场地数量有限（</a:t>
            </a:r>
            <a:r>
              <a:rPr kumimoji="1" lang="en-US" altLang="zh-CN" dirty="0">
                <a:latin typeface="+mn-ea"/>
              </a:rPr>
              <a:t>CPU</a:t>
            </a:r>
            <a:r>
              <a:rPr kumimoji="1" lang="zh-CN" altLang="en-US" dirty="0">
                <a:latin typeface="+mn-ea"/>
              </a:rPr>
              <a:t>核心数量）</a:t>
            </a:r>
            <a:endParaRPr kumimoji="1" lang="en-US" altLang="zh-CN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+mn-ea"/>
              </a:rPr>
              <a:t>全校的师生都想去打羽毛球（需要运行的应用程序很多）</a:t>
            </a:r>
            <a:endParaRPr kumimoji="1" lang="en-US" altLang="zh-CN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+mn-ea"/>
              </a:rPr>
              <a:t>由气膜管理系统安排师生在不同时间段使用场地：大家都能打上球</a:t>
            </a:r>
          </a:p>
        </p:txBody>
      </p:sp>
    </p:spTree>
    <p:extLst>
      <p:ext uri="{BB962C8B-B14F-4D97-AF65-F5344CB8AC3E}">
        <p14:creationId xmlns:p14="http://schemas.microsoft.com/office/powerpoint/2010/main" val="1531018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CEFE45-5974-136C-A748-C6A699CA8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分时复用有限的</a:t>
            </a:r>
            <a:r>
              <a:rPr kumimoji="1" lang="en-US" altLang="zh-CN" dirty="0"/>
              <a:t>CPU</a:t>
            </a:r>
            <a:r>
              <a:rPr kumimoji="1" lang="zh-CN" altLang="en-US" dirty="0"/>
              <a:t>资源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2368C8-A5E5-D252-D0E2-94F43C35A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分时复用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CPU</a:t>
            </a: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让多个应用程序</a:t>
            </a:r>
            <a:r>
              <a:rPr lang="zh-CN" alt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轮流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使用处理器核心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何时切换：</a:t>
            </a:r>
            <a:r>
              <a:rPr lang="zh-CN" alt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操作系统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决定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运行时间片（例如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100ms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）</a:t>
            </a: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高频切换：看起来是多个应用“同时”执行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D9F249-869C-7C75-0FB5-5E6A11E6B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5E962CFA-240F-4923-809B-731CBF470855}"/>
              </a:ext>
            </a:extLst>
          </p:cNvPr>
          <p:cNvSpPr/>
          <p:nvPr/>
        </p:nvSpPr>
        <p:spPr>
          <a:xfrm>
            <a:off x="6196730" y="2773559"/>
            <a:ext cx="360040" cy="36004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3DFA8747-5D89-9FB7-580F-9E6F8414D379}"/>
              </a:ext>
            </a:extLst>
          </p:cNvPr>
          <p:cNvSpPr/>
          <p:nvPr/>
        </p:nvSpPr>
        <p:spPr>
          <a:xfrm>
            <a:off x="6916810" y="2773559"/>
            <a:ext cx="360040" cy="36004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E437224-80E1-DC7A-AD03-FD44306CF2FA}"/>
              </a:ext>
            </a:extLst>
          </p:cNvPr>
          <p:cNvSpPr/>
          <p:nvPr/>
        </p:nvSpPr>
        <p:spPr>
          <a:xfrm>
            <a:off x="7636890" y="2773559"/>
            <a:ext cx="360040" cy="36004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FE34DDE3-F2A6-3E0B-84D0-F1E1A86E997D}"/>
              </a:ext>
            </a:extLst>
          </p:cNvPr>
          <p:cNvSpPr/>
          <p:nvPr/>
        </p:nvSpPr>
        <p:spPr>
          <a:xfrm>
            <a:off x="8356970" y="2773559"/>
            <a:ext cx="360040" cy="36004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FEF592E9-FBDB-30FB-30DA-20D50BF19EC9}"/>
              </a:ext>
            </a:extLst>
          </p:cNvPr>
          <p:cNvSpPr/>
          <p:nvPr/>
        </p:nvSpPr>
        <p:spPr>
          <a:xfrm>
            <a:off x="6196730" y="241351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2AEF6FA-E904-7619-F854-FC1407A45C7A}"/>
              </a:ext>
            </a:extLst>
          </p:cNvPr>
          <p:cNvSpPr txBox="1"/>
          <p:nvPr/>
        </p:nvSpPr>
        <p:spPr>
          <a:xfrm>
            <a:off x="6053301" y="3133599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Core-0</a:t>
            </a:r>
            <a:endParaRPr kumimoji="1" lang="zh-CN" altLang="en-US" sz="12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46CFC2B-DD3F-D0B1-C736-397D72748732}"/>
              </a:ext>
            </a:extLst>
          </p:cNvPr>
          <p:cNvSpPr txBox="1"/>
          <p:nvPr/>
        </p:nvSpPr>
        <p:spPr>
          <a:xfrm>
            <a:off x="6770458" y="3133599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Core-1</a:t>
            </a:r>
            <a:endParaRPr kumimoji="1" lang="zh-CN" altLang="en-US" sz="12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2154DD7-F0A2-617A-8A00-1A5973072538}"/>
              </a:ext>
            </a:extLst>
          </p:cNvPr>
          <p:cNvSpPr txBox="1"/>
          <p:nvPr/>
        </p:nvSpPr>
        <p:spPr>
          <a:xfrm>
            <a:off x="7490538" y="3133599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Core-2</a:t>
            </a:r>
            <a:endParaRPr kumimoji="1" lang="zh-CN" altLang="en-US" sz="12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571A48D-3F79-FDD3-1972-09933164AFEC}"/>
              </a:ext>
            </a:extLst>
          </p:cNvPr>
          <p:cNvSpPr txBox="1"/>
          <p:nvPr/>
        </p:nvSpPr>
        <p:spPr>
          <a:xfrm>
            <a:off x="8210618" y="3133599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Core-3</a:t>
            </a:r>
            <a:endParaRPr kumimoji="1" lang="zh-CN" altLang="en-US" sz="1200" dirty="0"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976ECAA9-76C5-3336-666B-8C06EF357415}"/>
              </a:ext>
            </a:extLst>
          </p:cNvPr>
          <p:cNvSpPr/>
          <p:nvPr/>
        </p:nvSpPr>
        <p:spPr>
          <a:xfrm>
            <a:off x="6196730" y="205347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4BC71BF8-43B2-1729-7A4E-95B7D189B2D0}"/>
              </a:ext>
            </a:extLst>
          </p:cNvPr>
          <p:cNvSpPr/>
          <p:nvPr/>
        </p:nvSpPr>
        <p:spPr>
          <a:xfrm>
            <a:off x="6916810" y="241351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D652770B-93C2-8F45-67E0-62CD3CE3D173}"/>
              </a:ext>
            </a:extLst>
          </p:cNvPr>
          <p:cNvSpPr/>
          <p:nvPr/>
        </p:nvSpPr>
        <p:spPr>
          <a:xfrm>
            <a:off x="6916810" y="205347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A682CB77-464A-A80B-412E-5517D8560D2C}"/>
              </a:ext>
            </a:extLst>
          </p:cNvPr>
          <p:cNvSpPr/>
          <p:nvPr/>
        </p:nvSpPr>
        <p:spPr>
          <a:xfrm>
            <a:off x="6916810" y="169343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DA13032-E846-94DF-6160-49F78648BBB3}"/>
              </a:ext>
            </a:extLst>
          </p:cNvPr>
          <p:cNvSpPr txBox="1"/>
          <p:nvPr/>
        </p:nvSpPr>
        <p:spPr>
          <a:xfrm>
            <a:off x="6156177" y="206809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B24A601-0F1A-36FC-7423-3BDC80483F13}"/>
              </a:ext>
            </a:extLst>
          </p:cNvPr>
          <p:cNvSpPr txBox="1"/>
          <p:nvPr/>
        </p:nvSpPr>
        <p:spPr>
          <a:xfrm>
            <a:off x="6156177" y="2437409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13C8C81-5C1B-CA84-B826-7AE21BFBAE73}"/>
              </a:ext>
            </a:extLst>
          </p:cNvPr>
          <p:cNvSpPr txBox="1"/>
          <p:nvPr/>
        </p:nvSpPr>
        <p:spPr>
          <a:xfrm>
            <a:off x="6876256" y="2079099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86C1C96-868B-E4D2-1D50-9F033B329A3B}"/>
              </a:ext>
            </a:extLst>
          </p:cNvPr>
          <p:cNvSpPr txBox="1"/>
          <p:nvPr/>
        </p:nvSpPr>
        <p:spPr>
          <a:xfrm>
            <a:off x="6876256" y="242813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612C0E8-A528-5F95-E665-16770C440C50}"/>
              </a:ext>
            </a:extLst>
          </p:cNvPr>
          <p:cNvSpPr txBox="1"/>
          <p:nvPr/>
        </p:nvSpPr>
        <p:spPr>
          <a:xfrm>
            <a:off x="6876256" y="170537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817C3CCE-7A28-9F89-5C54-4AEA62DC0063}"/>
              </a:ext>
            </a:extLst>
          </p:cNvPr>
          <p:cNvSpPr/>
          <p:nvPr/>
        </p:nvSpPr>
        <p:spPr>
          <a:xfrm>
            <a:off x="7636888" y="241351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BD300A0D-64D5-BB2C-F53B-BCA2DD58C561}"/>
              </a:ext>
            </a:extLst>
          </p:cNvPr>
          <p:cNvSpPr/>
          <p:nvPr/>
        </p:nvSpPr>
        <p:spPr>
          <a:xfrm>
            <a:off x="7636888" y="205347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4999FDC-8F27-767F-A8E2-69BE7F15708B}"/>
              </a:ext>
            </a:extLst>
          </p:cNvPr>
          <p:cNvSpPr txBox="1"/>
          <p:nvPr/>
        </p:nvSpPr>
        <p:spPr>
          <a:xfrm>
            <a:off x="7596335" y="206809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F29D23F-4FA1-7C9E-CCF9-7A3CED04009D}"/>
              </a:ext>
            </a:extLst>
          </p:cNvPr>
          <p:cNvSpPr txBox="1"/>
          <p:nvPr/>
        </p:nvSpPr>
        <p:spPr>
          <a:xfrm>
            <a:off x="7596335" y="2437409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43EE09F3-F8CF-9003-BD12-21C1DB974A14}"/>
              </a:ext>
            </a:extLst>
          </p:cNvPr>
          <p:cNvSpPr/>
          <p:nvPr/>
        </p:nvSpPr>
        <p:spPr>
          <a:xfrm>
            <a:off x="8362526" y="241351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0A60856E-8D09-5392-04FD-EF29597393A2}"/>
              </a:ext>
            </a:extLst>
          </p:cNvPr>
          <p:cNvSpPr/>
          <p:nvPr/>
        </p:nvSpPr>
        <p:spPr>
          <a:xfrm>
            <a:off x="8362526" y="205347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E2E557E-1C0D-17B0-451A-C0B28192E1B6}"/>
              </a:ext>
            </a:extLst>
          </p:cNvPr>
          <p:cNvSpPr txBox="1"/>
          <p:nvPr/>
        </p:nvSpPr>
        <p:spPr>
          <a:xfrm>
            <a:off x="8321973" y="206809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F29D451-D676-1125-E6E8-7A29332BD3AD}"/>
              </a:ext>
            </a:extLst>
          </p:cNvPr>
          <p:cNvSpPr txBox="1"/>
          <p:nvPr/>
        </p:nvSpPr>
        <p:spPr>
          <a:xfrm>
            <a:off x="8321973" y="2437409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</p:spTree>
    <p:extLst>
      <p:ext uri="{BB962C8B-B14F-4D97-AF65-F5344CB8AC3E}">
        <p14:creationId xmlns:p14="http://schemas.microsoft.com/office/powerpoint/2010/main" val="3223787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应用程序与进程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7571184" cy="4152633"/>
          </a:xfrm>
        </p:spPr>
        <p:txBody>
          <a:bodyPr>
            <a:noAutofit/>
          </a:bodyPr>
          <a:lstStyle/>
          <a:p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通常一个应用程序对应一个进程</a:t>
            </a:r>
            <a:endParaRPr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在</a:t>
            </a:r>
            <a:r>
              <a:rPr kumimoji="1"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shell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中输入可执行文件的名称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kumimoji="1"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shell</a:t>
            </a:r>
            <a:r>
              <a:rPr kumimoji="1" lang="zh-CN" alt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创建新进程，可执行文件在新进程中执行</a:t>
            </a:r>
            <a:endParaRPr kumimoji="1" lang="en-US" altLang="zh-CN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在图形界面双击应用图标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多进程程序：应用程序亦可自行创建新进程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创建新进程，在新进程中运行其他应用程序或与自己一样的程序</a:t>
            </a:r>
            <a:endParaRPr kumimoji="1" lang="zh-CN" altLang="en-US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FDCD65-2359-7BF4-AC1E-C7C57105A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进程在操作系统中的实现：状态数据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B796B8-F011-7F2F-5344-F9685FB88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操作系统提供进程的抽象用于管理应用程序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进程标识号（</a:t>
            </a:r>
            <a:r>
              <a:rPr kumimoji="1" lang="en-US" altLang="zh-CN" dirty="0"/>
              <a:t>Process ID</a:t>
            </a:r>
            <a:r>
              <a:rPr kumimoji="1" lang="zh-CN" altLang="en-US" dirty="0"/>
              <a:t>， </a:t>
            </a:r>
            <a:r>
              <a:rPr kumimoji="1" lang="en-US" altLang="zh-CN" dirty="0"/>
              <a:t>PID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运行状态</a:t>
            </a:r>
            <a:endParaRPr kumimoji="1" lang="en-US" altLang="zh-CN" dirty="0"/>
          </a:p>
          <a:p>
            <a:pPr lvl="2"/>
            <a:r>
              <a:rPr kumimoji="1" lang="zh-CN" altLang="en-US" b="1" dirty="0"/>
              <a:t>处理器上下文（</a:t>
            </a:r>
            <a:r>
              <a:rPr kumimoji="1" lang="en-US" altLang="zh-CN" b="1" dirty="0"/>
              <a:t>CPU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Context</a:t>
            </a:r>
            <a:r>
              <a:rPr kumimoji="1" lang="zh-CN" altLang="en-US" b="1" dirty="0"/>
              <a:t>）</a:t>
            </a:r>
            <a:endParaRPr kumimoji="1" lang="en-US" altLang="zh-CN" b="1" dirty="0"/>
          </a:p>
          <a:p>
            <a:pPr lvl="1"/>
            <a:r>
              <a:rPr kumimoji="1" lang="zh-CN" altLang="en-US" dirty="0"/>
              <a:t>地址空间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打开的文件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552B72-3F01-71CC-907C-765422033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2195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AFC959-A310-15B8-1896-F38993C3E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从程序员视角看进程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B67280-A280-77C9-7452-DFF838CA3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进程抽象为应用程序提供了“独占</a:t>
            </a:r>
            <a:r>
              <a:rPr kumimoji="1" lang="en-US" altLang="zh-CN" dirty="0"/>
              <a:t>CPU</a:t>
            </a:r>
            <a:r>
              <a:rPr kumimoji="1" lang="zh-CN" altLang="en-US" dirty="0"/>
              <a:t>”的假象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程序开发不用考虑如何与其他程序共享</a:t>
            </a:r>
            <a:r>
              <a:rPr kumimoji="1" lang="en-US" altLang="zh-CN" dirty="0"/>
              <a:t>CPU</a:t>
            </a:r>
          </a:p>
          <a:p>
            <a:pPr lvl="1"/>
            <a:r>
              <a:rPr kumimoji="1" lang="zh-CN" altLang="en-US" dirty="0"/>
              <a:t>简化编程</a:t>
            </a:r>
            <a:endParaRPr kumimoji="1" lang="en-US" altLang="zh-CN" dirty="0"/>
          </a:p>
          <a:p>
            <a:r>
              <a:rPr kumimoji="1" lang="zh-CN" altLang="en-US" dirty="0"/>
              <a:t>进程相关的系统调用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创建进程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让进程执行指定的程序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退出进程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进程间通信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96D6BE-4D24-23D8-2CFA-A73719D3F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004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</a:t>
            </a:r>
            <a:r>
              <a:rPr kumimoji="1" lang="zh-CN" altLang="en-US" b="1" dirty="0"/>
              <a:t>切换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1897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处理器上下文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(CPU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Context)</a:t>
            </a:r>
            <a:endParaRPr kumimoji="1"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Autofit/>
          </a:bodyPr>
          <a:lstStyle/>
          <a:p>
            <a:r>
              <a:rPr kumimoji="1" lang="zh-CN" altLang="en-US" dirty="0"/>
              <a:t>操作系统为每个进程维护</a:t>
            </a:r>
            <a:r>
              <a:rPr kumimoji="1" lang="zh-CN" altLang="en-US" dirty="0">
                <a:solidFill>
                  <a:srgbClr val="C00000"/>
                </a:solidFill>
              </a:rPr>
              <a:t>处理器上下文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1"/>
            <a:r>
              <a:rPr kumimoji="1" lang="zh-CN" altLang="en-US" dirty="0"/>
              <a:t>包含恢复进程执行所需要的状态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思考：进程</a:t>
            </a:r>
            <a:r>
              <a:rPr kumimoji="1" lang="en-US" altLang="zh-CN" dirty="0"/>
              <a:t>A</a:t>
            </a:r>
            <a:r>
              <a:rPr kumimoji="1" lang="zh-CN" altLang="en-US" dirty="0"/>
              <a:t>执行到</a:t>
            </a:r>
            <a:r>
              <a:rPr kumimoji="1" lang="en-US" altLang="zh-CN" dirty="0"/>
              <a:t>main</a:t>
            </a:r>
            <a:r>
              <a:rPr kumimoji="1" lang="zh-CN" altLang="en-US" dirty="0"/>
              <a:t>函数任意一条指令，切换到进程</a:t>
            </a:r>
            <a:r>
              <a:rPr kumimoji="1" lang="en-US" altLang="zh-CN" dirty="0"/>
              <a:t>B</a:t>
            </a:r>
            <a:r>
              <a:rPr kumimoji="1" lang="zh-CN" altLang="en-US" dirty="0"/>
              <a:t>执行，一段时间后，再切回到进程</a:t>
            </a:r>
            <a:r>
              <a:rPr kumimoji="1" lang="en-US" altLang="zh-CN" dirty="0"/>
              <a:t>A</a:t>
            </a:r>
            <a:r>
              <a:rPr kumimoji="1" lang="zh-CN" altLang="en-US" dirty="0"/>
              <a:t>执行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为完成此过程，有哪些状态需要保存？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735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处理器上下文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(CPU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Context)</a:t>
            </a:r>
            <a:endParaRPr kumimoji="1"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Autofit/>
          </a:bodyPr>
          <a:lstStyle/>
          <a:p>
            <a:r>
              <a:rPr kumimoji="1" lang="zh-CN" altLang="en-US" dirty="0"/>
              <a:t>操作系统为每个进程维护</a:t>
            </a:r>
            <a:r>
              <a:rPr kumimoji="1" lang="zh-CN" altLang="en-US" dirty="0">
                <a:solidFill>
                  <a:srgbClr val="C00000"/>
                </a:solidFill>
              </a:rPr>
              <a:t>处理器上下文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1"/>
            <a:r>
              <a:rPr kumimoji="1" lang="zh-CN" altLang="en-US" dirty="0"/>
              <a:t>包含恢复进程执行所需要的状态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思考：进程</a:t>
            </a:r>
            <a:r>
              <a:rPr kumimoji="1" lang="en-US" altLang="zh-CN" dirty="0"/>
              <a:t>A</a:t>
            </a:r>
            <a:r>
              <a:rPr kumimoji="1" lang="zh-CN" altLang="en-US" dirty="0"/>
              <a:t>执行到</a:t>
            </a:r>
            <a:r>
              <a:rPr kumimoji="1" lang="en-US" altLang="zh-CN" dirty="0"/>
              <a:t>main</a:t>
            </a:r>
            <a:r>
              <a:rPr kumimoji="1" lang="zh-CN" altLang="en-US" dirty="0"/>
              <a:t>函数任意一条指令，切换到进程</a:t>
            </a:r>
            <a:r>
              <a:rPr kumimoji="1" lang="en-US" altLang="zh-CN" dirty="0"/>
              <a:t>B</a:t>
            </a:r>
            <a:r>
              <a:rPr kumimoji="1" lang="zh-CN" altLang="en-US" dirty="0"/>
              <a:t>执行，一段时间后，再切回到进程</a:t>
            </a:r>
            <a:r>
              <a:rPr kumimoji="1" lang="en-US" altLang="zh-CN" dirty="0"/>
              <a:t>A</a:t>
            </a:r>
            <a:r>
              <a:rPr kumimoji="1" lang="zh-CN" altLang="en-US" dirty="0"/>
              <a:t>执行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为完成此过程，有哪些状态需要保存？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具体包括：</a:t>
            </a:r>
            <a:endParaRPr kumimoji="1" lang="en-US" altLang="zh-CN" sz="1600" dirty="0"/>
          </a:p>
          <a:p>
            <a:pPr lvl="2"/>
            <a:r>
              <a:rPr kumimoji="1" lang="en-US" altLang="zh-CN" b="1" dirty="0">
                <a:solidFill>
                  <a:srgbClr val="C00000"/>
                </a:solidFill>
              </a:rPr>
              <a:t>PC</a:t>
            </a:r>
            <a:r>
              <a:rPr kumimoji="1" lang="zh-CN" altLang="en-US" b="1" dirty="0">
                <a:solidFill>
                  <a:srgbClr val="C00000"/>
                </a:solidFill>
              </a:rPr>
              <a:t>寄存器值，栈寄存器值，通用寄存器值，状态寄存器值</a:t>
            </a:r>
            <a:endParaRPr kumimoji="1" lang="en-US" altLang="zh-CN" b="1" dirty="0">
              <a:solidFill>
                <a:srgbClr val="C0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629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进程切换的时机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异常导致的上下文切换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Timer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中断（如基于时间片的多任务调度）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用户执行系统调用并进入内核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如：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read/sleep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等会导致进程阻塞的系统调用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即使系统调用不阻塞执行，内核也可以决定执行上下文切换，而不是将控制权返回给调用进程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kumimoji="1" lang="en-US" altLang="zh-CN" sz="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kumimoji="1" lang="zh-CN" alt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8953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进程切换示例一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8" name="Text Box 127">
            <a:extLst>
              <a:ext uri="{FF2B5EF4-FFF2-40B4-BE49-F238E27FC236}">
                <a16:creationId xmlns:a16="http://schemas.microsoft.com/office/drawing/2014/main" id="{36DE6649-07E1-484F-B8B8-AEB30D827A0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555776" y="1527971"/>
            <a:ext cx="979755" cy="400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r>
              <a:rPr lang="en-US" altLang="zh-CN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A</a:t>
            </a:r>
          </a:p>
        </p:txBody>
      </p:sp>
      <p:sp>
        <p:nvSpPr>
          <p:cNvPr id="9" name="Text Box 128">
            <a:extLst>
              <a:ext uri="{FF2B5EF4-FFF2-40B4-BE49-F238E27FC236}">
                <a16:creationId xmlns:a16="http://schemas.microsoft.com/office/drawing/2014/main" id="{34652174-D23E-2F45-86E5-7C21FE0015A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994115" y="1527971"/>
            <a:ext cx="979755" cy="400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r>
              <a:rPr lang="en-US" altLang="zh-CN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B</a:t>
            </a:r>
          </a:p>
        </p:txBody>
      </p:sp>
      <p:sp>
        <p:nvSpPr>
          <p:cNvPr id="10" name="Line 131">
            <a:extLst>
              <a:ext uri="{FF2B5EF4-FFF2-40B4-BE49-F238E27FC236}">
                <a16:creationId xmlns:a16="http://schemas.microsoft.com/office/drawing/2014/main" id="{0620693E-CEAD-DE47-AC83-B5899C8D04C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387833" y="3168416"/>
            <a:ext cx="0" cy="4318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Line 134">
            <a:extLst>
              <a:ext uri="{FF2B5EF4-FFF2-40B4-BE49-F238E27FC236}">
                <a16:creationId xmlns:a16="http://schemas.microsoft.com/office/drawing/2014/main" id="{B120E11B-4D2F-A34A-A18C-7317B52BE4A8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3798843" y="1680928"/>
            <a:ext cx="9525" cy="313055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Text Box 135">
            <a:extLst>
              <a:ext uri="{FF2B5EF4-FFF2-40B4-BE49-F238E27FC236}">
                <a16:creationId xmlns:a16="http://schemas.microsoft.com/office/drawing/2014/main" id="{3AE8EEB5-BD88-6B45-BB4E-F30B20E88C3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55330" y="2296878"/>
            <a:ext cx="123463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执行</a:t>
            </a: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 Box 136">
            <a:extLst>
              <a:ext uri="{FF2B5EF4-FFF2-40B4-BE49-F238E27FC236}">
                <a16:creationId xmlns:a16="http://schemas.microsoft.com/office/drawing/2014/main" id="{214C56D1-9870-2E40-9920-EF48C166B3D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55330" y="2747728"/>
            <a:ext cx="8996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</a:t>
            </a:r>
            <a:r>
              <a:rPr lang="zh-CN" altLang="en-US" sz="1800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执行</a:t>
            </a:r>
            <a:endParaRPr lang="en-US" altLang="zh-CN" sz="1800" b="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Text Box 137">
            <a:extLst>
              <a:ext uri="{FF2B5EF4-FFF2-40B4-BE49-F238E27FC236}">
                <a16:creationId xmlns:a16="http://schemas.microsoft.com/office/drawing/2014/main" id="{66FBDBAF-E505-5841-9A8B-DC57575C3EC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55330" y="3195403"/>
            <a:ext cx="123463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执行</a:t>
            </a: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Text Box 138">
            <a:extLst>
              <a:ext uri="{FF2B5EF4-FFF2-40B4-BE49-F238E27FC236}">
                <a16:creationId xmlns:a16="http://schemas.microsoft.com/office/drawing/2014/main" id="{52BEC949-5C5E-DB47-8DBF-A12FD875B81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41041" y="3668478"/>
            <a:ext cx="8996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</a:t>
            </a:r>
            <a:r>
              <a:rPr lang="zh-CN" altLang="en-US" sz="1800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执行</a:t>
            </a:r>
            <a:endParaRPr lang="en-US" altLang="zh-CN" sz="1800" b="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Text Box 139">
            <a:extLst>
              <a:ext uri="{FF2B5EF4-FFF2-40B4-BE49-F238E27FC236}">
                <a16:creationId xmlns:a16="http://schemas.microsoft.com/office/drawing/2014/main" id="{73AA0AA3-FEFA-9C45-B0E7-35153BD5BE2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55330" y="4166954"/>
            <a:ext cx="123463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执行</a:t>
            </a: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Line 140">
            <a:extLst>
              <a:ext uri="{FF2B5EF4-FFF2-40B4-BE49-F238E27FC236}">
                <a16:creationId xmlns:a16="http://schemas.microsoft.com/office/drawing/2014/main" id="{B77219D1-5B65-A04D-A87E-5EBEB48DCD3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2695340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Line 141">
            <a:extLst>
              <a:ext uri="{FF2B5EF4-FFF2-40B4-BE49-F238E27FC236}">
                <a16:creationId xmlns:a16="http://schemas.microsoft.com/office/drawing/2014/main" id="{D600F231-21D0-7B43-B506-B174D918A3A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3157303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Line 142">
            <a:extLst>
              <a:ext uri="{FF2B5EF4-FFF2-40B4-BE49-F238E27FC236}">
                <a16:creationId xmlns:a16="http://schemas.microsoft.com/office/drawing/2014/main" id="{433101F7-327C-204C-8058-F0DB4B4D2620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3622441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Line 143">
            <a:extLst>
              <a:ext uri="{FF2B5EF4-FFF2-40B4-BE49-F238E27FC236}">
                <a16:creationId xmlns:a16="http://schemas.microsoft.com/office/drawing/2014/main" id="{FCDC24A6-C4F4-0345-95E6-1A1E539493C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4085991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Line 144">
            <a:extLst>
              <a:ext uri="{FF2B5EF4-FFF2-40B4-BE49-F238E27FC236}">
                <a16:creationId xmlns:a16="http://schemas.microsoft.com/office/drawing/2014/main" id="{8DD2BED1-1122-7B43-BB2D-2F71869DD7B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4551128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Line 145">
            <a:extLst>
              <a:ext uri="{FF2B5EF4-FFF2-40B4-BE49-F238E27FC236}">
                <a16:creationId xmlns:a16="http://schemas.microsoft.com/office/drawing/2014/main" id="{7485E7DE-5A5A-3A4C-826D-547A0A845C69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2230202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" name="Text Box 147">
            <a:extLst>
              <a:ext uri="{FF2B5EF4-FFF2-40B4-BE49-F238E27FC236}">
                <a16:creationId xmlns:a16="http://schemas.microsoft.com/office/drawing/2014/main" id="{045E9305-ABFD-B74A-A131-283EEC9B43E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172403" y="1683224"/>
            <a:ext cx="697627" cy="400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时间</a:t>
            </a:r>
            <a:endParaRPr lang="en-US" altLang="zh-CN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Text Box 149">
            <a:extLst>
              <a:ext uri="{FF2B5EF4-FFF2-40B4-BE49-F238E27FC236}">
                <a16:creationId xmlns:a16="http://schemas.microsoft.com/office/drawing/2014/main" id="{A2FF3034-3BFD-A849-95BD-669FD9D0226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89963" y="2511784"/>
            <a:ext cx="174759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保存进程</a:t>
            </a:r>
            <a:r>
              <a:rPr lang="en-US" altLang="zh-CN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的</a:t>
            </a:r>
            <a:r>
              <a:rPr lang="zh-CN" altLang="en-US" sz="1400" b="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上下文</a:t>
            </a:r>
            <a:endParaRPr lang="en-US" altLang="zh-CN" sz="1400" b="0" dirty="0">
              <a:solidFill>
                <a:schemeClr val="accent3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8" name="Text Box 152">
            <a:extLst>
              <a:ext uri="{FF2B5EF4-FFF2-40B4-BE49-F238E27FC236}">
                <a16:creationId xmlns:a16="http://schemas.microsoft.com/office/drawing/2014/main" id="{9FBF47FF-4719-0344-BBAE-90590BFDBCD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271653" y="2457216"/>
            <a:ext cx="8899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Timer</a:t>
            </a:r>
          </a:p>
        </p:txBody>
      </p:sp>
      <p:sp>
        <p:nvSpPr>
          <p:cNvPr id="29" name="Text Box 153">
            <a:extLst>
              <a:ext uri="{FF2B5EF4-FFF2-40B4-BE49-F238E27FC236}">
                <a16:creationId xmlns:a16="http://schemas.microsoft.com/office/drawing/2014/main" id="{2FDB2A98-048F-2E48-8C2E-41D3FAFF264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269498" y="3410896"/>
            <a:ext cx="8899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Timer</a:t>
            </a:r>
          </a:p>
        </p:txBody>
      </p:sp>
      <p:sp>
        <p:nvSpPr>
          <p:cNvPr id="30" name="Line 155">
            <a:extLst>
              <a:ext uri="{FF2B5EF4-FFF2-40B4-BE49-F238E27FC236}">
                <a16:creationId xmlns:a16="http://schemas.microsoft.com/office/drawing/2014/main" id="{04DAF368-B733-C747-9FB0-571B794379D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19195" y="3631965"/>
            <a:ext cx="327039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1" name="Line 159">
            <a:extLst>
              <a:ext uri="{FF2B5EF4-FFF2-40B4-BE49-F238E27FC236}">
                <a16:creationId xmlns:a16="http://schemas.microsoft.com/office/drawing/2014/main" id="{7A69C499-B2DB-B34F-8A1A-DFE0124D7AD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1590" y="2225441"/>
            <a:ext cx="0" cy="4635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2" name="Line 160">
            <a:extLst>
              <a:ext uri="{FF2B5EF4-FFF2-40B4-BE49-F238E27FC236}">
                <a16:creationId xmlns:a16="http://schemas.microsoft.com/office/drawing/2014/main" id="{FEE3D76C-F97C-184F-8791-E8D171350A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1590" y="2704866"/>
            <a:ext cx="1252593" cy="4413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" name="Line 161">
            <a:extLst>
              <a:ext uri="{FF2B5EF4-FFF2-40B4-BE49-F238E27FC236}">
                <a16:creationId xmlns:a16="http://schemas.microsoft.com/office/drawing/2014/main" id="{45C61EA3-E700-2446-87DF-44CF206868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54290" y="3619266"/>
            <a:ext cx="1227192" cy="430211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4" name="Line 162">
            <a:extLst>
              <a:ext uri="{FF2B5EF4-FFF2-40B4-BE49-F238E27FC236}">
                <a16:creationId xmlns:a16="http://schemas.microsoft.com/office/drawing/2014/main" id="{1A1B8006-B8C1-A543-9274-20BA172FCF67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19195" y="2688990"/>
            <a:ext cx="327039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Line 163">
            <a:extLst>
              <a:ext uri="{FF2B5EF4-FFF2-40B4-BE49-F238E27FC236}">
                <a16:creationId xmlns:a16="http://schemas.microsoft.com/office/drawing/2014/main" id="{B49D4A5E-3A56-8040-8009-0848053419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6828" y="4071703"/>
            <a:ext cx="0" cy="50641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7" name="Line 165">
            <a:extLst>
              <a:ext uri="{FF2B5EF4-FFF2-40B4-BE49-F238E27FC236}">
                <a16:creationId xmlns:a16="http://schemas.microsoft.com/office/drawing/2014/main" id="{D7A2612D-EA97-4C47-BE63-B1A61C5284AA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2440" y="2175820"/>
            <a:ext cx="0" cy="21717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Text Box 149">
            <a:extLst>
              <a:ext uri="{FF2B5EF4-FFF2-40B4-BE49-F238E27FC236}">
                <a16:creationId xmlns:a16="http://schemas.microsoft.com/office/drawing/2014/main" id="{BBAB1291-9AA9-9C0D-B212-107D9F4D57A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89963" y="2968440"/>
            <a:ext cx="17331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恢复进程</a:t>
            </a:r>
            <a:r>
              <a:rPr lang="en-US" altLang="zh-CN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B</a:t>
            </a: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的</a:t>
            </a:r>
            <a:r>
              <a:rPr lang="zh-CN" altLang="en-US" sz="1400" b="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上下文</a:t>
            </a:r>
            <a:endParaRPr lang="en-US" altLang="zh-CN" sz="1400" b="0" dirty="0">
              <a:solidFill>
                <a:schemeClr val="accent3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" name="Text Box 149">
            <a:extLst>
              <a:ext uri="{FF2B5EF4-FFF2-40B4-BE49-F238E27FC236}">
                <a16:creationId xmlns:a16="http://schemas.microsoft.com/office/drawing/2014/main" id="{C7CAABBD-3605-4A8B-4935-299D1C3F277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96405" y="3508386"/>
            <a:ext cx="17331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保存进程</a:t>
            </a:r>
            <a:r>
              <a:rPr lang="en-US" altLang="zh-CN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B</a:t>
            </a: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的</a:t>
            </a:r>
            <a:r>
              <a:rPr lang="zh-CN" altLang="en-US" sz="1400" b="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上下文</a:t>
            </a:r>
            <a:endParaRPr lang="en-US" altLang="zh-CN" sz="1400" b="0" dirty="0">
              <a:solidFill>
                <a:schemeClr val="accent3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" name="Text Box 149">
            <a:extLst>
              <a:ext uri="{FF2B5EF4-FFF2-40B4-BE49-F238E27FC236}">
                <a16:creationId xmlns:a16="http://schemas.microsoft.com/office/drawing/2014/main" id="{2592887E-0DB4-EC51-EA52-8A4713B5467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96405" y="3965042"/>
            <a:ext cx="174759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恢复进程</a:t>
            </a:r>
            <a:r>
              <a:rPr lang="en-US" altLang="zh-CN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的</a:t>
            </a:r>
            <a:r>
              <a:rPr lang="zh-CN" altLang="en-US" sz="1400" b="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上下文</a:t>
            </a:r>
            <a:endParaRPr lang="en-US" altLang="zh-CN" sz="1400" b="0" dirty="0">
              <a:solidFill>
                <a:schemeClr val="accent3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0865CA8-9799-9F39-22E4-8C62CF0EE5EE}"/>
              </a:ext>
            </a:extLst>
          </p:cNvPr>
          <p:cNvSpPr txBox="1"/>
          <p:nvPr/>
        </p:nvSpPr>
        <p:spPr>
          <a:xfrm>
            <a:off x="1187624" y="5091684"/>
            <a:ext cx="7177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Q</a:t>
            </a:r>
            <a:r>
              <a:rPr kumimoji="1" lang="zh-CN" altLang="en-US" b="1" dirty="0">
                <a:solidFill>
                  <a:srgbClr val="C00000"/>
                </a:solidFill>
              </a:rPr>
              <a:t>：</a:t>
            </a:r>
            <a:r>
              <a:rPr kumimoji="1" lang="en-US" altLang="zh-CN" b="1" dirty="0">
                <a:solidFill>
                  <a:srgbClr val="C00000"/>
                </a:solidFill>
              </a:rPr>
              <a:t>Timer</a:t>
            </a:r>
            <a:r>
              <a:rPr kumimoji="1" lang="zh-CN" altLang="en-US" b="1" dirty="0">
                <a:solidFill>
                  <a:srgbClr val="C00000"/>
                </a:solidFill>
              </a:rPr>
              <a:t>中断可能在任意时刻抵达，任意时刻应用进程都能切换吗？</a:t>
            </a:r>
          </a:p>
        </p:txBody>
      </p:sp>
    </p:spTree>
    <p:extLst>
      <p:ext uri="{BB962C8B-B14F-4D97-AF65-F5344CB8AC3E}">
        <p14:creationId xmlns:p14="http://schemas.microsoft.com/office/powerpoint/2010/main" val="2647253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进程切换示例二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8" name="Text Box 127">
            <a:extLst>
              <a:ext uri="{FF2B5EF4-FFF2-40B4-BE49-F238E27FC236}">
                <a16:creationId xmlns:a16="http://schemas.microsoft.com/office/drawing/2014/main" id="{36DE6649-07E1-484F-B8B8-AEB30D827A0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555776" y="1527971"/>
            <a:ext cx="979755" cy="400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r>
              <a:rPr lang="en-US" altLang="zh-CN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A</a:t>
            </a:r>
          </a:p>
        </p:txBody>
      </p:sp>
      <p:sp>
        <p:nvSpPr>
          <p:cNvPr id="9" name="Text Box 128">
            <a:extLst>
              <a:ext uri="{FF2B5EF4-FFF2-40B4-BE49-F238E27FC236}">
                <a16:creationId xmlns:a16="http://schemas.microsoft.com/office/drawing/2014/main" id="{34652174-D23E-2F45-86E5-7C21FE0015A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994115" y="1527971"/>
            <a:ext cx="979755" cy="400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r>
              <a:rPr lang="en-US" altLang="zh-CN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B</a:t>
            </a:r>
          </a:p>
        </p:txBody>
      </p:sp>
      <p:sp>
        <p:nvSpPr>
          <p:cNvPr id="10" name="Line 131">
            <a:extLst>
              <a:ext uri="{FF2B5EF4-FFF2-40B4-BE49-F238E27FC236}">
                <a16:creationId xmlns:a16="http://schemas.microsoft.com/office/drawing/2014/main" id="{0620693E-CEAD-DE47-AC83-B5899C8D04C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387833" y="3168416"/>
            <a:ext cx="0" cy="4318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Line 134">
            <a:extLst>
              <a:ext uri="{FF2B5EF4-FFF2-40B4-BE49-F238E27FC236}">
                <a16:creationId xmlns:a16="http://schemas.microsoft.com/office/drawing/2014/main" id="{B120E11B-4D2F-A34A-A18C-7317B52BE4A8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3798843" y="1680928"/>
            <a:ext cx="9525" cy="313055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Text Box 135">
            <a:extLst>
              <a:ext uri="{FF2B5EF4-FFF2-40B4-BE49-F238E27FC236}">
                <a16:creationId xmlns:a16="http://schemas.microsoft.com/office/drawing/2014/main" id="{3AE8EEB5-BD88-6B45-BB4E-F30B20E88C3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55330" y="2296878"/>
            <a:ext cx="123463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执行</a:t>
            </a: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 Box 136">
            <a:extLst>
              <a:ext uri="{FF2B5EF4-FFF2-40B4-BE49-F238E27FC236}">
                <a16:creationId xmlns:a16="http://schemas.microsoft.com/office/drawing/2014/main" id="{214C56D1-9870-2E40-9920-EF48C166B3D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55330" y="2747728"/>
            <a:ext cx="8996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</a:t>
            </a:r>
            <a:r>
              <a:rPr lang="zh-CN" altLang="en-US" sz="1800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执行</a:t>
            </a:r>
            <a:endParaRPr lang="en-US" altLang="zh-CN" sz="1800" b="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Text Box 137">
            <a:extLst>
              <a:ext uri="{FF2B5EF4-FFF2-40B4-BE49-F238E27FC236}">
                <a16:creationId xmlns:a16="http://schemas.microsoft.com/office/drawing/2014/main" id="{66FBDBAF-E505-5841-9A8B-DC57575C3EC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55330" y="3195403"/>
            <a:ext cx="123463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执行</a:t>
            </a: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Text Box 138">
            <a:extLst>
              <a:ext uri="{FF2B5EF4-FFF2-40B4-BE49-F238E27FC236}">
                <a16:creationId xmlns:a16="http://schemas.microsoft.com/office/drawing/2014/main" id="{52BEC949-5C5E-DB47-8DBF-A12FD875B81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41041" y="3668478"/>
            <a:ext cx="8996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</a:t>
            </a:r>
            <a:r>
              <a:rPr lang="zh-CN" altLang="en-US" sz="1800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执行</a:t>
            </a:r>
            <a:endParaRPr lang="en-US" altLang="zh-CN" sz="1800" b="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Text Box 139">
            <a:extLst>
              <a:ext uri="{FF2B5EF4-FFF2-40B4-BE49-F238E27FC236}">
                <a16:creationId xmlns:a16="http://schemas.microsoft.com/office/drawing/2014/main" id="{73AA0AA3-FEFA-9C45-B0E7-35153BD5BE2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55330" y="4166954"/>
            <a:ext cx="123463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执行</a:t>
            </a: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Line 140">
            <a:extLst>
              <a:ext uri="{FF2B5EF4-FFF2-40B4-BE49-F238E27FC236}">
                <a16:creationId xmlns:a16="http://schemas.microsoft.com/office/drawing/2014/main" id="{B77219D1-5B65-A04D-A87E-5EBEB48DCD3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2695340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Line 141">
            <a:extLst>
              <a:ext uri="{FF2B5EF4-FFF2-40B4-BE49-F238E27FC236}">
                <a16:creationId xmlns:a16="http://schemas.microsoft.com/office/drawing/2014/main" id="{D600F231-21D0-7B43-B506-B174D918A3A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3157303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Line 142">
            <a:extLst>
              <a:ext uri="{FF2B5EF4-FFF2-40B4-BE49-F238E27FC236}">
                <a16:creationId xmlns:a16="http://schemas.microsoft.com/office/drawing/2014/main" id="{433101F7-327C-204C-8058-F0DB4B4D2620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3622441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Line 143">
            <a:extLst>
              <a:ext uri="{FF2B5EF4-FFF2-40B4-BE49-F238E27FC236}">
                <a16:creationId xmlns:a16="http://schemas.microsoft.com/office/drawing/2014/main" id="{FCDC24A6-C4F4-0345-95E6-1A1E539493C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4085991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Line 144">
            <a:extLst>
              <a:ext uri="{FF2B5EF4-FFF2-40B4-BE49-F238E27FC236}">
                <a16:creationId xmlns:a16="http://schemas.microsoft.com/office/drawing/2014/main" id="{8DD2BED1-1122-7B43-BB2D-2F71869DD7B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4551128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Line 145">
            <a:extLst>
              <a:ext uri="{FF2B5EF4-FFF2-40B4-BE49-F238E27FC236}">
                <a16:creationId xmlns:a16="http://schemas.microsoft.com/office/drawing/2014/main" id="{7485E7DE-5A5A-3A4C-826D-547A0A845C69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2230202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" name="Text Box 147">
            <a:extLst>
              <a:ext uri="{FF2B5EF4-FFF2-40B4-BE49-F238E27FC236}">
                <a16:creationId xmlns:a16="http://schemas.microsoft.com/office/drawing/2014/main" id="{045E9305-ABFD-B74A-A131-283EEC9B43E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172403" y="1683224"/>
            <a:ext cx="697627" cy="400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时间</a:t>
            </a:r>
            <a:endParaRPr lang="en-US" altLang="zh-CN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Text Box 149">
            <a:extLst>
              <a:ext uri="{FF2B5EF4-FFF2-40B4-BE49-F238E27FC236}">
                <a16:creationId xmlns:a16="http://schemas.microsoft.com/office/drawing/2014/main" id="{A2FF3034-3BFD-A849-95BD-669FD9D0226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89963" y="2511784"/>
            <a:ext cx="174759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保存进程</a:t>
            </a:r>
            <a:r>
              <a:rPr lang="en-US" altLang="zh-CN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的</a:t>
            </a:r>
            <a:r>
              <a:rPr lang="zh-CN" altLang="en-US" sz="1400" b="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上下文</a:t>
            </a:r>
            <a:endParaRPr lang="en-US" altLang="zh-CN" sz="1400" b="0" dirty="0">
              <a:solidFill>
                <a:schemeClr val="accent3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8" name="Text Box 152">
            <a:extLst>
              <a:ext uri="{FF2B5EF4-FFF2-40B4-BE49-F238E27FC236}">
                <a16:creationId xmlns:a16="http://schemas.microsoft.com/office/drawing/2014/main" id="{9FBF47FF-4719-0344-BBAE-90590BFDBCD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341285" y="2446103"/>
            <a:ext cx="748923" cy="400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Consolas" panose="020B0609020204030204" pitchFamily="49" charset="0"/>
                <a:cs typeface="Consolas" panose="020B0609020204030204" pitchFamily="49" charset="0"/>
              </a:rPr>
              <a:t>read</a:t>
            </a:r>
          </a:p>
        </p:txBody>
      </p:sp>
      <p:sp>
        <p:nvSpPr>
          <p:cNvPr id="29" name="Text Box 153">
            <a:extLst>
              <a:ext uri="{FF2B5EF4-FFF2-40B4-BE49-F238E27FC236}">
                <a16:creationId xmlns:a16="http://schemas.microsoft.com/office/drawing/2014/main" id="{2FDB2A98-048F-2E48-8C2E-41D3FAFF264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74382" y="3419211"/>
            <a:ext cx="1210588" cy="400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磁盘中断</a:t>
            </a:r>
            <a:endParaRPr lang="en-US" altLang="zh-CN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0" name="Line 155">
            <a:extLst>
              <a:ext uri="{FF2B5EF4-FFF2-40B4-BE49-F238E27FC236}">
                <a16:creationId xmlns:a16="http://schemas.microsoft.com/office/drawing/2014/main" id="{04DAF368-B733-C747-9FB0-571B794379D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19195" y="3631965"/>
            <a:ext cx="327039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1" name="Line 159">
            <a:extLst>
              <a:ext uri="{FF2B5EF4-FFF2-40B4-BE49-F238E27FC236}">
                <a16:creationId xmlns:a16="http://schemas.microsoft.com/office/drawing/2014/main" id="{7A69C499-B2DB-B34F-8A1A-DFE0124D7AD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1590" y="2225441"/>
            <a:ext cx="0" cy="4635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2" name="Line 160">
            <a:extLst>
              <a:ext uri="{FF2B5EF4-FFF2-40B4-BE49-F238E27FC236}">
                <a16:creationId xmlns:a16="http://schemas.microsoft.com/office/drawing/2014/main" id="{FEE3D76C-F97C-184F-8791-E8D171350A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1590" y="2704866"/>
            <a:ext cx="1252593" cy="4413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" name="Line 161">
            <a:extLst>
              <a:ext uri="{FF2B5EF4-FFF2-40B4-BE49-F238E27FC236}">
                <a16:creationId xmlns:a16="http://schemas.microsoft.com/office/drawing/2014/main" id="{45C61EA3-E700-2446-87DF-44CF206868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54290" y="3619266"/>
            <a:ext cx="1227192" cy="430211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4" name="Line 162">
            <a:extLst>
              <a:ext uri="{FF2B5EF4-FFF2-40B4-BE49-F238E27FC236}">
                <a16:creationId xmlns:a16="http://schemas.microsoft.com/office/drawing/2014/main" id="{1A1B8006-B8C1-A543-9274-20BA172FCF67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19195" y="2688990"/>
            <a:ext cx="327039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Line 163">
            <a:extLst>
              <a:ext uri="{FF2B5EF4-FFF2-40B4-BE49-F238E27FC236}">
                <a16:creationId xmlns:a16="http://schemas.microsoft.com/office/drawing/2014/main" id="{B49D4A5E-3A56-8040-8009-0848053419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6828" y="4071703"/>
            <a:ext cx="0" cy="50641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6" name="Text Box 164">
            <a:extLst>
              <a:ext uri="{FF2B5EF4-FFF2-40B4-BE49-F238E27FC236}">
                <a16:creationId xmlns:a16="http://schemas.microsoft.com/office/drawing/2014/main" id="{AD8F0815-AB33-2E49-B758-28181B225F9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28551" y="3878430"/>
            <a:ext cx="1518364" cy="400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zh-CN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从</a:t>
            </a:r>
            <a:r>
              <a:rPr lang="en-US" altLang="zh-CN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read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返回</a:t>
            </a:r>
            <a:endParaRPr lang="en-US" altLang="zh-CN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7" name="Line 165">
            <a:extLst>
              <a:ext uri="{FF2B5EF4-FFF2-40B4-BE49-F238E27FC236}">
                <a16:creationId xmlns:a16="http://schemas.microsoft.com/office/drawing/2014/main" id="{D7A2612D-EA97-4C47-BE63-B1A61C5284AA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2440" y="2175820"/>
            <a:ext cx="0" cy="21717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8" name="Line 166">
            <a:extLst>
              <a:ext uri="{FF2B5EF4-FFF2-40B4-BE49-F238E27FC236}">
                <a16:creationId xmlns:a16="http://schemas.microsoft.com/office/drawing/2014/main" id="{FF70770C-75E2-C947-8921-682F971CE98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19195" y="4095516"/>
            <a:ext cx="327039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Text Box 149">
            <a:extLst>
              <a:ext uri="{FF2B5EF4-FFF2-40B4-BE49-F238E27FC236}">
                <a16:creationId xmlns:a16="http://schemas.microsoft.com/office/drawing/2014/main" id="{BBAB1291-9AA9-9C0D-B212-107D9F4D57A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89963" y="2968440"/>
            <a:ext cx="17331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恢复进程</a:t>
            </a:r>
            <a:r>
              <a:rPr lang="en-US" altLang="zh-CN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B</a:t>
            </a: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的</a:t>
            </a:r>
            <a:r>
              <a:rPr lang="zh-CN" altLang="en-US" sz="1400" b="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上下文</a:t>
            </a:r>
            <a:endParaRPr lang="en-US" altLang="zh-CN" sz="1400" b="0" dirty="0">
              <a:solidFill>
                <a:schemeClr val="accent3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" name="Text Box 149">
            <a:extLst>
              <a:ext uri="{FF2B5EF4-FFF2-40B4-BE49-F238E27FC236}">
                <a16:creationId xmlns:a16="http://schemas.microsoft.com/office/drawing/2014/main" id="{C7CAABBD-3605-4A8B-4935-299D1C3F277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96405" y="3508386"/>
            <a:ext cx="17331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保存进程</a:t>
            </a:r>
            <a:r>
              <a:rPr lang="en-US" altLang="zh-CN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B</a:t>
            </a: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的</a:t>
            </a:r>
            <a:r>
              <a:rPr lang="zh-CN" altLang="en-US" sz="1400" b="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上下文</a:t>
            </a:r>
            <a:endParaRPr lang="en-US" altLang="zh-CN" sz="1400" b="0" dirty="0">
              <a:solidFill>
                <a:schemeClr val="accent3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" name="Text Box 149">
            <a:extLst>
              <a:ext uri="{FF2B5EF4-FFF2-40B4-BE49-F238E27FC236}">
                <a16:creationId xmlns:a16="http://schemas.microsoft.com/office/drawing/2014/main" id="{2592887E-0DB4-EC51-EA52-8A4713B5467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96405" y="3965042"/>
            <a:ext cx="174759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恢复进程</a:t>
            </a:r>
            <a:r>
              <a:rPr lang="en-US" altLang="zh-CN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的</a:t>
            </a:r>
            <a:r>
              <a:rPr lang="zh-CN" altLang="en-US" sz="1400" b="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上下文</a:t>
            </a:r>
            <a:endParaRPr lang="en-US" altLang="zh-CN" sz="1400" b="0" dirty="0">
              <a:solidFill>
                <a:schemeClr val="accent3"/>
              </a:solidFill>
              <a:latin typeface="+mn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2141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/>
              <a:t>常见的进程相关的接口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86016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获取进程 </a:t>
            </a:r>
            <a:r>
              <a:rPr kumimoji="1" lang="en-US" altLang="zh-CN" dirty="0"/>
              <a:t>ID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进程 </a:t>
            </a:r>
            <a:r>
              <a: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ID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每个进程都有唯一的正数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</a:p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Getpid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返回调用进程的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endParaRPr kumimoji="1"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Getppid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返回调用进程</a:t>
            </a:r>
            <a:r>
              <a:rPr kumimoji="1"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父进程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的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父进程：创建该进程的进程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648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获取进程 </a:t>
            </a:r>
            <a:r>
              <a:rPr kumimoji="1" lang="en-US" altLang="zh-CN" dirty="0"/>
              <a:t>ID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584" y="3577580"/>
            <a:ext cx="7859216" cy="1743581"/>
          </a:xfrm>
        </p:spPr>
        <p:txBody>
          <a:bodyPr>
            <a:noAutofit/>
          </a:bodyPr>
          <a:lstStyle/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getpid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和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getppid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函数返回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pid_t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类型的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值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pid_t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Linux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系统中，在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types.h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文件中定义为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endParaRPr kumimoji="1" lang="zh-CN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0007AF-E1FD-824D-A998-4EE210FFA356}"/>
              </a:ext>
            </a:extLst>
          </p:cNvPr>
          <p:cNvSpPr/>
          <p:nvPr/>
        </p:nvSpPr>
        <p:spPr>
          <a:xfrm>
            <a:off x="827584" y="1377793"/>
            <a:ext cx="7630616" cy="1951303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#include &lt;</a:t>
            </a: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unistd.h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&gt;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#include &lt;sys/</a:t>
            </a: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types.h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&gt;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2000" b="1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getpid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(void);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2000" b="1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getppid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(void);</a:t>
            </a:r>
          </a:p>
          <a:p>
            <a:pPr lvl="0" algn="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返回值：调用进程或父进程的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PID</a:t>
            </a:r>
          </a:p>
        </p:txBody>
      </p:sp>
    </p:spTree>
    <p:extLst>
      <p:ext uri="{BB962C8B-B14F-4D97-AF65-F5344CB8AC3E}">
        <p14:creationId xmlns:p14="http://schemas.microsoft.com/office/powerpoint/2010/main" val="34053818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CN" altLang="zh-CN" dirty="0"/>
              <a:t>Exit</a:t>
            </a:r>
            <a:r>
              <a:rPr kumimoji="1" lang="zh-CN" altLang="en-US" dirty="0"/>
              <a:t> 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604" y="3361555"/>
            <a:ext cx="7128792" cy="1743581"/>
          </a:xfrm>
        </p:spPr>
        <p:txBody>
          <a:bodyPr>
            <a:noAutofit/>
          </a:bodyPr>
          <a:lstStyle/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exit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函数终止进程并带上一个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status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状态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F50DB4-8052-9A45-A213-E71E96A3B40E}"/>
              </a:ext>
            </a:extLst>
          </p:cNvPr>
          <p:cNvSpPr/>
          <p:nvPr/>
        </p:nvSpPr>
        <p:spPr>
          <a:xfrm>
            <a:off x="1007604" y="1557483"/>
            <a:ext cx="7128792" cy="1508105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#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include &lt;</a:t>
            </a: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stdlib.h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&gt;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void </a:t>
            </a: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exit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(int status);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US" altLang="zh-CN" sz="2000" b="1" dirty="0"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  <a:p>
            <a:pPr lvl="0" algn="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这个函数没有返回值</a:t>
            </a:r>
          </a:p>
        </p:txBody>
      </p:sp>
    </p:spTree>
    <p:extLst>
      <p:ext uri="{BB962C8B-B14F-4D97-AF65-F5344CB8AC3E}">
        <p14:creationId xmlns:p14="http://schemas.microsoft.com/office/powerpoint/2010/main" val="30365963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CN" altLang="zh-CN" dirty="0"/>
              <a:t>Fork</a:t>
            </a:r>
            <a:r>
              <a:rPr kumimoji="1" lang="zh-CN" altLang="en-US" dirty="0"/>
              <a:t> 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334615"/>
            <a:ext cx="7776864" cy="1743581"/>
          </a:xfrm>
        </p:spPr>
        <p:txBody>
          <a:bodyPr>
            <a:noAutofit/>
          </a:bodyPr>
          <a:lstStyle/>
          <a:p>
            <a:r>
              <a:rPr kumimoji="1" lang="zh-CN" altLang="en-US" dirty="0"/>
              <a:t>父进程调用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函数创建新的子进程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51596D-2378-6046-BEC2-79C4A9D98827}"/>
              </a:ext>
            </a:extLst>
          </p:cNvPr>
          <p:cNvSpPr/>
          <p:nvPr/>
        </p:nvSpPr>
        <p:spPr>
          <a:xfrm>
            <a:off x="683568" y="2137420"/>
            <a:ext cx="7776864" cy="1877437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#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include &lt;</a:t>
            </a:r>
            <a:r>
              <a:rPr lang="en-US" altLang="zh-CN" sz="2000" dirty="0" err="1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unistd.h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&gt;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#include &lt;sys/</a:t>
            </a:r>
            <a:r>
              <a:rPr lang="en-US" altLang="zh-CN" sz="2000" dirty="0" err="1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types.h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&gt;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 err="1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2000" b="1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fork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(void);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US" altLang="zh-CN" sz="2000" b="1" dirty="0"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 lvl="0" algn="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返回值：子进程为 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，父进程为子进程 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PID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，出错为 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-1</a:t>
            </a:r>
            <a:endParaRPr lang="zh-CN" altLang="en-US" sz="2000" dirty="0">
              <a:solidFill>
                <a:srgbClr val="C00000"/>
              </a:solidFill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2806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CN" altLang="zh-CN" dirty="0"/>
              <a:t>Fork</a:t>
            </a:r>
            <a:r>
              <a:rPr kumimoji="1" lang="zh-CN" altLang="en-US" dirty="0"/>
              <a:t> 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4615"/>
            <a:ext cx="8003232" cy="3962347"/>
          </a:xfrm>
        </p:spPr>
        <p:txBody>
          <a:bodyPr>
            <a:noAutofit/>
          </a:bodyPr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调用</a:t>
            </a:r>
            <a:r>
              <a:rPr kumimoji="1"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一次</a:t>
            </a:r>
            <a:endParaRPr kumimoji="1" lang="en-US" altLang="zh-CN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在父进程中</a:t>
            </a:r>
          </a:p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返回</a:t>
            </a:r>
            <a:r>
              <a:rPr kumimoji="1"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两次</a:t>
            </a:r>
            <a:endParaRPr kumimoji="1" lang="en-US" altLang="zh-CN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在父进程中，返回子进程的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在子进程中，返回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r>
              <a:rPr kumimoji="1"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返回值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提供了唯一明确地区分父进程和子进程执行的方法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63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CN" altLang="zh-CN" dirty="0"/>
              <a:t>Fork</a:t>
            </a:r>
            <a:r>
              <a:rPr kumimoji="1" lang="zh-CN" altLang="en-US" dirty="0"/>
              <a:t> 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0E29FD-A5C8-4349-AEED-49042929619B}"/>
              </a:ext>
            </a:extLst>
          </p:cNvPr>
          <p:cNvSpPr/>
          <p:nvPr/>
        </p:nvSpPr>
        <p:spPr>
          <a:xfrm>
            <a:off x="611560" y="1129308"/>
            <a:ext cx="8075240" cy="4341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#include "</a:t>
            </a:r>
            <a:r>
              <a:rPr lang="en-US" altLang="zh-CN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csapp.h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"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int main()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{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</a:t>
            </a:r>
            <a:r>
              <a:rPr lang="en-US" altLang="zh-CN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pid_t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pid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int x = 1;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</a:t>
            </a:r>
            <a:r>
              <a:rPr lang="en-US" altLang="zh-CN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pid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= 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Fork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();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if (</a:t>
            </a:r>
            <a:r>
              <a:rPr lang="en-US" altLang="zh-CN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pid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== 0) { </a:t>
            </a:r>
            <a:r>
              <a:rPr lang="en-US" altLang="zh-CN" b="1" dirty="0">
                <a:solidFill>
                  <a:srgbClr val="007AC3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/* child */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	</a:t>
            </a:r>
            <a:r>
              <a:rPr lang="en-US" altLang="zh-CN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("child : x=%d\n", ++x);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	exit(0);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}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</a:t>
            </a:r>
            <a:r>
              <a:rPr lang="en-US" altLang="zh-CN" b="1" dirty="0">
                <a:solidFill>
                  <a:srgbClr val="007AC3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/* parent */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</a:t>
            </a:r>
            <a:r>
              <a:rPr lang="en-US" altLang="zh-CN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("parent: x=%d\n", --x);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exit(0);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708716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585D09E-CB58-6547-937D-15D22EABD40D}"/>
              </a:ext>
            </a:extLst>
          </p:cNvPr>
          <p:cNvSpPr/>
          <p:nvPr/>
        </p:nvSpPr>
        <p:spPr>
          <a:xfrm>
            <a:off x="791580" y="1241054"/>
            <a:ext cx="7560840" cy="37592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#include "</a:t>
            </a:r>
            <a:r>
              <a:rPr lang="en-US" altLang="zh-CN" sz="2000" dirty="0" err="1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csapp.h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"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int main()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{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Fork();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("hello!\n");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exit(0);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endParaRPr lang="en-US" altLang="zh-CN" sz="2000" dirty="0"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(a) </a:t>
            </a: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调用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一次</a:t>
            </a: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fork     	</a:t>
            </a: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endParaRPr lang="en-US" altLang="zh-CN" sz="2000" dirty="0"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小思考：</a:t>
            </a:r>
            <a:r>
              <a:rPr lang="zh-CN" altLang="en-US" sz="36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打印</a:t>
            </a:r>
            <a:r>
              <a:rPr lang="zh-CN" altLang="en-US" sz="36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几行</a:t>
            </a:r>
            <a:r>
              <a:rPr lang="zh-CN" altLang="en-US" sz="36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输出？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8350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585D09E-CB58-6547-937D-15D22EABD40D}"/>
              </a:ext>
            </a:extLst>
          </p:cNvPr>
          <p:cNvSpPr/>
          <p:nvPr/>
        </p:nvSpPr>
        <p:spPr>
          <a:xfrm>
            <a:off x="791580" y="1241054"/>
            <a:ext cx="7560840" cy="37592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#include "</a:t>
            </a:r>
            <a:r>
              <a:rPr lang="en-US" altLang="zh-CN" sz="2000" dirty="0" err="1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csapp.h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"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int main()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{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Fork();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("hello!\n");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exit(0);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endParaRPr lang="en-US" altLang="zh-CN" sz="2000" dirty="0"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(a) </a:t>
            </a: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调用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一次</a:t>
            </a: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fork     	    (b) </a:t>
            </a: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打印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两行</a:t>
            </a: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输出</a:t>
            </a:r>
            <a:endParaRPr lang="en-US" altLang="zh-CN" sz="2000" dirty="0"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endParaRPr lang="en-US" altLang="zh-CN" sz="2000" dirty="0"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小思考：</a:t>
            </a:r>
            <a:r>
              <a:rPr lang="zh-CN" altLang="en-US" sz="36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打印</a:t>
            </a:r>
            <a:r>
              <a:rPr lang="zh-CN" altLang="en-US" sz="36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几行</a:t>
            </a:r>
            <a:r>
              <a:rPr lang="zh-CN" altLang="en-US" sz="36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输出？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6" name="Line 401">
            <a:extLst>
              <a:ext uri="{FF2B5EF4-FFF2-40B4-BE49-F238E27FC236}">
                <a16:creationId xmlns:a16="http://schemas.microsoft.com/office/drawing/2014/main" id="{4EC4CD99-54DA-AC45-9086-C87A3422A6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95938" y="2823220"/>
            <a:ext cx="144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N"/>
          </a:p>
        </p:txBody>
      </p:sp>
      <p:sp>
        <p:nvSpPr>
          <p:cNvPr id="8" name="Line 406">
            <a:extLst>
              <a:ext uri="{FF2B5EF4-FFF2-40B4-BE49-F238E27FC236}">
                <a16:creationId xmlns:a16="http://schemas.microsoft.com/office/drawing/2014/main" id="{F45C06B9-099F-3E41-A78C-18AB43FC6C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76938" y="2442220"/>
            <a:ext cx="1066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8EFA4DE-F5BA-7643-A4BF-DA7E8D1A6D4C}"/>
              </a:ext>
            </a:extLst>
          </p:cNvPr>
          <p:cNvGrpSpPr/>
          <p:nvPr/>
        </p:nvGrpSpPr>
        <p:grpSpPr>
          <a:xfrm>
            <a:off x="5694139" y="2137420"/>
            <a:ext cx="1254125" cy="1080120"/>
            <a:chOff x="5637213" y="2819400"/>
            <a:chExt cx="1254125" cy="1080120"/>
          </a:xfrm>
        </p:grpSpPr>
        <p:sp>
          <p:nvSpPr>
            <p:cNvPr id="7" name="Line 403">
              <a:extLst>
                <a:ext uri="{FF2B5EF4-FFF2-40B4-BE49-F238E27FC236}">
                  <a16:creationId xmlns:a16="http://schemas.microsoft.com/office/drawing/2014/main" id="{4682DE2B-DA11-8A41-9F0A-B84BC84F37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976938" y="3124200"/>
              <a:ext cx="0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9" name="Text Box 407">
              <a:extLst>
                <a:ext uri="{FF2B5EF4-FFF2-40B4-BE49-F238E27FC236}">
                  <a16:creationId xmlns:a16="http://schemas.microsoft.com/office/drawing/2014/main" id="{5961678C-157E-5846-A1CA-1D6512C7B9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3200400"/>
              <a:ext cx="7953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Courier New" panose="02070309020205020404" pitchFamily="49" charset="0"/>
                </a:rPr>
                <a:t>hello</a:t>
              </a:r>
            </a:p>
          </p:txBody>
        </p:sp>
        <p:sp>
          <p:nvSpPr>
            <p:cNvPr id="10" name="Text Box 408">
              <a:extLst>
                <a:ext uri="{FF2B5EF4-FFF2-40B4-BE49-F238E27FC236}">
                  <a16:creationId xmlns:a16="http://schemas.microsoft.com/office/drawing/2014/main" id="{7A0C5CE8-488A-024C-818F-6E606B85B2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2819400"/>
              <a:ext cx="7953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Courier New" panose="02070309020205020404" pitchFamily="49" charset="0"/>
                </a:rPr>
                <a:t>hello</a:t>
              </a:r>
            </a:p>
          </p:txBody>
        </p:sp>
        <p:sp>
          <p:nvSpPr>
            <p:cNvPr id="11" name="Text Box 412">
              <a:extLst>
                <a:ext uri="{FF2B5EF4-FFF2-40B4-BE49-F238E27FC236}">
                  <a16:creationId xmlns:a16="http://schemas.microsoft.com/office/drawing/2014/main" id="{C733753E-03E4-D142-AE10-A26AEF880D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7213" y="3499470"/>
              <a:ext cx="8001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fork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85704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1EA245E-55F2-9D42-9FF5-0CE32B127C7E}"/>
              </a:ext>
            </a:extLst>
          </p:cNvPr>
          <p:cNvSpPr/>
          <p:nvPr/>
        </p:nvSpPr>
        <p:spPr>
          <a:xfrm>
            <a:off x="791580" y="1241054"/>
            <a:ext cx="7560840" cy="3758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#include "</a:t>
            </a:r>
            <a:r>
              <a:rPr lang="en-US" altLang="zh-CN" sz="2000" dirty="0" err="1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csapp.h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"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int main()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{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Fork();</a:t>
            </a:r>
            <a:endParaRPr lang="en-US" altLang="zh-CN" sz="2000" dirty="0"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Fork();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("hello!\n");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exit(0);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endParaRPr lang="en-US" altLang="zh-CN" sz="2000" dirty="0"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(a) </a:t>
            </a: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调用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二次</a:t>
            </a: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fork     	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小思考：</a:t>
            </a:r>
            <a:r>
              <a:rPr lang="zh-CN" altLang="en-US" sz="36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打印</a:t>
            </a:r>
            <a:r>
              <a:rPr lang="zh-CN" altLang="en-US" sz="36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几行</a:t>
            </a:r>
            <a:r>
              <a:rPr lang="zh-CN" altLang="en-US" sz="36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输出？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1391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1EA245E-55F2-9D42-9FF5-0CE32B127C7E}"/>
              </a:ext>
            </a:extLst>
          </p:cNvPr>
          <p:cNvSpPr/>
          <p:nvPr/>
        </p:nvSpPr>
        <p:spPr>
          <a:xfrm>
            <a:off x="791580" y="1241054"/>
            <a:ext cx="7560840" cy="41285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#include "</a:t>
            </a:r>
            <a:r>
              <a:rPr lang="en-US" altLang="zh-CN" sz="2000" dirty="0" err="1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csapp.h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"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int main()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{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Fork();</a:t>
            </a:r>
            <a:endParaRPr lang="en-US" altLang="zh-CN" sz="2000" dirty="0"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Fork();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("hello!\n");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exit(0);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endParaRPr lang="en-US" altLang="zh-CN" sz="2000" dirty="0"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(a) </a:t>
            </a: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调用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二次</a:t>
            </a: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fork     	    (b) </a:t>
            </a: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打印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四行</a:t>
            </a: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输出</a:t>
            </a:r>
            <a:endParaRPr lang="en-US" altLang="zh-CN" sz="2000" dirty="0"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endParaRPr lang="en-US" altLang="zh-CN" sz="2000" dirty="0"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小思考：</a:t>
            </a:r>
            <a:r>
              <a:rPr lang="zh-CN" altLang="en-US" sz="36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打印</a:t>
            </a:r>
            <a:r>
              <a:rPr lang="zh-CN" altLang="en-US" sz="36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几行</a:t>
            </a:r>
            <a:r>
              <a:rPr lang="zh-CN" altLang="en-US" sz="36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输出？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832E64F-9BE3-A743-88DD-F2D13CBC4126}"/>
              </a:ext>
            </a:extLst>
          </p:cNvPr>
          <p:cNvGrpSpPr/>
          <p:nvPr/>
        </p:nvGrpSpPr>
        <p:grpSpPr>
          <a:xfrm>
            <a:off x="5436096" y="2047875"/>
            <a:ext cx="2011363" cy="1619250"/>
            <a:chOff x="5375275" y="2406650"/>
            <a:chExt cx="2011363" cy="1619250"/>
          </a:xfrm>
        </p:grpSpPr>
        <p:sp>
          <p:nvSpPr>
            <p:cNvPr id="13" name="Line 391">
              <a:extLst>
                <a:ext uri="{FF2B5EF4-FFF2-40B4-BE49-F238E27FC236}">
                  <a16:creationId xmlns:a16="http://schemas.microsoft.com/office/drawing/2014/main" id="{85FE8E8C-6711-6A46-BC6A-27A609472C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86438" y="2971800"/>
              <a:ext cx="0" cy="685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4" name="Line 392">
              <a:extLst>
                <a:ext uri="{FF2B5EF4-FFF2-40B4-BE49-F238E27FC236}">
                  <a16:creationId xmlns:a16="http://schemas.microsoft.com/office/drawing/2014/main" id="{3E4CCDDD-A631-F54A-8217-DA1DB503A1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05438" y="3657600"/>
              <a:ext cx="1981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5" name="Line 393">
              <a:extLst>
                <a:ext uri="{FF2B5EF4-FFF2-40B4-BE49-F238E27FC236}">
                  <a16:creationId xmlns:a16="http://schemas.microsoft.com/office/drawing/2014/main" id="{EE9F8A07-6587-3F40-B3FD-0B43E4392E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86438" y="2971800"/>
              <a:ext cx="1600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6" name="Line 394">
              <a:extLst>
                <a:ext uri="{FF2B5EF4-FFF2-40B4-BE49-F238E27FC236}">
                  <a16:creationId xmlns:a16="http://schemas.microsoft.com/office/drawing/2014/main" id="{C6EA98F7-7CE5-F649-B334-929109931E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19838" y="3352800"/>
              <a:ext cx="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7" name="Line 395">
              <a:extLst>
                <a:ext uri="{FF2B5EF4-FFF2-40B4-BE49-F238E27FC236}">
                  <a16:creationId xmlns:a16="http://schemas.microsoft.com/office/drawing/2014/main" id="{9EC9D714-42CF-ED40-AD0E-46143F4355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19838" y="2667000"/>
              <a:ext cx="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8" name="Line 396">
              <a:extLst>
                <a:ext uri="{FF2B5EF4-FFF2-40B4-BE49-F238E27FC236}">
                  <a16:creationId xmlns:a16="http://schemas.microsoft.com/office/drawing/2014/main" id="{9DAE7B6E-5476-2D40-A437-E25F47D66A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19838" y="2667000"/>
              <a:ext cx="1066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9" name="Line 397">
              <a:extLst>
                <a:ext uri="{FF2B5EF4-FFF2-40B4-BE49-F238E27FC236}">
                  <a16:creationId xmlns:a16="http://schemas.microsoft.com/office/drawing/2014/main" id="{2521584F-5206-5E46-9895-43B1FADF2D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19838" y="3352800"/>
              <a:ext cx="1066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0" name="Text Box 398">
              <a:extLst>
                <a:ext uri="{FF2B5EF4-FFF2-40B4-BE49-F238E27FC236}">
                  <a16:creationId xmlns:a16="http://schemas.microsoft.com/office/drawing/2014/main" id="{D3B2C08E-BBA0-7D40-8657-5A1E62D5DD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8900" y="3397250"/>
              <a:ext cx="7953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Courier New" panose="02070309020205020404" pitchFamily="49" charset="0"/>
                </a:rPr>
                <a:t>hello</a:t>
              </a:r>
            </a:p>
          </p:txBody>
        </p:sp>
        <p:sp>
          <p:nvSpPr>
            <p:cNvPr id="21" name="Text Box 399">
              <a:extLst>
                <a:ext uri="{FF2B5EF4-FFF2-40B4-BE49-F238E27FC236}">
                  <a16:creationId xmlns:a16="http://schemas.microsoft.com/office/drawing/2014/main" id="{D61FFFAE-038F-EE46-9C42-0DF586031A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8900" y="3092450"/>
              <a:ext cx="7953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Courier New" panose="02070309020205020404" pitchFamily="49" charset="0"/>
                </a:rPr>
                <a:t>hello</a:t>
              </a:r>
            </a:p>
          </p:txBody>
        </p:sp>
        <p:sp>
          <p:nvSpPr>
            <p:cNvPr id="22" name="Text Box 400">
              <a:extLst>
                <a:ext uri="{FF2B5EF4-FFF2-40B4-BE49-F238E27FC236}">
                  <a16:creationId xmlns:a16="http://schemas.microsoft.com/office/drawing/2014/main" id="{D39A755C-880E-704A-A0E8-FC641EDEA2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8900" y="2711450"/>
              <a:ext cx="7953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Courier New" panose="02070309020205020404" pitchFamily="49" charset="0"/>
                </a:rPr>
                <a:t>hello</a:t>
              </a:r>
            </a:p>
          </p:txBody>
        </p:sp>
        <p:sp>
          <p:nvSpPr>
            <p:cNvPr id="23" name="Text Box 401">
              <a:extLst>
                <a:ext uri="{FF2B5EF4-FFF2-40B4-BE49-F238E27FC236}">
                  <a16:creationId xmlns:a16="http://schemas.microsoft.com/office/drawing/2014/main" id="{9DC28862-D99A-BB4C-B91E-DFB30AE2FF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8900" y="2406650"/>
              <a:ext cx="7953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Courier New" panose="02070309020205020404" pitchFamily="49" charset="0"/>
                </a:rPr>
                <a:t>hello</a:t>
              </a:r>
            </a:p>
          </p:txBody>
        </p:sp>
        <p:sp>
          <p:nvSpPr>
            <p:cNvPr id="24" name="Text Box 403">
              <a:extLst>
                <a:ext uri="{FF2B5EF4-FFF2-40B4-BE49-F238E27FC236}">
                  <a16:creationId xmlns:a16="http://schemas.microsoft.com/office/drawing/2014/main" id="{1B623633-E17A-BA48-B834-9E37814610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5275" y="3625850"/>
              <a:ext cx="8001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olidFill>
                    <a:srgbClr val="C00000"/>
                  </a:solidFill>
                  <a:latin typeface="Courier New" panose="02070309020205020404" pitchFamily="49" charset="0"/>
                </a:rPr>
                <a:t>fork</a:t>
              </a:r>
            </a:p>
          </p:txBody>
        </p:sp>
        <p:sp>
          <p:nvSpPr>
            <p:cNvPr id="25" name="Text Box 415">
              <a:extLst>
                <a:ext uri="{FF2B5EF4-FFF2-40B4-BE49-F238E27FC236}">
                  <a16:creationId xmlns:a16="http://schemas.microsoft.com/office/drawing/2014/main" id="{5769C5F1-CD4E-8848-ABBF-91B27539DA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3625850"/>
              <a:ext cx="8001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olidFill>
                    <a:srgbClr val="C00000"/>
                  </a:solidFill>
                  <a:latin typeface="Courier New" panose="02070309020205020404" pitchFamily="49" charset="0"/>
                </a:rPr>
                <a:t>fork</a:t>
              </a:r>
            </a:p>
          </p:txBody>
        </p:sp>
        <p:sp>
          <p:nvSpPr>
            <p:cNvPr id="26" name="Text Box 415">
              <a:extLst>
                <a:ext uri="{FF2B5EF4-FFF2-40B4-BE49-F238E27FC236}">
                  <a16:creationId xmlns:a16="http://schemas.microsoft.com/office/drawing/2014/main" id="{32C73964-48DF-C34A-A21F-99B5088A82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2908300"/>
              <a:ext cx="8001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fork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57734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Execve</a:t>
            </a:r>
            <a:r>
              <a:rPr kumimoji="1" lang="zh-CN" altLang="en-US" dirty="0"/>
              <a:t>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929508"/>
            <a:ext cx="8229600" cy="2628635"/>
          </a:xfrm>
        </p:spPr>
        <p:txBody>
          <a:bodyPr>
            <a:noAutofit/>
          </a:bodyPr>
          <a:lstStyle/>
          <a:p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加载和运行</a:t>
            </a:r>
            <a:endParaRPr kumimoji="1" lang="en-US" altLang="zh-CN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filename: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可执行文件名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kumimoji="1"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argv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参数列表，</a:t>
            </a:r>
            <a:r>
              <a:rPr kumimoji="1"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envp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环境变量列表</a:t>
            </a:r>
            <a:endParaRPr kumimoji="1"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execve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只调用一次，且永远不会返回</a:t>
            </a:r>
            <a:endParaRPr kumimoji="1" lang="en-US" altLang="zh-CN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仅仅在运行报错的时候，返回调用程序</a:t>
            </a:r>
            <a:endParaRPr kumimoji="1"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例：找不到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filename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标识的文件</a:t>
            </a:r>
            <a:endParaRPr kumimoji="1" lang="zh-CN" alt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50BC4D-DF2E-5149-9F8A-FC9BA2816D85}"/>
              </a:ext>
            </a:extLst>
          </p:cNvPr>
          <p:cNvSpPr/>
          <p:nvPr/>
        </p:nvSpPr>
        <p:spPr>
          <a:xfrm>
            <a:off x="457200" y="1243275"/>
            <a:ext cx="8075240" cy="1542217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include &lt;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unistd.h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execve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(const char *filename, </a:t>
            </a:r>
            <a:b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   const char *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argv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[], const char *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envp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[]);</a:t>
            </a:r>
          </a:p>
          <a:p>
            <a:pPr algn="r">
              <a:lnSpc>
                <a:spcPct val="12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返回值：成功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不返回），失败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(-1)</a:t>
            </a:r>
          </a:p>
        </p:txBody>
      </p:sp>
    </p:spTree>
    <p:extLst>
      <p:ext uri="{BB962C8B-B14F-4D97-AF65-F5344CB8AC3E}">
        <p14:creationId xmlns:p14="http://schemas.microsoft.com/office/powerpoint/2010/main" val="36219903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Linux</a:t>
            </a:r>
            <a:r>
              <a:rPr kumimoji="1" lang="zh-CN" altLang="en-US" dirty="0"/>
              <a:t>下的僵尸进程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507288" cy="3771636"/>
          </a:xfrm>
        </p:spPr>
        <p:txBody>
          <a:bodyPr>
            <a:noAutofit/>
          </a:bodyPr>
          <a:lstStyle/>
          <a:p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进程终止后，内核不会立刻销毁该进程</a:t>
            </a:r>
            <a:endParaRPr kumimoji="1" lang="en-US" altLang="zh-CN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不再运行，但仍然占用内存资源</a:t>
            </a:r>
            <a:endParaRPr kumimoji="1"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进程以终止态存在，等待</a:t>
            </a:r>
            <a:r>
              <a:rPr kumimoji="1" lang="zh-CN" altLang="en-CN" sz="2400" dirty="0">
                <a:latin typeface="Consolas" panose="020B0609020204030204" pitchFamily="49" charset="0"/>
                <a:cs typeface="Consolas" panose="020B0609020204030204" pitchFamily="49" charset="0"/>
              </a:rPr>
              <a:t>父进程</a:t>
            </a:r>
            <a:r>
              <a:rPr kumimoji="1" lang="zh-CN" alt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回收</a:t>
            </a:r>
            <a:endParaRPr kumimoji="1" lang="en-US" altLang="zh-CN" sz="24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当父进程</a:t>
            </a:r>
            <a:r>
              <a:rPr kumimoji="1" lang="zh-CN" alt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回收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终止的子进程</a:t>
            </a:r>
            <a:endParaRPr kumimoji="1" lang="en-US" altLang="zh-CN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内核把子进程的</a:t>
            </a:r>
            <a:r>
              <a:rPr kumimoji="1"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exit</a:t>
            </a:r>
            <a:r>
              <a:rPr kumimoji="1"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状态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传递给父进程</a:t>
            </a:r>
            <a:endParaRPr kumimoji="1"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内核移除子进程，此时子进程才被真正回收</a:t>
            </a:r>
            <a:endParaRPr kumimoji="1"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终止状态下还未被回收的进程就是</a:t>
            </a:r>
            <a:r>
              <a:rPr kumimoji="1" lang="zh-CN" alt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僵尸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endParaRPr kumimoji="1" lang="en-US" altLang="zh-CN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kumimoji="1" lang="zh-CN" alt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4360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Linux</a:t>
            </a:r>
            <a:r>
              <a:rPr kumimoji="1" lang="zh-CN" altLang="en-US" dirty="0"/>
              <a:t>下的僵尸进程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如果父进程在自己终止前没有回收僵尸子进程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内核会安排</a:t>
            </a:r>
            <a:r>
              <a:rPr kumimoji="1" lang="en-US" altLang="zh-CN" b="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kumimoji="1" lang="zh-CN" altLang="en-US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r>
              <a:rPr kumimoji="1" lang="zh-CN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回收这些</a:t>
            </a:r>
            <a:r>
              <a:rPr kumimoji="1" lang="zh-CN" altLang="en-CN" b="0" dirty="0">
                <a:latin typeface="Consolas" panose="020B0609020204030204" pitchFamily="49" charset="0"/>
                <a:cs typeface="Consolas" panose="020B0609020204030204" pitchFamily="49" charset="0"/>
              </a:rPr>
              <a:t>子进程</a:t>
            </a:r>
            <a:endParaRPr kumimoji="1" lang="en-US" altLang="zh-CN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为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lvl="1"/>
            <a:r>
              <a:rPr kumimoji="1" lang="zh-CN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在系统初始化时由内核创建</a:t>
            </a:r>
            <a:endParaRPr kumimoji="1" lang="en-US" altLang="zh-CN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4311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43A9A6-0DBA-D044-BB22-B7FDF98E23C3}"/>
              </a:ext>
            </a:extLst>
          </p:cNvPr>
          <p:cNvSpPr/>
          <p:nvPr/>
        </p:nvSpPr>
        <p:spPr>
          <a:xfrm>
            <a:off x="611560" y="1661083"/>
            <a:ext cx="8229600" cy="2765629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#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include &lt;sys/</a:t>
            </a: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types.h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&gt;</a:t>
            </a:r>
          </a:p>
          <a:p>
            <a:pPr lv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#include &lt;sys/</a:t>
            </a: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wait.h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&gt;</a:t>
            </a:r>
          </a:p>
          <a:p>
            <a:pPr lv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2000" b="1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waitpid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pid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int *status, int options);</a:t>
            </a:r>
          </a:p>
          <a:p>
            <a:pPr lv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wait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(int *status);</a:t>
            </a:r>
          </a:p>
          <a:p>
            <a:pPr lv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</a:pPr>
            <a:endParaRPr lang="en-US" altLang="zh-CN" sz="2000" dirty="0"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  <a:p>
            <a:pPr lvl="0" algn="r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返回值：成功返回子进程 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PID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，出错返回 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-1</a:t>
            </a:r>
            <a:endParaRPr lang="zh-CN" altLang="en-US" sz="2000" dirty="0">
              <a:solidFill>
                <a:srgbClr val="C00000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2279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F2E85BD-736D-3F47-9652-A1E8A92D0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66047"/>
            <a:ext cx="8229600" cy="3111733"/>
          </a:xfrm>
        </p:spPr>
        <p:txBody>
          <a:bodyPr>
            <a:noAutofit/>
          </a:bodyPr>
          <a:lstStyle/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&gt;0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：等待集合中只有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子进程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=-1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：等待集合包括所有子进程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如果没有子进程：返回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-1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errno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ECHILD</a:t>
            </a:r>
          </a:p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如果等待被中断：返回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-1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errno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EINTR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E1BBF3D-F232-E744-9E34-B1ECD5935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1286"/>
            <a:ext cx="8005572" cy="40011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, int *status, int options);</a:t>
            </a:r>
            <a:endParaRPr lang="zh-CN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6964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F2E85BD-736D-3F47-9652-A1E8A92D0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950" y="2137420"/>
            <a:ext cx="8229600" cy="2695193"/>
          </a:xfrm>
        </p:spPr>
        <p:txBody>
          <a:bodyPr>
            <a:noAutofit/>
          </a:bodyPr>
          <a:lstStyle/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options=0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挂起调用进程，等待集合中</a:t>
            </a:r>
            <a:r>
              <a:rPr kumimoji="1"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任意子进程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终止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如果等待集合中有子进程在函数调用前已经终止，</a:t>
            </a:r>
            <a:br>
              <a:rPr kumimoji="1" lang="en-US" altLang="zh-CN" b="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1" lang="zh-CN" altLang="en-US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立刻返回</a:t>
            </a:r>
            <a:endParaRPr kumimoji="1" lang="en-US" altLang="zh-CN" b="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返回值</a:t>
            </a:r>
            <a:r>
              <a:rPr kumimoji="1" lang="zh-CN" altLang="en-CN" dirty="0">
                <a:latin typeface="Consolas" panose="020B0609020204030204" pitchFamily="49" charset="0"/>
                <a:cs typeface="Consolas" panose="020B0609020204030204" pitchFamily="49" charset="0"/>
              </a:rPr>
              <a:t>是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导致函数返回的终止子进程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该终止子进程被内核回收</a:t>
            </a:r>
            <a:endParaRPr kumimoji="1" lang="en-US" altLang="zh-CN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D0B38BF-044F-6340-87EA-202BE6C0F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1286"/>
            <a:ext cx="8005572" cy="40011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, int *status, int 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options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zh-CN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3404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F2E85BD-736D-3F47-9652-A1E8A92D0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09428"/>
            <a:ext cx="8229600" cy="3111733"/>
          </a:xfrm>
        </p:spPr>
        <p:txBody>
          <a:bodyPr>
            <a:noAutofit/>
          </a:bodyPr>
          <a:lstStyle/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options=WNOHANG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如果等待集合中没有终止子进程，立刻返回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options=WUNTRACED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除了返回终止子进程的信息外，还返回</a:t>
            </a:r>
            <a:r>
              <a:rPr kumimoji="1"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因信号而停止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的子进程信息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options=WNOHANG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｜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WUNTRACED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FA20288-8382-5C4D-AD49-5D763F10F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1286"/>
            <a:ext cx="8005572" cy="40011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, int *status, int 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options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zh-CN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4852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F2E85BD-736D-3F47-9652-A1E8A92D0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313374"/>
            <a:ext cx="8229600" cy="2683763"/>
          </a:xfrm>
        </p:spPr>
        <p:txBody>
          <a:bodyPr>
            <a:noAutofit/>
          </a:bodyPr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带回被回收子线程的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exit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状态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status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指针不为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</a:p>
          <a:p>
            <a:pPr lvl="1"/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status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包含导致子进程进入终止状态的信息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wait.h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文件包含了若干宏定义，用于解释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status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663D936-4B75-AC40-9262-1712F5FA8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1286"/>
            <a:ext cx="8005572" cy="40011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, int *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status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, int options);</a:t>
            </a:r>
            <a:endParaRPr lang="zh-CN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2307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E0B309FF-C799-C542-A351-EE7A00DF4390}"/>
              </a:ext>
            </a:extLst>
          </p:cNvPr>
          <p:cNvSpPr txBox="1">
            <a:spLocks noChangeArrowheads="1"/>
          </p:cNvSpPr>
          <p:nvPr/>
        </p:nvSpPr>
        <p:spPr>
          <a:xfrm>
            <a:off x="480060" y="1190050"/>
            <a:ext cx="8077200" cy="429608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 #include "</a:t>
            </a:r>
            <a:r>
              <a:rPr lang="en-US" altLang="zh-CN" sz="180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csapp.h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"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2 #define N 2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3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4 int main()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5 {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6   int status, </a:t>
            </a:r>
            <a:r>
              <a:rPr lang="en-US" altLang="zh-CN" sz="180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7   </a:t>
            </a:r>
            <a:r>
              <a:rPr lang="en-US" altLang="zh-CN" sz="180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pid_t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pid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8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9   </a:t>
            </a:r>
            <a:r>
              <a:rPr lang="en-US" altLang="zh-CN" sz="1800" dirty="0">
                <a:solidFill>
                  <a:srgbClr val="007AC3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/* Parent creates N children */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10  for (</a:t>
            </a:r>
            <a:r>
              <a:rPr lang="en-US" altLang="zh-CN" sz="180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= 0; </a:t>
            </a:r>
            <a:r>
              <a:rPr lang="en-US" altLang="zh-CN" sz="180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&lt; N; </a:t>
            </a:r>
            <a:r>
              <a:rPr lang="en-US" altLang="zh-CN" sz="180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++)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11    if ((</a:t>
            </a:r>
            <a:r>
              <a:rPr lang="en-US" altLang="zh-CN" sz="180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pid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= </a:t>
            </a:r>
            <a:r>
              <a:rPr lang="en-US" altLang="zh-CN" sz="1800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Fork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()) == 0) </a:t>
            </a:r>
            <a:r>
              <a:rPr lang="en-US" altLang="zh-CN" sz="1800" dirty="0">
                <a:solidFill>
                  <a:srgbClr val="007AC3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/* child */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12	      exit(100+i);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13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C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60798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E0B309FF-C799-C542-A351-EE7A00DF4390}"/>
              </a:ext>
            </a:extLst>
          </p:cNvPr>
          <p:cNvSpPr txBox="1">
            <a:spLocks noChangeArrowheads="1"/>
          </p:cNvSpPr>
          <p:nvPr/>
        </p:nvSpPr>
        <p:spPr>
          <a:xfrm>
            <a:off x="480060" y="1190050"/>
            <a:ext cx="8077200" cy="42960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14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007AC3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/* Parent reaps N </a:t>
            </a:r>
            <a:r>
              <a:rPr lang="en-US" altLang="zh-CN" sz="1800" dirty="0" err="1">
                <a:solidFill>
                  <a:srgbClr val="007AC3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chds</a:t>
            </a:r>
            <a:r>
              <a:rPr lang="en-US" altLang="zh-CN" sz="1800" dirty="0">
                <a:solidFill>
                  <a:srgbClr val="007AC3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. in no particular order */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15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while ((</a:t>
            </a:r>
            <a:r>
              <a:rPr lang="en-US" altLang="zh-CN" sz="18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pid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= </a:t>
            </a:r>
            <a:r>
              <a:rPr lang="en-US" altLang="zh-CN" sz="1800" dirty="0" err="1">
                <a:solidFill>
                  <a:srgbClr val="C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waitpid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(-1, &amp;status, 0)) &gt; 0) {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16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if (WIFEXITED(status))</a:t>
            </a:r>
          </a:p>
          <a:p>
            <a:pPr marL="0" indent="0"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17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</a:t>
            </a:r>
            <a:r>
              <a:rPr lang="en-US" altLang="zh-CN" sz="18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("child %d terminated normally with exit</a:t>
            </a:r>
          </a:p>
          <a:p>
            <a:pPr marL="0" indent="0"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18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        status=%d\n", </a:t>
            </a:r>
            <a:r>
              <a:rPr lang="en-US" altLang="zh-CN" sz="18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pid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WEXITSTATUS(status));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19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else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20 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</a:t>
            </a:r>
            <a:r>
              <a:rPr lang="en-US" altLang="zh-CN" sz="18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("child %d terminated abnormally\n", </a:t>
            </a:r>
            <a:r>
              <a:rPr lang="en-US" altLang="zh-CN" sz="18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pid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);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21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}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22 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007AC3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/* The only normal term. is if there no more </a:t>
            </a:r>
            <a:r>
              <a:rPr lang="en-US" altLang="zh-CN" sz="1800" dirty="0" err="1">
                <a:solidFill>
                  <a:srgbClr val="007AC3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chds</a:t>
            </a:r>
            <a:r>
              <a:rPr lang="en-US" altLang="zh-CN" sz="1800" dirty="0">
                <a:solidFill>
                  <a:srgbClr val="007AC3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. */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23 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if (</a:t>
            </a:r>
            <a:r>
              <a:rPr lang="en-US" altLang="zh-CN" sz="18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errno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!= ECHILD)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24 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lang="en-US" altLang="zh-CN" sz="18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unix_error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("</a:t>
            </a:r>
            <a:r>
              <a:rPr lang="en-US" altLang="zh-CN" sz="18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waitpid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error");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25 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exit(0);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26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C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34021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E0B309FF-C799-C542-A351-EE7A00DF4390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190050"/>
            <a:ext cx="8100060" cy="12354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Tx/>
              <a:buNone/>
            </a:pPr>
            <a:r>
              <a:rPr lang="en-US" altLang="zh-CN" sz="2000" b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unix</a:t>
            </a:r>
            <a:r>
              <a:rPr lang="en-US" altLang="zh-CN" sz="20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&gt;./waitpid1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2000" b="0" dirty="0">
                <a:solidFill>
                  <a:srgbClr val="007AC3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child 22966 terminated normally with exit status=100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2000" b="0" dirty="0">
                <a:solidFill>
                  <a:srgbClr val="007AC3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child 22967 terminated normally with exit status=101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C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52A9A696-164E-2241-964E-3CA4FD7F3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41476"/>
            <a:ext cx="8229600" cy="2463660"/>
          </a:xfrm>
        </p:spPr>
        <p:txBody>
          <a:bodyPr>
            <a:noAutofit/>
          </a:bodyPr>
          <a:lstStyle/>
          <a:p>
            <a:r>
              <a:rPr kumimoji="1"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子进程回收顺序不确定，都有可能</a:t>
            </a:r>
            <a:endParaRPr kumimoji="1" lang="en-US" altLang="zh-CN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457200" lvl="1" indent="0">
              <a:buNone/>
            </a:pPr>
            <a:endParaRPr kumimoji="1" lang="zh-CN" alt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12077039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19D352-FA54-4DC6-8CA2-6C6329651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小结：应用程序使用</a:t>
            </a:r>
            <a:r>
              <a:rPr kumimoji="1" lang="en-US" altLang="zh-CN" dirty="0"/>
              <a:t>CPU</a:t>
            </a:r>
            <a:r>
              <a:rPr kumimoji="1" lang="zh-CN" altLang="en-US" dirty="0"/>
              <a:t>资源（直通</a:t>
            </a:r>
            <a:r>
              <a:rPr kumimoji="1" lang="en-US" altLang="zh-CN" dirty="0"/>
              <a:t>+</a:t>
            </a:r>
            <a:r>
              <a:rPr kumimoji="1" lang="zh-CN" altLang="en-US" dirty="0"/>
              <a:t>抽象）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5D2C1D-F88A-3850-92EC-26AB271B3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8216D65-9B69-5D7F-CCAF-84D18D705F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176" y="1101813"/>
            <a:ext cx="7451648" cy="4563999"/>
          </a:xfrm>
          <a:prstGeom prst="rect">
            <a:avLst/>
          </a:prstGeom>
        </p:spPr>
      </p:pic>
      <p:sp>
        <p:nvSpPr>
          <p:cNvPr id="3" name="圆角矩形 2">
            <a:extLst>
              <a:ext uri="{FF2B5EF4-FFF2-40B4-BE49-F238E27FC236}">
                <a16:creationId xmlns:a16="http://schemas.microsoft.com/office/drawing/2014/main" id="{E2C481C7-A597-7B45-AF41-46EB5B20C192}"/>
              </a:ext>
            </a:extLst>
          </p:cNvPr>
          <p:cNvSpPr/>
          <p:nvPr/>
        </p:nvSpPr>
        <p:spPr>
          <a:xfrm>
            <a:off x="1763688" y="985292"/>
            <a:ext cx="2160240" cy="4615941"/>
          </a:xfrm>
          <a:prstGeom prst="roundRect">
            <a:avLst>
              <a:gd name="adj" fmla="val 6277"/>
            </a:avLst>
          </a:prstGeom>
          <a:solidFill>
            <a:srgbClr val="FF2600">
              <a:alpha val="12157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28719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B9028-CCC2-3AE7-C2B9-987416E9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96DF6D-5573-10DF-36A5-22A7F59158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F2445D-FED5-C6D1-2BCB-0E11F75E8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0609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>
            <a:extLst>
              <a:ext uri="{FF2B5EF4-FFF2-40B4-BE49-F238E27FC236}">
                <a16:creationId xmlns:a16="http://schemas.microsoft.com/office/drawing/2014/main" id="{8B58FEC1-BE06-4071-ABB3-3602F5AF8FEE}"/>
              </a:ext>
            </a:extLst>
          </p:cNvPr>
          <p:cNvSpPr/>
          <p:nvPr/>
        </p:nvSpPr>
        <p:spPr>
          <a:xfrm>
            <a:off x="683568" y="1152005"/>
            <a:ext cx="4455324" cy="4020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50BCA3D-14BF-48C4-A147-19B09FBDC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7095"/>
            <a:ext cx="8229600" cy="900442"/>
          </a:xfrm>
        </p:spPr>
        <p:txBody>
          <a:bodyPr/>
          <a:lstStyle/>
          <a:p>
            <a:r>
              <a:rPr lang="zh-CN" altLang="en-US" dirty="0"/>
              <a:t>回顾：内存布局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F34C01-829C-4BC7-B83B-5135AD2F8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501652B8-8E8B-478D-AF0F-4894DA510AB0}"/>
              </a:ext>
            </a:extLst>
          </p:cNvPr>
          <p:cNvGraphicFramePr>
            <a:graphicFrameLocks noGrp="1"/>
          </p:cNvGraphicFramePr>
          <p:nvPr/>
        </p:nvGraphicFramePr>
        <p:xfrm>
          <a:off x="919513" y="1857095"/>
          <a:ext cx="3996000" cy="129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500">
                  <a:extLst>
                    <a:ext uri="{9D8B030D-6E8A-4147-A177-3AD203B41FA5}">
                      <a16:colId xmlns:a16="http://schemas.microsoft.com/office/drawing/2014/main" val="475078192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7166794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97466072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488370436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25462397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661446693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7189186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522541302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1139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432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0918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X30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891168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84DA769-5781-496B-B35B-5E850925F5B1}"/>
              </a:ext>
            </a:extLst>
          </p:cNvPr>
          <p:cNvSpPr/>
          <p:nvPr/>
        </p:nvSpPr>
        <p:spPr>
          <a:xfrm>
            <a:off x="2315084" y="3487688"/>
            <a:ext cx="2596487" cy="4127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4F08606-585A-4C85-929D-8C9438FB00DA}"/>
              </a:ext>
            </a:extLst>
          </p:cNvPr>
          <p:cNvCxnSpPr/>
          <p:nvPr/>
        </p:nvCxnSpPr>
        <p:spPr>
          <a:xfrm>
            <a:off x="2584218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415F202-DAB6-4D10-8472-2A074E7E09D2}"/>
              </a:ext>
            </a:extLst>
          </p:cNvPr>
          <p:cNvCxnSpPr/>
          <p:nvPr/>
        </p:nvCxnSpPr>
        <p:spPr>
          <a:xfrm>
            <a:off x="2851675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4944A36-DA60-4767-990F-7622E76C8F7D}"/>
              </a:ext>
            </a:extLst>
          </p:cNvPr>
          <p:cNvCxnSpPr/>
          <p:nvPr/>
        </p:nvCxnSpPr>
        <p:spPr>
          <a:xfrm>
            <a:off x="3119132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8293D2E-4C48-4FD2-8490-767D9F2E1AE3}"/>
              </a:ext>
            </a:extLst>
          </p:cNvPr>
          <p:cNvCxnSpPr/>
          <p:nvPr/>
        </p:nvCxnSpPr>
        <p:spPr>
          <a:xfrm>
            <a:off x="3386589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7CB6332-1CF9-4A5E-B29B-2A2F20243F24}"/>
              </a:ext>
            </a:extLst>
          </p:cNvPr>
          <p:cNvSpPr txBox="1"/>
          <p:nvPr/>
        </p:nvSpPr>
        <p:spPr>
          <a:xfrm>
            <a:off x="2367744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N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124206-D16E-435D-A9DC-D7432845BA86}"/>
              </a:ext>
            </a:extLst>
          </p:cNvPr>
          <p:cNvSpPr txBox="1"/>
          <p:nvPr/>
        </p:nvSpPr>
        <p:spPr>
          <a:xfrm>
            <a:off x="2635201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Z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995C91C-1A26-4C26-8398-2028E9754AFA}"/>
              </a:ext>
            </a:extLst>
          </p:cNvPr>
          <p:cNvSpPr txBox="1"/>
          <p:nvPr/>
        </p:nvSpPr>
        <p:spPr>
          <a:xfrm>
            <a:off x="2902658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C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AFF9153-CA1A-4680-B963-98997BB46860}"/>
              </a:ext>
            </a:extLst>
          </p:cNvPr>
          <p:cNvSpPr txBox="1"/>
          <p:nvPr/>
        </p:nvSpPr>
        <p:spPr>
          <a:xfrm>
            <a:off x="3170115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D7F91C-25DA-49E2-ADAC-D3AC794D562E}"/>
              </a:ext>
            </a:extLst>
          </p:cNvPr>
          <p:cNvSpPr txBox="1"/>
          <p:nvPr/>
        </p:nvSpPr>
        <p:spPr>
          <a:xfrm>
            <a:off x="4849463" y="3248248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0A99CDD-E342-4F2E-8F94-3610CCD80DBB}"/>
              </a:ext>
            </a:extLst>
          </p:cNvPr>
          <p:cNvSpPr txBox="1"/>
          <p:nvPr/>
        </p:nvSpPr>
        <p:spPr>
          <a:xfrm>
            <a:off x="2200028" y="3245766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31</a:t>
            </a:r>
            <a:endParaRPr lang="zh-CN" altLang="en-US" sz="12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D03BFF8-C313-469C-B89E-4F6CB6415B4C}"/>
              </a:ext>
            </a:extLst>
          </p:cNvPr>
          <p:cNvSpPr txBox="1"/>
          <p:nvPr/>
        </p:nvSpPr>
        <p:spPr>
          <a:xfrm>
            <a:off x="2467486" y="3240717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30</a:t>
            </a:r>
            <a:endParaRPr lang="zh-CN" altLang="en-US" sz="12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CED520B-BC50-4DF7-9657-FBC02F1056E1}"/>
              </a:ext>
            </a:extLst>
          </p:cNvPr>
          <p:cNvSpPr txBox="1"/>
          <p:nvPr/>
        </p:nvSpPr>
        <p:spPr>
          <a:xfrm>
            <a:off x="2733929" y="3241031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29</a:t>
            </a:r>
            <a:endParaRPr lang="zh-CN" altLang="en-US" sz="12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F601F74-EA06-4EAD-992A-ECA27D3F3370}"/>
              </a:ext>
            </a:extLst>
          </p:cNvPr>
          <p:cNvSpPr txBox="1"/>
          <p:nvPr/>
        </p:nvSpPr>
        <p:spPr>
          <a:xfrm>
            <a:off x="3013499" y="3242038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28</a:t>
            </a:r>
            <a:endParaRPr lang="zh-CN" altLang="en-US" sz="1200" dirty="0"/>
          </a:p>
        </p:txBody>
      </p:sp>
      <p:sp>
        <p:nvSpPr>
          <p:cNvPr id="20" name="右大括号 19">
            <a:extLst>
              <a:ext uri="{FF2B5EF4-FFF2-40B4-BE49-F238E27FC236}">
                <a16:creationId xmlns:a16="http://schemas.microsoft.com/office/drawing/2014/main" id="{A396D3EB-93CD-4BDB-BD80-580D80FDADE6}"/>
              </a:ext>
            </a:extLst>
          </p:cNvPr>
          <p:cNvSpPr/>
          <p:nvPr/>
        </p:nvSpPr>
        <p:spPr>
          <a:xfrm rot="5400000">
            <a:off x="2780519" y="3445749"/>
            <a:ext cx="151391" cy="1060739"/>
          </a:xfrm>
          <a:prstGeom prst="rightBrace">
            <a:avLst>
              <a:gd name="adj1" fmla="val 56332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B291F3-7BC3-4A4E-A99C-D2695F35C61E}"/>
              </a:ext>
            </a:extLst>
          </p:cNvPr>
          <p:cNvSpPr txBox="1"/>
          <p:nvPr/>
        </p:nvSpPr>
        <p:spPr>
          <a:xfrm>
            <a:off x="867368" y="1449440"/>
            <a:ext cx="1606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通用寄存器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450B264-ACE5-450F-AEA8-ED782D81C9DF}"/>
              </a:ext>
            </a:extLst>
          </p:cNvPr>
          <p:cNvSpPr txBox="1"/>
          <p:nvPr/>
        </p:nvSpPr>
        <p:spPr>
          <a:xfrm>
            <a:off x="2549394" y="4094153"/>
            <a:ext cx="7522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条件码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8B61C8D-73CA-4FEA-B850-26853B5ED55E}"/>
              </a:ext>
            </a:extLst>
          </p:cNvPr>
          <p:cNvSpPr txBox="1"/>
          <p:nvPr/>
        </p:nvSpPr>
        <p:spPr>
          <a:xfrm>
            <a:off x="2229260" y="4562995"/>
            <a:ext cx="2462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程序状态寄存器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PSTATE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0942D44-C493-47D8-AB85-9F7593082D8B}"/>
              </a:ext>
            </a:extLst>
          </p:cNvPr>
          <p:cNvSpPr/>
          <p:nvPr/>
        </p:nvSpPr>
        <p:spPr>
          <a:xfrm>
            <a:off x="919513" y="3490246"/>
            <a:ext cx="855661" cy="3828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PC</a:t>
            </a:r>
            <a:endParaRPr lang="zh-CN" altLang="en-US" dirty="0"/>
          </a:p>
        </p:txBody>
      </p:sp>
      <p:sp>
        <p:nvSpPr>
          <p:cNvPr id="34" name="右大括号 33">
            <a:extLst>
              <a:ext uri="{FF2B5EF4-FFF2-40B4-BE49-F238E27FC236}">
                <a16:creationId xmlns:a16="http://schemas.microsoft.com/office/drawing/2014/main" id="{FD59ECD3-7463-4012-86C4-5E4759583C60}"/>
              </a:ext>
            </a:extLst>
          </p:cNvPr>
          <p:cNvSpPr/>
          <p:nvPr/>
        </p:nvSpPr>
        <p:spPr>
          <a:xfrm rot="5400000">
            <a:off x="4063125" y="3220152"/>
            <a:ext cx="155119" cy="1508206"/>
          </a:xfrm>
          <a:prstGeom prst="rightBrace">
            <a:avLst>
              <a:gd name="adj1" fmla="val 72333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419C589-3286-4B74-8E39-A9DE688F53FC}"/>
              </a:ext>
            </a:extLst>
          </p:cNvPr>
          <p:cNvSpPr txBox="1"/>
          <p:nvPr/>
        </p:nvSpPr>
        <p:spPr>
          <a:xfrm>
            <a:off x="3643247" y="4076683"/>
            <a:ext cx="1161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掩码、特权级、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执行状态等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7483C60-678A-46FD-AABA-C32029151EFE}"/>
              </a:ext>
            </a:extLst>
          </p:cNvPr>
          <p:cNvSpPr txBox="1"/>
          <p:nvPr/>
        </p:nvSpPr>
        <p:spPr>
          <a:xfrm>
            <a:off x="3995936" y="3465352"/>
            <a:ext cx="928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…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76C823E-67A5-4FD4-9710-9155BF1C04F3}"/>
              </a:ext>
            </a:extLst>
          </p:cNvPr>
          <p:cNvSpPr txBox="1"/>
          <p:nvPr/>
        </p:nvSpPr>
        <p:spPr>
          <a:xfrm>
            <a:off x="3274852" y="3243072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27</a:t>
            </a:r>
            <a:endParaRPr lang="zh-CN" altLang="en-US" sz="12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131F8CC-449F-4D07-9222-CCA96D8F5EA7}"/>
              </a:ext>
            </a:extLst>
          </p:cNvPr>
          <p:cNvSpPr txBox="1"/>
          <p:nvPr/>
        </p:nvSpPr>
        <p:spPr>
          <a:xfrm>
            <a:off x="1670553" y="3238709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3952B05-5994-44F1-943F-D9784C9676EA}"/>
              </a:ext>
            </a:extLst>
          </p:cNvPr>
          <p:cNvSpPr txBox="1"/>
          <p:nvPr/>
        </p:nvSpPr>
        <p:spPr>
          <a:xfrm>
            <a:off x="842610" y="3239089"/>
            <a:ext cx="568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63</a:t>
            </a:r>
            <a:endParaRPr lang="zh-CN" altLang="en-US" sz="12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D1C3860-0F59-4376-9C06-2C8008610877}"/>
              </a:ext>
            </a:extLst>
          </p:cNvPr>
          <p:cNvSpPr txBox="1"/>
          <p:nvPr/>
        </p:nvSpPr>
        <p:spPr>
          <a:xfrm>
            <a:off x="755576" y="3855898"/>
            <a:ext cx="1246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程序计数器 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58F579B-92FA-46FC-89E3-F4F3BEB9243D}"/>
              </a:ext>
            </a:extLst>
          </p:cNvPr>
          <p:cNvSpPr/>
          <p:nvPr/>
        </p:nvSpPr>
        <p:spPr>
          <a:xfrm>
            <a:off x="6320108" y="1107537"/>
            <a:ext cx="1708276" cy="40646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1791F5C-5103-426D-8864-EED04D98A2A5}"/>
              </a:ext>
            </a:extLst>
          </p:cNvPr>
          <p:cNvSpPr txBox="1"/>
          <p:nvPr/>
        </p:nvSpPr>
        <p:spPr>
          <a:xfrm>
            <a:off x="6752001" y="684381"/>
            <a:ext cx="772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41094A8C-D944-41C5-BBA5-E5C12FB6E160}"/>
              </a:ext>
            </a:extLst>
          </p:cNvPr>
          <p:cNvSpPr txBox="1"/>
          <p:nvPr/>
        </p:nvSpPr>
        <p:spPr>
          <a:xfrm>
            <a:off x="4131335" y="1202690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51E46298-7A8B-44FA-BE6F-29121469B57E}"/>
              </a:ext>
            </a:extLst>
          </p:cNvPr>
          <p:cNvCxnSpPr/>
          <p:nvPr/>
        </p:nvCxnSpPr>
        <p:spPr>
          <a:xfrm>
            <a:off x="5138892" y="1596306"/>
            <a:ext cx="11812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5FC98776-61FC-470B-A463-61EA76E41C70}"/>
              </a:ext>
            </a:extLst>
          </p:cNvPr>
          <p:cNvSpPr txBox="1"/>
          <p:nvPr/>
        </p:nvSpPr>
        <p:spPr>
          <a:xfrm>
            <a:off x="5333063" y="1196196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12C2CA9E-F59B-4D97-BFB7-573BE7ED9FCA}"/>
              </a:ext>
            </a:extLst>
          </p:cNvPr>
          <p:cNvCxnSpPr/>
          <p:nvPr/>
        </p:nvCxnSpPr>
        <p:spPr>
          <a:xfrm>
            <a:off x="5138892" y="3022879"/>
            <a:ext cx="11812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8299AB1F-7625-4658-BAE8-FC9A7A6932B6}"/>
              </a:ext>
            </a:extLst>
          </p:cNvPr>
          <p:cNvSpPr txBox="1"/>
          <p:nvPr/>
        </p:nvSpPr>
        <p:spPr>
          <a:xfrm>
            <a:off x="5374837" y="2624289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6961E420-FA17-43FC-8851-05460DD83CF3}"/>
              </a:ext>
            </a:extLst>
          </p:cNvPr>
          <p:cNvCxnSpPr>
            <a:cxnSpLocks/>
          </p:cNvCxnSpPr>
          <p:nvPr/>
        </p:nvCxnSpPr>
        <p:spPr>
          <a:xfrm flipH="1">
            <a:off x="5124679" y="4677376"/>
            <a:ext cx="1195428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F21C0FCF-F4BE-4008-A4BE-889434A7BC42}"/>
              </a:ext>
            </a:extLst>
          </p:cNvPr>
          <p:cNvSpPr txBox="1"/>
          <p:nvPr/>
        </p:nvSpPr>
        <p:spPr>
          <a:xfrm>
            <a:off x="5410151" y="4286376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139A8C2-E49D-87CF-78F3-9FAB20A78173}"/>
              </a:ext>
            </a:extLst>
          </p:cNvPr>
          <p:cNvSpPr/>
          <p:nvPr/>
        </p:nvSpPr>
        <p:spPr>
          <a:xfrm>
            <a:off x="1993145" y="3487957"/>
            <a:ext cx="333472" cy="4127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080D042-F41D-AFA7-9ED6-02855DA63476}"/>
              </a:ext>
            </a:extLst>
          </p:cNvPr>
          <p:cNvSpPr txBox="1"/>
          <p:nvPr/>
        </p:nvSpPr>
        <p:spPr>
          <a:xfrm>
            <a:off x="1991572" y="3477126"/>
            <a:ext cx="419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…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7E4E71-5016-D1B1-C272-BA4496BDFEBB}"/>
              </a:ext>
            </a:extLst>
          </p:cNvPr>
          <p:cNvSpPr/>
          <p:nvPr/>
        </p:nvSpPr>
        <p:spPr>
          <a:xfrm>
            <a:off x="6455297" y="1386418"/>
            <a:ext cx="1440160" cy="35769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函数</a:t>
            </a:r>
            <a:r>
              <a:rPr kumimoji="1" lang="en-US" altLang="zh-CN" sz="1400" dirty="0"/>
              <a:t>A</a:t>
            </a:r>
            <a:r>
              <a:rPr kumimoji="1" lang="zh-CN" altLang="en-US" sz="1400" dirty="0"/>
              <a:t>栈桢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A0287CC-67B6-F4D4-178F-27BFC43169DF}"/>
              </a:ext>
            </a:extLst>
          </p:cNvPr>
          <p:cNvSpPr/>
          <p:nvPr/>
        </p:nvSpPr>
        <p:spPr>
          <a:xfrm>
            <a:off x="6455297" y="1744110"/>
            <a:ext cx="1440160" cy="5683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函数</a:t>
            </a:r>
            <a:r>
              <a:rPr kumimoji="1" lang="en-US" altLang="zh-CN" sz="1400" dirty="0"/>
              <a:t>B</a:t>
            </a:r>
            <a:r>
              <a:rPr kumimoji="1" lang="zh-CN" altLang="en-US" sz="1400" dirty="0"/>
              <a:t>栈桢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16AF94-4028-6002-20E2-8E17D7CABCC6}"/>
              </a:ext>
            </a:extLst>
          </p:cNvPr>
          <p:cNvSpPr/>
          <p:nvPr/>
        </p:nvSpPr>
        <p:spPr>
          <a:xfrm>
            <a:off x="6455297" y="2314873"/>
            <a:ext cx="1440160" cy="42891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函数</a:t>
            </a:r>
            <a:r>
              <a:rPr kumimoji="1" lang="en-US" altLang="zh-CN" sz="1400" dirty="0"/>
              <a:t>C</a:t>
            </a:r>
            <a:r>
              <a:rPr kumimoji="1" lang="zh-CN" altLang="en-US" sz="1400" dirty="0"/>
              <a:t>栈桢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6B0FF8B-BA14-9E16-31FD-BD5E1CB118D9}"/>
              </a:ext>
            </a:extLst>
          </p:cNvPr>
          <p:cNvSpPr/>
          <p:nvPr/>
        </p:nvSpPr>
        <p:spPr>
          <a:xfrm>
            <a:off x="904520" y="4384468"/>
            <a:ext cx="855661" cy="3828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SP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9C3433A-AAE8-6D53-7FF2-218A6C23B1DE}"/>
              </a:ext>
            </a:extLst>
          </p:cNvPr>
          <p:cNvSpPr txBox="1"/>
          <p:nvPr/>
        </p:nvSpPr>
        <p:spPr>
          <a:xfrm>
            <a:off x="1655560" y="4132931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4C5E0EC-D0D3-70C2-3E18-AFC673F8F84D}"/>
              </a:ext>
            </a:extLst>
          </p:cNvPr>
          <p:cNvSpPr txBox="1"/>
          <p:nvPr/>
        </p:nvSpPr>
        <p:spPr>
          <a:xfrm>
            <a:off x="827617" y="4133311"/>
            <a:ext cx="568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63</a:t>
            </a:r>
            <a:endParaRPr lang="zh-CN" altLang="en-US" sz="12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1E4DA2D-9582-B7E2-6101-0EAD374DB0A5}"/>
              </a:ext>
            </a:extLst>
          </p:cNvPr>
          <p:cNvSpPr txBox="1"/>
          <p:nvPr/>
        </p:nvSpPr>
        <p:spPr>
          <a:xfrm>
            <a:off x="740583" y="4750120"/>
            <a:ext cx="1246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栈顶地址</a:t>
            </a: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C0BDC270-3A00-1FF4-8522-11EF176D19F6}"/>
              </a:ext>
            </a:extLst>
          </p:cNvPr>
          <p:cNvCxnSpPr/>
          <p:nvPr/>
        </p:nvCxnSpPr>
        <p:spPr>
          <a:xfrm flipH="1">
            <a:off x="7895457" y="2752098"/>
            <a:ext cx="576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9CB79393-796B-856E-4C6E-DAABA75B2544}"/>
              </a:ext>
            </a:extLst>
          </p:cNvPr>
          <p:cNvSpPr txBox="1"/>
          <p:nvPr/>
        </p:nvSpPr>
        <p:spPr>
          <a:xfrm>
            <a:off x="8398230" y="2549723"/>
            <a:ext cx="425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SP</a:t>
            </a:r>
            <a:endParaRPr kumimoji="1" lang="zh-CN" altLang="en-US" sz="1400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9FA5D2-E277-E27D-B26C-12BF8AEF60C1}"/>
              </a:ext>
            </a:extLst>
          </p:cNvPr>
          <p:cNvSpPr/>
          <p:nvPr/>
        </p:nvSpPr>
        <p:spPr>
          <a:xfrm>
            <a:off x="6445914" y="3825168"/>
            <a:ext cx="1440160" cy="5034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程序数据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1762ABC-4A93-1025-0B97-D99E1D651174}"/>
              </a:ext>
            </a:extLst>
          </p:cNvPr>
          <p:cNvSpPr/>
          <p:nvPr/>
        </p:nvSpPr>
        <p:spPr>
          <a:xfrm>
            <a:off x="6445914" y="4331689"/>
            <a:ext cx="1440160" cy="5034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程序代码</a:t>
            </a:r>
          </a:p>
        </p:txBody>
      </p: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C6CD4810-0059-DCF1-605B-E3FCE84D24CF}"/>
              </a:ext>
            </a:extLst>
          </p:cNvPr>
          <p:cNvCxnSpPr/>
          <p:nvPr/>
        </p:nvCxnSpPr>
        <p:spPr>
          <a:xfrm flipH="1">
            <a:off x="7895457" y="4661905"/>
            <a:ext cx="576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DDAA71CA-DA95-C891-0F43-B331913F4CEA}"/>
              </a:ext>
            </a:extLst>
          </p:cNvPr>
          <p:cNvSpPr txBox="1"/>
          <p:nvPr/>
        </p:nvSpPr>
        <p:spPr>
          <a:xfrm>
            <a:off x="8398230" y="4459530"/>
            <a:ext cx="434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PC</a:t>
            </a:r>
            <a:endParaRPr kumimoji="1" lang="zh-CN" altLang="en-US" sz="1400" dirty="0"/>
          </a:p>
        </p:txBody>
      </p:sp>
      <p:sp>
        <p:nvSpPr>
          <p:cNvPr id="48" name="右大括号 47">
            <a:extLst>
              <a:ext uri="{FF2B5EF4-FFF2-40B4-BE49-F238E27FC236}">
                <a16:creationId xmlns:a16="http://schemas.microsoft.com/office/drawing/2014/main" id="{67955E0E-9978-3250-F4C8-54DAF8FB361F}"/>
              </a:ext>
            </a:extLst>
          </p:cNvPr>
          <p:cNvSpPr/>
          <p:nvPr/>
        </p:nvSpPr>
        <p:spPr>
          <a:xfrm>
            <a:off x="8111640" y="1384083"/>
            <a:ext cx="153663" cy="1368016"/>
          </a:xfrm>
          <a:prstGeom prst="rightBrace">
            <a:avLst>
              <a:gd name="adj1" fmla="val 8333"/>
              <a:gd name="adj2" fmla="val 4848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410EE0A-DC97-5785-C704-864B004D1E54}"/>
              </a:ext>
            </a:extLst>
          </p:cNvPr>
          <p:cNvSpPr txBox="1"/>
          <p:nvPr/>
        </p:nvSpPr>
        <p:spPr>
          <a:xfrm>
            <a:off x="8248050" y="1705658"/>
            <a:ext cx="90281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程序运行</a:t>
            </a:r>
            <a:endParaRPr kumimoji="1" lang="en-US" altLang="zh-CN" sz="1400" dirty="0"/>
          </a:p>
          <a:p>
            <a:pPr algn="ctr"/>
            <a:r>
              <a:rPr kumimoji="1" lang="zh-CN" altLang="en-US" sz="1400" dirty="0"/>
              <a:t>时使用的</a:t>
            </a:r>
            <a:endParaRPr kumimoji="1" lang="en-US" altLang="zh-CN" sz="1400" dirty="0"/>
          </a:p>
          <a:p>
            <a:pPr algn="ctr"/>
            <a:r>
              <a:rPr kumimoji="1" lang="zh-CN" altLang="en-US" sz="1400" dirty="0"/>
              <a:t>栈</a:t>
            </a:r>
          </a:p>
        </p:txBody>
      </p:sp>
    </p:spTree>
    <p:extLst>
      <p:ext uri="{BB962C8B-B14F-4D97-AF65-F5344CB8AC3E}">
        <p14:creationId xmlns:p14="http://schemas.microsoft.com/office/powerpoint/2010/main" val="2232203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>
            <a:extLst>
              <a:ext uri="{FF2B5EF4-FFF2-40B4-BE49-F238E27FC236}">
                <a16:creationId xmlns:a16="http://schemas.microsoft.com/office/drawing/2014/main" id="{8B58FEC1-BE06-4071-ABB3-3602F5AF8FEE}"/>
              </a:ext>
            </a:extLst>
          </p:cNvPr>
          <p:cNvSpPr/>
          <p:nvPr/>
        </p:nvSpPr>
        <p:spPr>
          <a:xfrm>
            <a:off x="683568" y="1152005"/>
            <a:ext cx="4455324" cy="4020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50BCA3D-14BF-48C4-A147-19B09FBDC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7095"/>
            <a:ext cx="8229600" cy="900442"/>
          </a:xfrm>
        </p:spPr>
        <p:txBody>
          <a:bodyPr/>
          <a:lstStyle/>
          <a:p>
            <a:r>
              <a:rPr lang="zh-CN" altLang="en-US" dirty="0"/>
              <a:t>进程内存布局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F34C01-829C-4BC7-B83B-5135AD2F8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501652B8-8E8B-478D-AF0F-4894DA510AB0}"/>
              </a:ext>
            </a:extLst>
          </p:cNvPr>
          <p:cNvGraphicFramePr>
            <a:graphicFrameLocks noGrp="1"/>
          </p:cNvGraphicFramePr>
          <p:nvPr/>
        </p:nvGraphicFramePr>
        <p:xfrm>
          <a:off x="919513" y="1857095"/>
          <a:ext cx="3996000" cy="129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500">
                  <a:extLst>
                    <a:ext uri="{9D8B030D-6E8A-4147-A177-3AD203B41FA5}">
                      <a16:colId xmlns:a16="http://schemas.microsoft.com/office/drawing/2014/main" val="475078192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7166794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97466072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488370436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25462397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661446693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7189186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522541302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1139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432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0918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X30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891168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84DA769-5781-496B-B35B-5E850925F5B1}"/>
              </a:ext>
            </a:extLst>
          </p:cNvPr>
          <p:cNvSpPr/>
          <p:nvPr/>
        </p:nvSpPr>
        <p:spPr>
          <a:xfrm>
            <a:off x="2315084" y="3487688"/>
            <a:ext cx="2596487" cy="4127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4F08606-585A-4C85-929D-8C9438FB00DA}"/>
              </a:ext>
            </a:extLst>
          </p:cNvPr>
          <p:cNvCxnSpPr/>
          <p:nvPr/>
        </p:nvCxnSpPr>
        <p:spPr>
          <a:xfrm>
            <a:off x="2584218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415F202-DAB6-4D10-8472-2A074E7E09D2}"/>
              </a:ext>
            </a:extLst>
          </p:cNvPr>
          <p:cNvCxnSpPr/>
          <p:nvPr/>
        </p:nvCxnSpPr>
        <p:spPr>
          <a:xfrm>
            <a:off x="2851675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4944A36-DA60-4767-990F-7622E76C8F7D}"/>
              </a:ext>
            </a:extLst>
          </p:cNvPr>
          <p:cNvCxnSpPr/>
          <p:nvPr/>
        </p:nvCxnSpPr>
        <p:spPr>
          <a:xfrm>
            <a:off x="3119132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8293D2E-4C48-4FD2-8490-767D9F2E1AE3}"/>
              </a:ext>
            </a:extLst>
          </p:cNvPr>
          <p:cNvCxnSpPr/>
          <p:nvPr/>
        </p:nvCxnSpPr>
        <p:spPr>
          <a:xfrm>
            <a:off x="3386589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7CB6332-1CF9-4A5E-B29B-2A2F20243F24}"/>
              </a:ext>
            </a:extLst>
          </p:cNvPr>
          <p:cNvSpPr txBox="1"/>
          <p:nvPr/>
        </p:nvSpPr>
        <p:spPr>
          <a:xfrm>
            <a:off x="2367744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N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124206-D16E-435D-A9DC-D7432845BA86}"/>
              </a:ext>
            </a:extLst>
          </p:cNvPr>
          <p:cNvSpPr txBox="1"/>
          <p:nvPr/>
        </p:nvSpPr>
        <p:spPr>
          <a:xfrm>
            <a:off x="2635201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Z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995C91C-1A26-4C26-8398-2028E9754AFA}"/>
              </a:ext>
            </a:extLst>
          </p:cNvPr>
          <p:cNvSpPr txBox="1"/>
          <p:nvPr/>
        </p:nvSpPr>
        <p:spPr>
          <a:xfrm>
            <a:off x="2902658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C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AFF9153-CA1A-4680-B963-98997BB46860}"/>
              </a:ext>
            </a:extLst>
          </p:cNvPr>
          <p:cNvSpPr txBox="1"/>
          <p:nvPr/>
        </p:nvSpPr>
        <p:spPr>
          <a:xfrm>
            <a:off x="3170115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D7F91C-25DA-49E2-ADAC-D3AC794D562E}"/>
              </a:ext>
            </a:extLst>
          </p:cNvPr>
          <p:cNvSpPr txBox="1"/>
          <p:nvPr/>
        </p:nvSpPr>
        <p:spPr>
          <a:xfrm>
            <a:off x="4849463" y="3248248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0A99CDD-E342-4F2E-8F94-3610CCD80DBB}"/>
              </a:ext>
            </a:extLst>
          </p:cNvPr>
          <p:cNvSpPr txBox="1"/>
          <p:nvPr/>
        </p:nvSpPr>
        <p:spPr>
          <a:xfrm>
            <a:off x="2200028" y="3245766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31</a:t>
            </a:r>
            <a:endParaRPr lang="zh-CN" altLang="en-US" sz="12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D03BFF8-C313-469C-B89E-4F6CB6415B4C}"/>
              </a:ext>
            </a:extLst>
          </p:cNvPr>
          <p:cNvSpPr txBox="1"/>
          <p:nvPr/>
        </p:nvSpPr>
        <p:spPr>
          <a:xfrm>
            <a:off x="2467486" y="3240717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30</a:t>
            </a:r>
            <a:endParaRPr lang="zh-CN" altLang="en-US" sz="12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CED520B-BC50-4DF7-9657-FBC02F1056E1}"/>
              </a:ext>
            </a:extLst>
          </p:cNvPr>
          <p:cNvSpPr txBox="1"/>
          <p:nvPr/>
        </p:nvSpPr>
        <p:spPr>
          <a:xfrm>
            <a:off x="2733929" y="3241031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29</a:t>
            </a:r>
            <a:endParaRPr lang="zh-CN" altLang="en-US" sz="12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F601F74-EA06-4EAD-992A-ECA27D3F3370}"/>
              </a:ext>
            </a:extLst>
          </p:cNvPr>
          <p:cNvSpPr txBox="1"/>
          <p:nvPr/>
        </p:nvSpPr>
        <p:spPr>
          <a:xfrm>
            <a:off x="3013499" y="3242038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28</a:t>
            </a:r>
            <a:endParaRPr lang="zh-CN" altLang="en-US" sz="1200" dirty="0"/>
          </a:p>
        </p:txBody>
      </p:sp>
      <p:sp>
        <p:nvSpPr>
          <p:cNvPr id="20" name="右大括号 19">
            <a:extLst>
              <a:ext uri="{FF2B5EF4-FFF2-40B4-BE49-F238E27FC236}">
                <a16:creationId xmlns:a16="http://schemas.microsoft.com/office/drawing/2014/main" id="{A396D3EB-93CD-4BDB-BD80-580D80FDADE6}"/>
              </a:ext>
            </a:extLst>
          </p:cNvPr>
          <p:cNvSpPr/>
          <p:nvPr/>
        </p:nvSpPr>
        <p:spPr>
          <a:xfrm rot="5400000">
            <a:off x="2780519" y="3445749"/>
            <a:ext cx="151391" cy="1060739"/>
          </a:xfrm>
          <a:prstGeom prst="rightBrace">
            <a:avLst>
              <a:gd name="adj1" fmla="val 56332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B291F3-7BC3-4A4E-A99C-D2695F35C61E}"/>
              </a:ext>
            </a:extLst>
          </p:cNvPr>
          <p:cNvSpPr txBox="1"/>
          <p:nvPr/>
        </p:nvSpPr>
        <p:spPr>
          <a:xfrm>
            <a:off x="867368" y="1449440"/>
            <a:ext cx="1606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通用寄存器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450B264-ACE5-450F-AEA8-ED782D81C9DF}"/>
              </a:ext>
            </a:extLst>
          </p:cNvPr>
          <p:cNvSpPr txBox="1"/>
          <p:nvPr/>
        </p:nvSpPr>
        <p:spPr>
          <a:xfrm>
            <a:off x="2549394" y="4094153"/>
            <a:ext cx="7522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条件码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8B61C8D-73CA-4FEA-B850-26853B5ED55E}"/>
              </a:ext>
            </a:extLst>
          </p:cNvPr>
          <p:cNvSpPr txBox="1"/>
          <p:nvPr/>
        </p:nvSpPr>
        <p:spPr>
          <a:xfrm>
            <a:off x="2229260" y="4562995"/>
            <a:ext cx="2462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程序状态寄存器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PSTATE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0942D44-C493-47D8-AB85-9F7593082D8B}"/>
              </a:ext>
            </a:extLst>
          </p:cNvPr>
          <p:cNvSpPr/>
          <p:nvPr/>
        </p:nvSpPr>
        <p:spPr>
          <a:xfrm>
            <a:off x="919513" y="3490246"/>
            <a:ext cx="855661" cy="3828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PC</a:t>
            </a:r>
            <a:endParaRPr lang="zh-CN" altLang="en-US" dirty="0"/>
          </a:p>
        </p:txBody>
      </p:sp>
      <p:sp>
        <p:nvSpPr>
          <p:cNvPr id="34" name="右大括号 33">
            <a:extLst>
              <a:ext uri="{FF2B5EF4-FFF2-40B4-BE49-F238E27FC236}">
                <a16:creationId xmlns:a16="http://schemas.microsoft.com/office/drawing/2014/main" id="{FD59ECD3-7463-4012-86C4-5E4759583C60}"/>
              </a:ext>
            </a:extLst>
          </p:cNvPr>
          <p:cNvSpPr/>
          <p:nvPr/>
        </p:nvSpPr>
        <p:spPr>
          <a:xfrm rot="5400000">
            <a:off x="4063125" y="3220152"/>
            <a:ext cx="155119" cy="1508206"/>
          </a:xfrm>
          <a:prstGeom prst="rightBrace">
            <a:avLst>
              <a:gd name="adj1" fmla="val 72333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419C589-3286-4B74-8E39-A9DE688F53FC}"/>
              </a:ext>
            </a:extLst>
          </p:cNvPr>
          <p:cNvSpPr txBox="1"/>
          <p:nvPr/>
        </p:nvSpPr>
        <p:spPr>
          <a:xfrm>
            <a:off x="3643247" y="4076683"/>
            <a:ext cx="1161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掩码、特权级、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执行状态等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7483C60-678A-46FD-AABA-C32029151EFE}"/>
              </a:ext>
            </a:extLst>
          </p:cNvPr>
          <p:cNvSpPr txBox="1"/>
          <p:nvPr/>
        </p:nvSpPr>
        <p:spPr>
          <a:xfrm>
            <a:off x="3995936" y="3465352"/>
            <a:ext cx="928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…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76C823E-67A5-4FD4-9710-9155BF1C04F3}"/>
              </a:ext>
            </a:extLst>
          </p:cNvPr>
          <p:cNvSpPr txBox="1"/>
          <p:nvPr/>
        </p:nvSpPr>
        <p:spPr>
          <a:xfrm>
            <a:off x="3274852" y="3243072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27</a:t>
            </a:r>
            <a:endParaRPr lang="zh-CN" altLang="en-US" sz="12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131F8CC-449F-4D07-9222-CCA96D8F5EA7}"/>
              </a:ext>
            </a:extLst>
          </p:cNvPr>
          <p:cNvSpPr txBox="1"/>
          <p:nvPr/>
        </p:nvSpPr>
        <p:spPr>
          <a:xfrm>
            <a:off x="1670553" y="3238709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3952B05-5994-44F1-943F-D9784C9676EA}"/>
              </a:ext>
            </a:extLst>
          </p:cNvPr>
          <p:cNvSpPr txBox="1"/>
          <p:nvPr/>
        </p:nvSpPr>
        <p:spPr>
          <a:xfrm>
            <a:off x="842610" y="3239089"/>
            <a:ext cx="568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63</a:t>
            </a:r>
            <a:endParaRPr lang="zh-CN" altLang="en-US" sz="12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D1C3860-0F59-4376-9C06-2C8008610877}"/>
              </a:ext>
            </a:extLst>
          </p:cNvPr>
          <p:cNvSpPr txBox="1"/>
          <p:nvPr/>
        </p:nvSpPr>
        <p:spPr>
          <a:xfrm>
            <a:off x="755576" y="3855898"/>
            <a:ext cx="1246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程序计数器 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58F579B-92FA-46FC-89E3-F4F3BEB9243D}"/>
              </a:ext>
            </a:extLst>
          </p:cNvPr>
          <p:cNvSpPr/>
          <p:nvPr/>
        </p:nvSpPr>
        <p:spPr>
          <a:xfrm>
            <a:off x="6320108" y="1107537"/>
            <a:ext cx="1708276" cy="40646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1791F5C-5103-426D-8864-EED04D98A2A5}"/>
              </a:ext>
            </a:extLst>
          </p:cNvPr>
          <p:cNvSpPr txBox="1"/>
          <p:nvPr/>
        </p:nvSpPr>
        <p:spPr>
          <a:xfrm>
            <a:off x="6752001" y="684381"/>
            <a:ext cx="772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41094A8C-D944-41C5-BBA5-E5C12FB6E160}"/>
              </a:ext>
            </a:extLst>
          </p:cNvPr>
          <p:cNvSpPr txBox="1"/>
          <p:nvPr/>
        </p:nvSpPr>
        <p:spPr>
          <a:xfrm>
            <a:off x="4131335" y="1202690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51E46298-7A8B-44FA-BE6F-29121469B57E}"/>
              </a:ext>
            </a:extLst>
          </p:cNvPr>
          <p:cNvCxnSpPr/>
          <p:nvPr/>
        </p:nvCxnSpPr>
        <p:spPr>
          <a:xfrm>
            <a:off x="5138892" y="1596306"/>
            <a:ext cx="11812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5FC98776-61FC-470B-A463-61EA76E41C70}"/>
              </a:ext>
            </a:extLst>
          </p:cNvPr>
          <p:cNvSpPr txBox="1"/>
          <p:nvPr/>
        </p:nvSpPr>
        <p:spPr>
          <a:xfrm>
            <a:off x="5333063" y="1196196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12C2CA9E-F59B-4D97-BFB7-573BE7ED9FCA}"/>
              </a:ext>
            </a:extLst>
          </p:cNvPr>
          <p:cNvCxnSpPr/>
          <p:nvPr/>
        </p:nvCxnSpPr>
        <p:spPr>
          <a:xfrm>
            <a:off x="5138892" y="3022879"/>
            <a:ext cx="11812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8299AB1F-7625-4658-BAE8-FC9A7A6932B6}"/>
              </a:ext>
            </a:extLst>
          </p:cNvPr>
          <p:cNvSpPr txBox="1"/>
          <p:nvPr/>
        </p:nvSpPr>
        <p:spPr>
          <a:xfrm>
            <a:off x="5374837" y="2624289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6961E420-FA17-43FC-8851-05460DD83CF3}"/>
              </a:ext>
            </a:extLst>
          </p:cNvPr>
          <p:cNvCxnSpPr>
            <a:cxnSpLocks/>
          </p:cNvCxnSpPr>
          <p:nvPr/>
        </p:nvCxnSpPr>
        <p:spPr>
          <a:xfrm flipH="1">
            <a:off x="5124679" y="4677376"/>
            <a:ext cx="1195428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F21C0FCF-F4BE-4008-A4BE-889434A7BC42}"/>
              </a:ext>
            </a:extLst>
          </p:cNvPr>
          <p:cNvSpPr txBox="1"/>
          <p:nvPr/>
        </p:nvSpPr>
        <p:spPr>
          <a:xfrm>
            <a:off x="5410151" y="4286376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139A8C2-E49D-87CF-78F3-9FAB20A78173}"/>
              </a:ext>
            </a:extLst>
          </p:cNvPr>
          <p:cNvSpPr/>
          <p:nvPr/>
        </p:nvSpPr>
        <p:spPr>
          <a:xfrm>
            <a:off x="1993145" y="3487957"/>
            <a:ext cx="333472" cy="4127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080D042-F41D-AFA7-9ED6-02855DA63476}"/>
              </a:ext>
            </a:extLst>
          </p:cNvPr>
          <p:cNvSpPr txBox="1"/>
          <p:nvPr/>
        </p:nvSpPr>
        <p:spPr>
          <a:xfrm>
            <a:off x="1991572" y="3477126"/>
            <a:ext cx="419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…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7E4E71-5016-D1B1-C272-BA4496BDFEBB}"/>
              </a:ext>
            </a:extLst>
          </p:cNvPr>
          <p:cNvSpPr/>
          <p:nvPr/>
        </p:nvSpPr>
        <p:spPr>
          <a:xfrm>
            <a:off x="6455297" y="1777380"/>
            <a:ext cx="1440160" cy="43710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栈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16AF94-4028-6002-20E2-8E17D7CABCC6}"/>
              </a:ext>
            </a:extLst>
          </p:cNvPr>
          <p:cNvSpPr/>
          <p:nvPr/>
        </p:nvSpPr>
        <p:spPr>
          <a:xfrm>
            <a:off x="6455297" y="3237801"/>
            <a:ext cx="1440160" cy="5434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堆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6B0FF8B-BA14-9E16-31FD-BD5E1CB118D9}"/>
              </a:ext>
            </a:extLst>
          </p:cNvPr>
          <p:cNvSpPr/>
          <p:nvPr/>
        </p:nvSpPr>
        <p:spPr>
          <a:xfrm>
            <a:off x="904520" y="4384468"/>
            <a:ext cx="855661" cy="3828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SP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9C3433A-AAE8-6D53-7FF2-218A6C23B1DE}"/>
              </a:ext>
            </a:extLst>
          </p:cNvPr>
          <p:cNvSpPr txBox="1"/>
          <p:nvPr/>
        </p:nvSpPr>
        <p:spPr>
          <a:xfrm>
            <a:off x="1655560" y="4132931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4C5E0EC-D0D3-70C2-3E18-AFC673F8F84D}"/>
              </a:ext>
            </a:extLst>
          </p:cNvPr>
          <p:cNvSpPr txBox="1"/>
          <p:nvPr/>
        </p:nvSpPr>
        <p:spPr>
          <a:xfrm>
            <a:off x="827617" y="4133311"/>
            <a:ext cx="568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63</a:t>
            </a:r>
            <a:endParaRPr lang="zh-CN" altLang="en-US" sz="12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1E4DA2D-9582-B7E2-6101-0EAD374DB0A5}"/>
              </a:ext>
            </a:extLst>
          </p:cNvPr>
          <p:cNvSpPr txBox="1"/>
          <p:nvPr/>
        </p:nvSpPr>
        <p:spPr>
          <a:xfrm>
            <a:off x="740583" y="4750120"/>
            <a:ext cx="1246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栈顶地址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9FA5D2-E277-E27D-B26C-12BF8AEF60C1}"/>
              </a:ext>
            </a:extLst>
          </p:cNvPr>
          <p:cNvSpPr/>
          <p:nvPr/>
        </p:nvSpPr>
        <p:spPr>
          <a:xfrm>
            <a:off x="6445914" y="3965838"/>
            <a:ext cx="1440160" cy="3627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数据段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1762ABC-4A93-1025-0B97-D99E1D651174}"/>
              </a:ext>
            </a:extLst>
          </p:cNvPr>
          <p:cNvSpPr/>
          <p:nvPr/>
        </p:nvSpPr>
        <p:spPr>
          <a:xfrm>
            <a:off x="6445914" y="4331689"/>
            <a:ext cx="1440160" cy="3627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代码段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BE51879-FE06-1273-241F-2A804099BA12}"/>
              </a:ext>
            </a:extLst>
          </p:cNvPr>
          <p:cNvSpPr/>
          <p:nvPr/>
        </p:nvSpPr>
        <p:spPr>
          <a:xfrm>
            <a:off x="6455297" y="2532411"/>
            <a:ext cx="1440160" cy="35424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动态链接库</a:t>
            </a:r>
          </a:p>
        </p:txBody>
      </p:sp>
    </p:spTree>
    <p:extLst>
      <p:ext uri="{BB962C8B-B14F-4D97-AF65-F5344CB8AC3E}">
        <p14:creationId xmlns:p14="http://schemas.microsoft.com/office/powerpoint/2010/main" val="555868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CE4488-100F-09C6-6569-B7CB2A299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虚拟内存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9F8FE6-9432-05BD-B0D7-150DC2D75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虚拟地址空间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应用进程使用虚拟地址访问内存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所有应用进程的虚拟地址空间都是统一的（方便开发）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地址翻译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CPU</a:t>
            </a:r>
            <a:r>
              <a:rPr kumimoji="1" lang="zh-CN" altLang="en-US" dirty="0"/>
              <a:t>按照</a:t>
            </a:r>
            <a:r>
              <a:rPr kumimoji="1" lang="en-US" altLang="zh-CN" dirty="0"/>
              <a:t>OS</a:t>
            </a:r>
            <a:r>
              <a:rPr kumimoji="1" lang="zh-CN" altLang="en-US" dirty="0"/>
              <a:t>配置的规则把虚拟地址翻译成物理地址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翻译对于应用进程时不可见的（无需关心）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9A6446-4E0E-C199-B41F-884E38840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5017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A19B4D-BEF2-1ACB-80E3-DCE1DA8DD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虚拟内存与物理内存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ACB03D11-0395-0B79-FAC4-43696576E5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306" y="1302907"/>
            <a:ext cx="6697388" cy="4152634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098D1A-808B-9F95-843C-4FC9F9456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F0EE3D2-20EF-5B15-2DC2-8828DCA659A2}"/>
              </a:ext>
            </a:extLst>
          </p:cNvPr>
          <p:cNvSpPr txBox="1"/>
          <p:nvPr/>
        </p:nvSpPr>
        <p:spPr>
          <a:xfrm>
            <a:off x="1763688" y="529559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C00000"/>
                </a:solidFill>
              </a:rPr>
              <a:t>虚拟内存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8D896F7-C306-DF17-D9C5-5BB276987719}"/>
              </a:ext>
            </a:extLst>
          </p:cNvPr>
          <p:cNvSpPr txBox="1"/>
          <p:nvPr/>
        </p:nvSpPr>
        <p:spPr>
          <a:xfrm>
            <a:off x="6228184" y="5298679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C00000"/>
                </a:solidFill>
              </a:rPr>
              <a:t>虚拟内存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A6F5FA3-4C6C-AB13-ED63-FDC107586880}"/>
              </a:ext>
            </a:extLst>
          </p:cNvPr>
          <p:cNvSpPr txBox="1"/>
          <p:nvPr/>
        </p:nvSpPr>
        <p:spPr>
          <a:xfrm>
            <a:off x="4069298" y="451368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C00000"/>
                </a:solidFill>
              </a:rPr>
              <a:t>物理内存</a:t>
            </a:r>
          </a:p>
        </p:txBody>
      </p:sp>
    </p:spTree>
    <p:extLst>
      <p:ext uri="{BB962C8B-B14F-4D97-AF65-F5344CB8AC3E}">
        <p14:creationId xmlns:p14="http://schemas.microsoft.com/office/powerpoint/2010/main" val="39486486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C81D1E-8C4C-8469-23B3-CB795701E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虚拟内存的优势：独立而统一的地址空间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BFEF8D-0A7C-509B-A07B-44156E26F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67D59091-A806-8A50-47A4-E16202F1C3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921396"/>
            <a:ext cx="5490127" cy="3178174"/>
          </a:xfr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1315C78-FC35-5D8A-543A-D56027B625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1382996"/>
            <a:ext cx="5760640" cy="218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794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BEF973-1230-8CD8-3870-FD59CE77D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虚拟内存的优势：突破物理内存容量限制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F2AF30-5CA9-A55B-BA84-9935D6CBC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提高内存资源利用率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操作系统按需把进程虚拟地址映射到物理地址</a:t>
            </a:r>
            <a:endParaRPr kumimoji="1" lang="en-US" altLang="zh-CN" sz="2000" dirty="0"/>
          </a:p>
          <a:p>
            <a:pPr marL="457200" lvl="1" indent="0">
              <a:buNone/>
            </a:pPr>
            <a:endParaRPr kumimoji="1" lang="en-US" altLang="zh-CN" sz="2000" dirty="0"/>
          </a:p>
          <a:p>
            <a:r>
              <a:rPr kumimoji="1" lang="zh-CN" altLang="en-US" sz="2400" dirty="0"/>
              <a:t>突破物理内存的容量限制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操作系统可以将部分虚拟内存区域</a:t>
            </a:r>
            <a:br>
              <a:rPr kumimoji="1" lang="en-US" altLang="zh-CN" sz="2000" dirty="0"/>
            </a:br>
            <a:r>
              <a:rPr kumimoji="1" lang="zh-CN" altLang="en-US" sz="2000" dirty="0"/>
              <a:t>数据暂存到磁盘上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E2A954-D46C-F09B-4301-3972386EE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pic>
        <p:nvPicPr>
          <p:cNvPr id="5" name="内容占位符 5">
            <a:extLst>
              <a:ext uri="{FF2B5EF4-FFF2-40B4-BE49-F238E27FC236}">
                <a16:creationId xmlns:a16="http://schemas.microsoft.com/office/drawing/2014/main" id="{D4AAF7DC-1B0B-88F1-A7B2-930285E33A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1222" y="2641476"/>
            <a:ext cx="3942778" cy="244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0733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5156C8-A155-BB5F-EA46-63E0018C4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Linux</a:t>
            </a:r>
            <a:r>
              <a:rPr kumimoji="1" lang="zh-CN" altLang="en-US" dirty="0"/>
              <a:t>中进程的虚拟内存布局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7A6150D-5960-A3CE-3F9C-3578CD687B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36" t="19404" r="34437" b="9960"/>
          <a:stretch/>
        </p:blipFill>
        <p:spPr>
          <a:xfrm>
            <a:off x="683568" y="1561356"/>
            <a:ext cx="2724627" cy="360040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FF0ADB-F1DA-F50F-5EE1-68BE9E04D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68B561-2ED1-ECBF-1705-E7736EDFF973}"/>
              </a:ext>
            </a:extLst>
          </p:cNvPr>
          <p:cNvSpPr txBox="1"/>
          <p:nvPr/>
        </p:nvSpPr>
        <p:spPr>
          <a:xfrm>
            <a:off x="5439079" y="1789534"/>
            <a:ext cx="20457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cat /proc/$PID/maps</a:t>
            </a:r>
            <a:endParaRPr kumimoji="1" lang="zh-CN" altLang="en-US" sz="16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7EF10C4-8765-1E5B-1C98-8D9AF07C6A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2128088"/>
            <a:ext cx="5220072" cy="222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1306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/>
              <a:t>ELF</a:t>
            </a:r>
            <a:r>
              <a:rPr kumimoji="1" lang="zh-CN" altLang="en-US" b="1" dirty="0"/>
              <a:t>文件格式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应用程序的可执行文件</a:t>
            </a:r>
          </a:p>
        </p:txBody>
      </p:sp>
    </p:spTree>
    <p:extLst>
      <p:ext uri="{BB962C8B-B14F-4D97-AF65-F5344CB8AC3E}">
        <p14:creationId xmlns:p14="http://schemas.microsoft.com/office/powerpoint/2010/main" val="18570175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C4F7CA-4973-094E-839A-B25BB4739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目标文件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F70B1-AC06-0E4F-8999-07F66DF28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可执行目标文件</a:t>
            </a:r>
            <a:endParaRPr kumimoji="1" lang="en-US" altLang="zh-CN" dirty="0"/>
          </a:p>
          <a:p>
            <a:r>
              <a:rPr kumimoji="1" lang="zh-CN" altLang="en-US" dirty="0"/>
              <a:t>可重定位目标文件（</a:t>
            </a:r>
            <a:r>
              <a:rPr kumimoji="1" lang="en-US" altLang="zh-CN" dirty="0"/>
              <a:t>.o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zh-CN" altLang="en-US" dirty="0"/>
              <a:t>共享目标文件（</a:t>
            </a:r>
            <a:r>
              <a:rPr kumimoji="1" lang="en-US" altLang="zh-CN" dirty="0"/>
              <a:t>.so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lang="zh-CN" altLang="en-US" dirty="0">
                <a:latin typeface="+mn-ea"/>
                <a:ea typeface="+mn-ea"/>
              </a:rPr>
              <a:t>特殊的</a:t>
            </a:r>
            <a:r>
              <a:rPr kumimoji="1" lang="zh-CN" altLang="en-US" dirty="0">
                <a:latin typeface="+mn-ea"/>
                <a:ea typeface="+mn-ea"/>
              </a:rPr>
              <a:t>可重定位目标文件</a:t>
            </a:r>
            <a:endParaRPr kumimoji="1" lang="en-US" altLang="zh-CN" dirty="0">
              <a:latin typeface="+mn-ea"/>
              <a:ea typeface="+mn-ea"/>
            </a:endParaRPr>
          </a:p>
          <a:p>
            <a:pPr lvl="1"/>
            <a:r>
              <a:rPr kumimoji="1" lang="zh-CN" altLang="en-US" dirty="0">
                <a:latin typeface="+mn-ea"/>
                <a:ea typeface="+mn-ea"/>
              </a:rPr>
              <a:t>可以加载到内存中</a:t>
            </a:r>
            <a:endParaRPr kumimoji="1" lang="en-US" altLang="zh-CN" dirty="0">
              <a:latin typeface="+mn-ea"/>
              <a:ea typeface="+mn-ea"/>
            </a:endParaRPr>
          </a:p>
          <a:p>
            <a:pPr lvl="1"/>
            <a:r>
              <a:rPr kumimoji="1" lang="zh-CN" altLang="en-US" dirty="0">
                <a:latin typeface="+mn-ea"/>
                <a:ea typeface="+mn-ea"/>
              </a:rPr>
              <a:t>支持动态链接：加载时或运行时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3AFED1-5673-FE4C-8BF2-AD22F10A6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0846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73D9A4-78C7-4140-8282-ADC5202EA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ELF</a:t>
            </a:r>
            <a:r>
              <a:rPr kumimoji="1" lang="zh-CN" altLang="en-US" dirty="0"/>
              <a:t>：可执行可链接格式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20F2F1-897E-024E-AC20-68E381F75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latin typeface="+mn-ea"/>
                <a:ea typeface="+mn-ea"/>
              </a:rPr>
              <a:t>目标文件的标准二进制格式</a:t>
            </a:r>
            <a:endParaRPr kumimoji="1" lang="en-US" altLang="zh-CN" dirty="0">
              <a:latin typeface="+mn-ea"/>
              <a:ea typeface="+mn-ea"/>
            </a:endParaRPr>
          </a:p>
          <a:p>
            <a:pPr lvl="1"/>
            <a:r>
              <a:rPr kumimoji="1" lang="zh-CN" altLang="en-US" dirty="0">
                <a:latin typeface="+mn-ea"/>
                <a:ea typeface="+mn-ea"/>
              </a:rPr>
              <a:t>统一格式，又称为</a:t>
            </a:r>
            <a:r>
              <a:rPr kumimoji="1" lang="en-US" altLang="zh-CN" dirty="0">
                <a:solidFill>
                  <a:srgbClr val="C00000"/>
                </a:solidFill>
                <a:latin typeface="+mn-ea"/>
                <a:ea typeface="+mn-ea"/>
              </a:rPr>
              <a:t>ELF</a:t>
            </a:r>
            <a:r>
              <a:rPr kumimoji="1" lang="zh-CN" altLang="en-US" dirty="0">
                <a:solidFill>
                  <a:srgbClr val="C00000"/>
                </a:solidFill>
                <a:latin typeface="+mn-ea"/>
                <a:ea typeface="+mn-ea"/>
              </a:rPr>
              <a:t>二进制文件</a:t>
            </a:r>
            <a:endParaRPr kumimoji="1" lang="en-US" altLang="zh-CN" dirty="0">
              <a:solidFill>
                <a:srgbClr val="C00000"/>
              </a:solidFill>
              <a:latin typeface="+mn-ea"/>
              <a:ea typeface="+mn-ea"/>
            </a:endParaRPr>
          </a:p>
          <a:p>
            <a:endParaRPr lang="en-US" altLang="zh-CN" dirty="0">
              <a:latin typeface="+mn-ea"/>
              <a:ea typeface="+mn-ea"/>
            </a:endParaRPr>
          </a:p>
          <a:p>
            <a:r>
              <a:rPr lang="zh-CN" altLang="en-US" dirty="0">
                <a:latin typeface="+mn-ea"/>
                <a:ea typeface="+mn-ea"/>
              </a:rPr>
              <a:t>用于</a:t>
            </a:r>
            <a:r>
              <a:rPr lang="en-US" altLang="zh-CN" dirty="0">
                <a:latin typeface="+mn-ea"/>
                <a:ea typeface="+mn-ea"/>
              </a:rPr>
              <a:t>BSD</a:t>
            </a:r>
            <a:r>
              <a:rPr lang="zh-CN" altLang="en-US" dirty="0">
                <a:latin typeface="+mn-ea"/>
                <a:ea typeface="+mn-ea"/>
              </a:rPr>
              <a:t> </a:t>
            </a:r>
            <a:r>
              <a:rPr lang="en-US" altLang="zh-CN" dirty="0">
                <a:latin typeface="+mn-ea"/>
                <a:ea typeface="+mn-ea"/>
              </a:rPr>
              <a:t>Unix</a:t>
            </a:r>
            <a:r>
              <a:rPr lang="zh-CN" altLang="en-US" dirty="0">
                <a:latin typeface="+mn-ea"/>
                <a:ea typeface="+mn-ea"/>
              </a:rPr>
              <a:t>和</a:t>
            </a:r>
            <a:r>
              <a:rPr lang="en-US" altLang="zh-CN" dirty="0">
                <a:latin typeface="+mn-ea"/>
                <a:ea typeface="+mn-ea"/>
              </a:rPr>
              <a:t>Linux</a:t>
            </a:r>
          </a:p>
          <a:p>
            <a:pPr lvl="1"/>
            <a:r>
              <a:rPr lang="zh-CN" altLang="en-US" dirty="0">
                <a:latin typeface="+mn-ea"/>
                <a:ea typeface="+mn-ea"/>
              </a:rPr>
              <a:t>最早用于</a:t>
            </a:r>
            <a:r>
              <a:rPr lang="en-US" altLang="zh-CN" dirty="0">
                <a:latin typeface="+mn-ea"/>
                <a:ea typeface="+mn-ea"/>
              </a:rPr>
              <a:t>AT&amp;T</a:t>
            </a:r>
            <a:r>
              <a:rPr lang="zh-CN" altLang="en-US" dirty="0">
                <a:latin typeface="+mn-ea"/>
                <a:ea typeface="+mn-ea"/>
              </a:rPr>
              <a:t> </a:t>
            </a:r>
            <a:r>
              <a:rPr lang="en-US" altLang="zh-CN" dirty="0">
                <a:latin typeface="+mn-ea"/>
                <a:ea typeface="+mn-ea"/>
              </a:rPr>
              <a:t>System</a:t>
            </a:r>
            <a:r>
              <a:rPr lang="zh-CN" altLang="en-US" dirty="0">
                <a:latin typeface="+mn-ea"/>
                <a:ea typeface="+mn-ea"/>
              </a:rPr>
              <a:t> </a:t>
            </a:r>
            <a:r>
              <a:rPr lang="en-US" altLang="zh-CN" dirty="0">
                <a:latin typeface="+mn-ea"/>
                <a:ea typeface="+mn-ea"/>
              </a:rPr>
              <a:t>V</a:t>
            </a:r>
            <a:r>
              <a:rPr lang="zh-CN" altLang="en-US" dirty="0">
                <a:latin typeface="+mn-ea"/>
                <a:ea typeface="+mn-ea"/>
              </a:rPr>
              <a:t> </a:t>
            </a:r>
            <a:r>
              <a:rPr lang="en-US" altLang="zh-CN" dirty="0">
                <a:latin typeface="+mn-ea"/>
                <a:ea typeface="+mn-ea"/>
              </a:rPr>
              <a:t>Unix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3A4113-7111-5B4C-8C1D-410CFDD7A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8882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8A9C7-803F-70AB-427E-A1391169F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8DC1A1-6669-EB68-71B0-4344AA85F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ELF</a:t>
            </a:r>
            <a:r>
              <a:rPr kumimoji="1" lang="zh-CN" altLang="en-US" dirty="0"/>
              <a:t>格式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D1604B-9049-B4B7-221C-8B72555CB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18" name="左大括号 6">
            <a:extLst>
              <a:ext uri="{FF2B5EF4-FFF2-40B4-BE49-F238E27FC236}">
                <a16:creationId xmlns:a16="http://schemas.microsoft.com/office/drawing/2014/main" id="{9E2B7752-2EC5-3986-6448-24E18A1C0798}"/>
              </a:ext>
            </a:extLst>
          </p:cNvPr>
          <p:cNvSpPr>
            <a:spLocks/>
          </p:cNvSpPr>
          <p:nvPr/>
        </p:nvSpPr>
        <p:spPr bwMode="auto">
          <a:xfrm>
            <a:off x="1638426" y="1401447"/>
            <a:ext cx="381000" cy="3365491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3EC1270A-14F6-EED6-E1B5-B3A5FC8EF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52" y="2909753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" name="左大括号 8">
            <a:extLst>
              <a:ext uri="{FF2B5EF4-FFF2-40B4-BE49-F238E27FC236}">
                <a16:creationId xmlns:a16="http://schemas.microsoft.com/office/drawing/2014/main" id="{65311ED9-F595-42BB-14D3-64BA46586E71}"/>
              </a:ext>
            </a:extLst>
          </p:cNvPr>
          <p:cNvSpPr>
            <a:spLocks/>
          </p:cNvSpPr>
          <p:nvPr/>
        </p:nvSpPr>
        <p:spPr bwMode="auto">
          <a:xfrm>
            <a:off x="1638426" y="4766939"/>
            <a:ext cx="386292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C7BC8C53-8BE3-E3EC-C198-EA27DABE6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222" y="4724978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E1026704-CB86-3BC0-7FA8-721382007E9C}"/>
              </a:ext>
            </a:extLst>
          </p:cNvPr>
          <p:cNvGraphicFramePr>
            <a:graphicFrameLocks noGrp="1"/>
          </p:cNvGraphicFramePr>
          <p:nvPr/>
        </p:nvGraphicFramePr>
        <p:xfrm>
          <a:off x="2028012" y="1041408"/>
          <a:ext cx="1421356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21356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ELF</a:t>
                      </a:r>
                      <a:r>
                        <a:rPr lang="zh-CN" altLang="en-US" sz="1600" dirty="0"/>
                        <a:t>头部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rodata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bss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470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64603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.debug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.line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strtab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节头部表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  <p:sp>
        <p:nvSpPr>
          <p:cNvPr id="5" name="左大括号 6">
            <a:extLst>
              <a:ext uri="{FF2B5EF4-FFF2-40B4-BE49-F238E27FC236}">
                <a16:creationId xmlns:a16="http://schemas.microsoft.com/office/drawing/2014/main" id="{941FA621-1C93-D21D-B667-37C72788862C}"/>
              </a:ext>
            </a:extLst>
          </p:cNvPr>
          <p:cNvSpPr>
            <a:spLocks/>
          </p:cNvSpPr>
          <p:nvPr/>
        </p:nvSpPr>
        <p:spPr bwMode="auto">
          <a:xfrm>
            <a:off x="5374870" y="1689480"/>
            <a:ext cx="174733" cy="3077458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文本框 7">
            <a:extLst>
              <a:ext uri="{FF2B5EF4-FFF2-40B4-BE49-F238E27FC236}">
                <a16:creationId xmlns:a16="http://schemas.microsoft.com/office/drawing/2014/main" id="{74937DEB-ACF8-8622-1221-1958347BE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050" y="3017419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7" name="左大括号 8">
            <a:extLst>
              <a:ext uri="{FF2B5EF4-FFF2-40B4-BE49-F238E27FC236}">
                <a16:creationId xmlns:a16="http://schemas.microsoft.com/office/drawing/2014/main" id="{D2FF05DF-64B3-E3DD-2829-1CF86B169358}"/>
              </a:ext>
            </a:extLst>
          </p:cNvPr>
          <p:cNvSpPr>
            <a:spLocks/>
          </p:cNvSpPr>
          <p:nvPr/>
        </p:nvSpPr>
        <p:spPr bwMode="auto">
          <a:xfrm>
            <a:off x="5374870" y="4766939"/>
            <a:ext cx="177160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8" name="文本框 25">
            <a:extLst>
              <a:ext uri="{FF2B5EF4-FFF2-40B4-BE49-F238E27FC236}">
                <a16:creationId xmlns:a16="http://schemas.microsoft.com/office/drawing/2014/main" id="{42A0376D-54DC-BF60-A586-0DA64FE28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6320" y="4726905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9" name="表格 22">
            <a:extLst>
              <a:ext uri="{FF2B5EF4-FFF2-40B4-BE49-F238E27FC236}">
                <a16:creationId xmlns:a16="http://schemas.microsoft.com/office/drawing/2014/main" id="{A808D0A4-10F5-711B-3A2C-37B345600871}"/>
              </a:ext>
            </a:extLst>
          </p:cNvPr>
          <p:cNvGraphicFramePr>
            <a:graphicFrameLocks noGrp="1"/>
          </p:cNvGraphicFramePr>
          <p:nvPr/>
        </p:nvGraphicFramePr>
        <p:xfrm>
          <a:off x="5590206" y="1041408"/>
          <a:ext cx="1268296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268296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ELF</a:t>
                      </a:r>
                      <a:r>
                        <a:rPr lang="zh-CN" altLang="en-US" sz="1600" dirty="0"/>
                        <a:t>头部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程序头部表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38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789230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init</a:t>
                      </a:r>
                      <a:endParaRPr lang="zh-CN" altLang="en-US" sz="1600" dirty="0"/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077523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.text</a:t>
                      </a:r>
                      <a:endParaRPr lang="zh-CN" altLang="en-US" sz="1600" dirty="0"/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rodata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bss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.debug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.line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strtab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节头部表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  <p:sp>
        <p:nvSpPr>
          <p:cNvPr id="10" name="左大括号 8">
            <a:extLst>
              <a:ext uri="{FF2B5EF4-FFF2-40B4-BE49-F238E27FC236}">
                <a16:creationId xmlns:a16="http://schemas.microsoft.com/office/drawing/2014/main" id="{201932FB-E659-C9DB-7588-A161F6CFF0A0}"/>
              </a:ext>
            </a:extLst>
          </p:cNvPr>
          <p:cNvSpPr>
            <a:spLocks/>
          </p:cNvSpPr>
          <p:nvPr/>
        </p:nvSpPr>
        <p:spPr bwMode="auto">
          <a:xfrm>
            <a:off x="5374870" y="1379271"/>
            <a:ext cx="177160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1" name="文本框 25">
            <a:extLst>
              <a:ext uri="{FF2B5EF4-FFF2-40B4-BE49-F238E27FC236}">
                <a16:creationId xmlns:a16="http://schemas.microsoft.com/office/drawing/2014/main" id="{4E210FD8-9ABD-B3E6-B618-0450C14F3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2188" y="1230018"/>
            <a:ext cx="1556836" cy="605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文件的节到内存段的映射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8A8265-4507-DB63-08FB-0AEA1845F171}"/>
              </a:ext>
            </a:extLst>
          </p:cNvPr>
          <p:cNvSpPr txBox="1"/>
          <p:nvPr/>
        </p:nvSpPr>
        <p:spPr>
          <a:xfrm>
            <a:off x="1573776" y="526443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可重定位目标文件</a:t>
            </a:r>
            <a:endParaRPr lang="en-C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A5B4BD-495E-2043-BB9E-B23E69EF36CD}"/>
              </a:ext>
            </a:extLst>
          </p:cNvPr>
          <p:cNvSpPr txBox="1"/>
          <p:nvPr/>
        </p:nvSpPr>
        <p:spPr>
          <a:xfrm>
            <a:off x="5281587" y="527190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可执行目标文件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4219798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C6F46-768A-8947-26A8-7A43C2D5A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8DCF91-A593-1C69-4863-3DA97884A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ELF</a:t>
            </a:r>
            <a:r>
              <a:rPr kumimoji="1" lang="zh-CN" altLang="en-US" dirty="0"/>
              <a:t>格式：可重定位目标文件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8AF24A-25AA-6583-355D-7F711AFA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18" name="左大括号 6">
            <a:extLst>
              <a:ext uri="{FF2B5EF4-FFF2-40B4-BE49-F238E27FC236}">
                <a16:creationId xmlns:a16="http://schemas.microsoft.com/office/drawing/2014/main" id="{091884F4-92AA-C499-A1FE-219819376DED}"/>
              </a:ext>
            </a:extLst>
          </p:cNvPr>
          <p:cNvSpPr>
            <a:spLocks/>
          </p:cNvSpPr>
          <p:nvPr/>
        </p:nvSpPr>
        <p:spPr bwMode="auto">
          <a:xfrm>
            <a:off x="484252" y="1428492"/>
            <a:ext cx="381000" cy="3365491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76210874-CBD6-D2EA-FC67-21D35D8A1EF4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522218" y="2905694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" name="左大括号 8">
            <a:extLst>
              <a:ext uri="{FF2B5EF4-FFF2-40B4-BE49-F238E27FC236}">
                <a16:creationId xmlns:a16="http://schemas.microsoft.com/office/drawing/2014/main" id="{6F0B28AA-4D0C-85F6-000E-AF059E97AFDC}"/>
              </a:ext>
            </a:extLst>
          </p:cNvPr>
          <p:cNvSpPr>
            <a:spLocks/>
          </p:cNvSpPr>
          <p:nvPr/>
        </p:nvSpPr>
        <p:spPr bwMode="auto">
          <a:xfrm>
            <a:off x="484252" y="4793984"/>
            <a:ext cx="386292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10336A09-5670-8F99-675B-B3C29C5B2608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377948" y="4753950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5F49220B-3BE8-9AB5-3DB7-66B7AB4B9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387020"/>
              </p:ext>
            </p:extLst>
          </p:nvPr>
        </p:nvGraphicFramePr>
        <p:xfrm>
          <a:off x="873838" y="1068453"/>
          <a:ext cx="1421356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21356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ELF</a:t>
                      </a:r>
                      <a:r>
                        <a:rPr lang="zh-CN" altLang="en-US" sz="16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头部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rodata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bss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470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64603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.debug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.line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strtab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节头部表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F3B08E4-0F7E-537D-91D1-48C1C247C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1840" y="1175806"/>
            <a:ext cx="8229600" cy="377163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kumimoji="1" lang="en-US" altLang="zh-CN" dirty="0"/>
              <a:t>ELF</a:t>
            </a:r>
            <a:r>
              <a:rPr kumimoji="1" lang="zh-CN" altLang="en-US" dirty="0"/>
              <a:t> 头部</a:t>
            </a:r>
            <a:endParaRPr kumimoji="1" lang="en-US" altLang="zh-CN" dirty="0"/>
          </a:p>
          <a:p>
            <a:r>
              <a:rPr kumimoji="1" lang="en-US" altLang="zh-CN" dirty="0"/>
              <a:t>ELF</a:t>
            </a:r>
            <a:r>
              <a:rPr kumimoji="1" lang="zh-CN" altLang="en-US" dirty="0"/>
              <a:t>文件的第一个部分</a:t>
            </a:r>
            <a:endParaRPr kumimoji="1" lang="en-US" altLang="zh-CN" dirty="0"/>
          </a:p>
          <a:p>
            <a:r>
              <a:rPr kumimoji="1" lang="zh-CN" altLang="en-US" dirty="0"/>
              <a:t>通常用于存元数据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Magic</a:t>
            </a:r>
            <a:r>
              <a:rPr kumimoji="1" lang="zh-CN" altLang="en-US" dirty="0"/>
              <a:t> </a:t>
            </a:r>
            <a:r>
              <a:rPr kumimoji="1" lang="en-US" altLang="zh-CN" dirty="0"/>
              <a:t>number</a:t>
            </a:r>
            <a:r>
              <a:rPr kumimoji="1" lang="zh-CN" altLang="en-US" dirty="0"/>
              <a:t> （</a:t>
            </a:r>
            <a:r>
              <a:rPr lang="en-US" altLang="zh-CN" dirty="0">
                <a:ea typeface="宋体" panose="02010600030101010101" pitchFamily="2" charset="-122"/>
                <a:cs typeface="Consolas" panose="020B0609020204030204" pitchFamily="49" charset="0"/>
              </a:rPr>
              <a:t>‘0x7f’ ‘E’ ‘L’ ‘F’</a:t>
            </a:r>
            <a:r>
              <a:rPr kumimoji="1" lang="zh-CN" altLang="en-US" dirty="0">
                <a:latin typeface="+mn-ea"/>
                <a:ea typeface="+mn-ea"/>
                <a:cs typeface="Consolas" panose="020B0609020204030204" pitchFamily="49" charset="0"/>
              </a:rPr>
              <a:t>）</a:t>
            </a:r>
            <a:endParaRPr kumimoji="1" lang="en-US" altLang="zh-CN" dirty="0">
              <a:latin typeface="+mn-ea"/>
              <a:ea typeface="+mn-ea"/>
            </a:endParaRPr>
          </a:p>
          <a:p>
            <a:pPr lvl="1"/>
            <a:r>
              <a:rPr kumimoji="1" lang="zh-CN" altLang="en-US" dirty="0"/>
              <a:t>类型（</a:t>
            </a:r>
            <a:r>
              <a:rPr kumimoji="1" lang="en-US" altLang="zh-CN" dirty="0"/>
              <a:t>.o,</a:t>
            </a:r>
            <a:r>
              <a:rPr kumimoji="1" lang="zh-CN" altLang="en-US" dirty="0"/>
              <a:t> </a:t>
            </a:r>
            <a:r>
              <a:rPr kumimoji="1" lang="en-US" altLang="zh-CN" dirty="0"/>
              <a:t>.so,</a:t>
            </a:r>
            <a:r>
              <a:rPr kumimoji="1" lang="zh-CN" altLang="en-US" dirty="0"/>
              <a:t> 可执行）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机器架构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字节顺序（大小端）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节头部表的位置（文件内偏移）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……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48C723C6-CC51-0FBB-B42A-5B90845C32F5}"/>
              </a:ext>
            </a:extLst>
          </p:cNvPr>
          <p:cNvSpPr/>
          <p:nvPr/>
        </p:nvSpPr>
        <p:spPr>
          <a:xfrm rot="10800000">
            <a:off x="2401189" y="1129308"/>
            <a:ext cx="674408" cy="29918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02090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E0C80-3573-4DD1-15B6-B45E672C8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26C81A-EE01-1BE5-434D-D4E078365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ELF</a:t>
            </a:r>
            <a:r>
              <a:rPr kumimoji="1" lang="zh-CN" altLang="en-US" dirty="0"/>
              <a:t>格式：可重定位目标文件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1D83B9-7605-8844-CB94-5A74692C8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18" name="左大括号 6">
            <a:extLst>
              <a:ext uri="{FF2B5EF4-FFF2-40B4-BE49-F238E27FC236}">
                <a16:creationId xmlns:a16="http://schemas.microsoft.com/office/drawing/2014/main" id="{01231D3E-2C0E-FB89-8D70-445FAD7908E5}"/>
              </a:ext>
            </a:extLst>
          </p:cNvPr>
          <p:cNvSpPr>
            <a:spLocks/>
          </p:cNvSpPr>
          <p:nvPr/>
        </p:nvSpPr>
        <p:spPr bwMode="auto">
          <a:xfrm>
            <a:off x="484252" y="1428492"/>
            <a:ext cx="381000" cy="3365491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1C23A2E7-AEB7-7226-61BC-A4DC0F64EAF8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522218" y="2905694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" name="左大括号 8">
            <a:extLst>
              <a:ext uri="{FF2B5EF4-FFF2-40B4-BE49-F238E27FC236}">
                <a16:creationId xmlns:a16="http://schemas.microsoft.com/office/drawing/2014/main" id="{3867DD2E-9C81-C6F9-C9A5-E582F181C0EE}"/>
              </a:ext>
            </a:extLst>
          </p:cNvPr>
          <p:cNvSpPr>
            <a:spLocks/>
          </p:cNvSpPr>
          <p:nvPr/>
        </p:nvSpPr>
        <p:spPr bwMode="auto">
          <a:xfrm>
            <a:off x="484252" y="4793984"/>
            <a:ext cx="386292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042EAC2D-0144-B9D9-5C8D-80E3AC897F77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377948" y="4753950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AC0CB01B-D9E0-2C5D-D9F4-787C6C4D53A8}"/>
              </a:ext>
            </a:extLst>
          </p:cNvPr>
          <p:cNvGraphicFramePr>
            <a:graphicFrameLocks noGrp="1"/>
          </p:cNvGraphicFramePr>
          <p:nvPr/>
        </p:nvGraphicFramePr>
        <p:xfrm>
          <a:off x="873838" y="1068453"/>
          <a:ext cx="1421356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21356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ELF</a:t>
                      </a:r>
                      <a:r>
                        <a:rPr lang="zh-CN" altLang="en-US" sz="16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头部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rodata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bss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470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64603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.debug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.line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strtab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节头部表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  <p:sp>
        <p:nvSpPr>
          <p:cNvPr id="7" name="Rectangle 3">
            <a:extLst>
              <a:ext uri="{FF2B5EF4-FFF2-40B4-BE49-F238E27FC236}">
                <a16:creationId xmlns:a16="http://schemas.microsoft.com/office/drawing/2014/main" id="{FAE8E21A-CDB8-4A3A-F71C-EFFE85D3BF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3768" y="1068453"/>
            <a:ext cx="7571184" cy="419100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39" indent="-285739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33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9100" indent="-23811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2pPr>
            <a:lvl3pPr marL="952462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67">
                <a:solidFill>
                  <a:schemeClr val="tx1"/>
                </a:solidFill>
                <a:latin typeface="+mn-lt"/>
              </a:defRPr>
            </a:lvl3pPr>
            <a:lvl4pPr marL="1333447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67">
                <a:solidFill>
                  <a:schemeClr val="tx1"/>
                </a:solidFill>
                <a:latin typeface="+mn-lt"/>
              </a:defRPr>
            </a:lvl4pPr>
            <a:lvl5pPr marL="1714431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5pPr>
            <a:lvl6pPr marL="2095416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6pPr>
            <a:lvl7pPr marL="2476401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7pPr>
            <a:lvl8pPr marL="2857386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8pPr>
            <a:lvl9pPr marL="3238370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typedef  struct{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unsigned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char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e_ident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[16]; /* ELF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identification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e_type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Object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file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type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e_machine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Machine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type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Elf64_Word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e_version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Object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file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version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Elf64_Addr    </a:t>
            </a:r>
            <a:r>
              <a:rPr lang="pt-BR" altLang="zh-CN" sz="1667" kern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e_entry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Entry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point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address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Elf64_Off     </a:t>
            </a:r>
            <a:r>
              <a:rPr lang="pt-BR" altLang="zh-CN" sz="1667" kern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e_phoff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Prog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. header offset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Elf64_Off 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e_shoff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/* Sec. header offset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Elf64_Worda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e_flags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/* Processor-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specific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flags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e_ehsize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/* ELF header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size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e_phentsize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Size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of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prog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. header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entry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e_phnum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/* Num.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of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prog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. header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entries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e_shentsize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Size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of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sec. header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entry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e_shnum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/* Num.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of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sec. header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entries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e_shstrndx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/* Sec.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name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string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table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idx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} Elf64_Ehdr;</a:t>
            </a:r>
          </a:p>
        </p:txBody>
      </p:sp>
    </p:spTree>
    <p:extLst>
      <p:ext uri="{BB962C8B-B14F-4D97-AF65-F5344CB8AC3E}">
        <p14:creationId xmlns:p14="http://schemas.microsoft.com/office/powerpoint/2010/main" val="18800685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5E21C-E721-B25C-2174-D93BBEC40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804BE5-0107-A620-A959-DD2A4EF73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ELF</a:t>
            </a:r>
            <a:r>
              <a:rPr kumimoji="1" lang="zh-CN" altLang="en-US" dirty="0"/>
              <a:t>格式：可重定位目标文件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FBD180-2340-E294-DD76-90C5AFE50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18" name="左大括号 6">
            <a:extLst>
              <a:ext uri="{FF2B5EF4-FFF2-40B4-BE49-F238E27FC236}">
                <a16:creationId xmlns:a16="http://schemas.microsoft.com/office/drawing/2014/main" id="{541D2A54-7790-AED0-49E1-600401C9C80E}"/>
              </a:ext>
            </a:extLst>
          </p:cNvPr>
          <p:cNvSpPr>
            <a:spLocks/>
          </p:cNvSpPr>
          <p:nvPr/>
        </p:nvSpPr>
        <p:spPr bwMode="auto">
          <a:xfrm>
            <a:off x="484252" y="1428492"/>
            <a:ext cx="381000" cy="3365491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5B0B79F3-2272-5331-D83F-C207CC845900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522218" y="2905694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" name="左大括号 8">
            <a:extLst>
              <a:ext uri="{FF2B5EF4-FFF2-40B4-BE49-F238E27FC236}">
                <a16:creationId xmlns:a16="http://schemas.microsoft.com/office/drawing/2014/main" id="{7335EF44-88A8-70AC-77B6-7C095078F305}"/>
              </a:ext>
            </a:extLst>
          </p:cNvPr>
          <p:cNvSpPr>
            <a:spLocks/>
          </p:cNvSpPr>
          <p:nvPr/>
        </p:nvSpPr>
        <p:spPr bwMode="auto">
          <a:xfrm>
            <a:off x="484252" y="4793984"/>
            <a:ext cx="386292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7093D497-8C42-527E-7635-F5D8C1EEEFD3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377948" y="4753950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CDF4BD06-E1D4-1E2C-C72E-BE366522FA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421721"/>
              </p:ext>
            </p:extLst>
          </p:nvPr>
        </p:nvGraphicFramePr>
        <p:xfrm>
          <a:off x="873838" y="1068453"/>
          <a:ext cx="1421356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21356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ELF</a:t>
                      </a:r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头部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rodata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bss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470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64603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.debug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.line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strtab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16930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节头部表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  <p:sp>
        <p:nvSpPr>
          <p:cNvPr id="5" name="内容占位符 2">
            <a:extLst>
              <a:ext uri="{FF2B5EF4-FFF2-40B4-BE49-F238E27FC236}">
                <a16:creationId xmlns:a16="http://schemas.microsoft.com/office/drawing/2014/main" id="{FF744D2C-832B-E117-46EF-A2E5E979B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1840" y="1175806"/>
            <a:ext cx="6012160" cy="3771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sz="2400" dirty="0"/>
              <a:t>节头部表（</a:t>
            </a:r>
            <a:r>
              <a:rPr kumimoji="1" lang="en-US" altLang="zh-CN" sz="2400" dirty="0"/>
              <a:t>Section Header Table</a:t>
            </a:r>
            <a:r>
              <a:rPr kumimoji="1" lang="zh-CN" altLang="en-US" sz="2400" dirty="0"/>
              <a:t>）</a:t>
            </a:r>
            <a:endParaRPr kumimoji="1" lang="en-US" altLang="zh-CN" sz="2400" dirty="0"/>
          </a:p>
          <a:p>
            <a:pPr>
              <a:defRPr/>
            </a:pPr>
            <a:r>
              <a:rPr lang="zh-CN" altLang="en-US" sz="2400" dirty="0">
                <a:latin typeface="+mn-ea"/>
              </a:rPr>
              <a:t>节（</a:t>
            </a:r>
            <a:r>
              <a:rPr lang="en-US" altLang="zh-CN" sz="2400" dirty="0">
                <a:latin typeface="+mn-ea"/>
              </a:rPr>
              <a:t>section</a:t>
            </a:r>
            <a:r>
              <a:rPr lang="zh-CN" altLang="en-US" sz="2400" dirty="0">
                <a:latin typeface="+mn-ea"/>
              </a:rPr>
              <a:t>）</a:t>
            </a:r>
            <a:endParaRPr lang="en-US" altLang="zh-CN" sz="2400" dirty="0">
              <a:latin typeface="+mn-ea"/>
            </a:endParaRPr>
          </a:p>
          <a:p>
            <a:pPr lvl="1">
              <a:defRPr/>
            </a:pPr>
            <a:r>
              <a:rPr lang="en-US" altLang="zh-CN" sz="2000" dirty="0">
                <a:latin typeface="+mn-ea"/>
              </a:rPr>
              <a:t>ELF</a:t>
            </a:r>
            <a:r>
              <a:rPr lang="zh-CN" altLang="en-US" sz="2000" dirty="0">
                <a:latin typeface="+mn-ea"/>
              </a:rPr>
              <a:t>文件中除了头部和头部表划分为若干区域</a:t>
            </a:r>
            <a:endParaRPr lang="en-US" altLang="zh-CN" sz="2000" dirty="0">
              <a:latin typeface="+mn-ea"/>
            </a:endParaRPr>
          </a:p>
          <a:p>
            <a:pPr lvl="1">
              <a:defRPr/>
            </a:pPr>
            <a:r>
              <a:rPr lang="zh-CN" altLang="en-US" sz="2000" dirty="0">
                <a:latin typeface="+mn-ea"/>
              </a:rPr>
              <a:t>每一个节在文件中是一块连续的字节（可为空）</a:t>
            </a:r>
            <a:endParaRPr lang="en-US" altLang="zh-CN" sz="2000" dirty="0">
              <a:latin typeface="+mn-ea"/>
            </a:endParaRPr>
          </a:p>
          <a:p>
            <a:pPr lvl="1">
              <a:defRPr/>
            </a:pPr>
            <a:r>
              <a:rPr lang="zh-CN" altLang="en-US" sz="2000" dirty="0">
                <a:latin typeface="+mn-ea"/>
              </a:rPr>
              <a:t>互不重叠</a:t>
            </a:r>
            <a:endParaRPr lang="en-US" altLang="zh-CN" sz="2000" dirty="0">
              <a:latin typeface="+mn-ea"/>
            </a:endParaRPr>
          </a:p>
          <a:p>
            <a:pPr>
              <a:defRPr/>
            </a:pPr>
            <a:r>
              <a:rPr lang="zh-CN" altLang="en-US" sz="2400" dirty="0">
                <a:latin typeface="+mn-ea"/>
              </a:rPr>
              <a:t>每一个节都有一个节头部描述</a:t>
            </a:r>
            <a:endParaRPr lang="en-US" altLang="zh-CN" sz="2400" dirty="0">
              <a:latin typeface="+mn-ea"/>
            </a:endParaRPr>
          </a:p>
          <a:p>
            <a:pPr lvl="1">
              <a:defRPr/>
            </a:pPr>
            <a:r>
              <a:rPr lang="zh-CN" altLang="en-US" sz="2000" dirty="0">
                <a:latin typeface="+mn-ea"/>
              </a:rPr>
              <a:t>节头部表的一项</a:t>
            </a:r>
            <a:endParaRPr lang="en-US" altLang="zh-CN" sz="2000" dirty="0">
              <a:latin typeface="+mn-ea"/>
            </a:endParaRP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A013C6E0-61E2-CAE3-2195-AF449890FE64}"/>
              </a:ext>
            </a:extLst>
          </p:cNvPr>
          <p:cNvSpPr/>
          <p:nvPr/>
        </p:nvSpPr>
        <p:spPr>
          <a:xfrm rot="10800000">
            <a:off x="2401189" y="4812237"/>
            <a:ext cx="674408" cy="29918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607015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22404-9F95-02EB-FB20-7F6EABDFA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1FEF90-DB3C-0EF7-2630-FD762B1DA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ELF</a:t>
            </a:r>
            <a:r>
              <a:rPr kumimoji="1" lang="zh-CN" altLang="en-US" dirty="0"/>
              <a:t>格式：可重定位目标文件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521A6C-A322-47D8-455C-1B03E84A6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18" name="左大括号 6">
            <a:extLst>
              <a:ext uri="{FF2B5EF4-FFF2-40B4-BE49-F238E27FC236}">
                <a16:creationId xmlns:a16="http://schemas.microsoft.com/office/drawing/2014/main" id="{31DD4F33-9798-31E9-2AF0-8D42F00F78B8}"/>
              </a:ext>
            </a:extLst>
          </p:cNvPr>
          <p:cNvSpPr>
            <a:spLocks/>
          </p:cNvSpPr>
          <p:nvPr/>
        </p:nvSpPr>
        <p:spPr bwMode="auto">
          <a:xfrm>
            <a:off x="484252" y="1428492"/>
            <a:ext cx="381000" cy="3365491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19C87D6D-FDC8-515D-0D8A-DB5F82AD3386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522218" y="2905694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" name="左大括号 8">
            <a:extLst>
              <a:ext uri="{FF2B5EF4-FFF2-40B4-BE49-F238E27FC236}">
                <a16:creationId xmlns:a16="http://schemas.microsoft.com/office/drawing/2014/main" id="{6CC4FE0E-C9A5-C245-50B4-3BED52B8C879}"/>
              </a:ext>
            </a:extLst>
          </p:cNvPr>
          <p:cNvSpPr>
            <a:spLocks/>
          </p:cNvSpPr>
          <p:nvPr/>
        </p:nvSpPr>
        <p:spPr bwMode="auto">
          <a:xfrm>
            <a:off x="484252" y="4793984"/>
            <a:ext cx="386292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FB347C4D-EB6D-DE8B-99FF-8082D482B446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377948" y="4753950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3C692CFB-F2A3-233F-4E51-9109EA138CAE}"/>
              </a:ext>
            </a:extLst>
          </p:cNvPr>
          <p:cNvGraphicFramePr>
            <a:graphicFrameLocks noGrp="1"/>
          </p:cNvGraphicFramePr>
          <p:nvPr/>
        </p:nvGraphicFramePr>
        <p:xfrm>
          <a:off x="873838" y="1068453"/>
          <a:ext cx="1421356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21356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ELF</a:t>
                      </a:r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头部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rodata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bss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470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64603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.debug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.line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strtab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16930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节头部表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  <p:sp>
        <p:nvSpPr>
          <p:cNvPr id="5" name="内容占位符 2">
            <a:extLst>
              <a:ext uri="{FF2B5EF4-FFF2-40B4-BE49-F238E27FC236}">
                <a16:creationId xmlns:a16="http://schemas.microsoft.com/office/drawing/2014/main" id="{CFE24134-D9F8-8A71-1F00-FB47948BC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1840" y="1175806"/>
            <a:ext cx="6012160" cy="3771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sz="2400" dirty="0"/>
              <a:t>节头部表（</a:t>
            </a:r>
            <a:r>
              <a:rPr kumimoji="1" lang="en-US" altLang="zh-CN" sz="2400" dirty="0"/>
              <a:t>Section Header Table</a:t>
            </a:r>
            <a:r>
              <a:rPr kumimoji="1" lang="zh-CN" altLang="en-US" sz="2400" dirty="0"/>
              <a:t>）</a:t>
            </a:r>
            <a:endParaRPr kumimoji="1" lang="en-US" altLang="zh-CN" sz="2400" dirty="0"/>
          </a:p>
          <a:p>
            <a:pPr>
              <a:defRPr/>
            </a:pPr>
            <a:r>
              <a:rPr lang="zh-CN" altLang="en-US" sz="2400" dirty="0">
                <a:latin typeface="+mn-ea"/>
              </a:rPr>
              <a:t>节（</a:t>
            </a:r>
            <a:r>
              <a:rPr lang="en-US" altLang="zh-CN" sz="2400" dirty="0">
                <a:latin typeface="+mn-ea"/>
              </a:rPr>
              <a:t>section</a:t>
            </a:r>
            <a:r>
              <a:rPr lang="zh-CN" altLang="en-US" sz="2400" dirty="0">
                <a:latin typeface="+mn-ea"/>
              </a:rPr>
              <a:t>）</a:t>
            </a:r>
            <a:endParaRPr lang="en-US" altLang="zh-CN" sz="2400" dirty="0">
              <a:latin typeface="+mn-ea"/>
            </a:endParaRPr>
          </a:p>
          <a:p>
            <a:pPr lvl="1">
              <a:defRPr/>
            </a:pPr>
            <a:r>
              <a:rPr lang="en-US" altLang="zh-CN" sz="2000" dirty="0">
                <a:latin typeface="+mn-ea"/>
              </a:rPr>
              <a:t>ELF</a:t>
            </a:r>
            <a:r>
              <a:rPr lang="zh-CN" altLang="en-US" sz="2000" dirty="0">
                <a:latin typeface="+mn-ea"/>
              </a:rPr>
              <a:t>文件中除了头部和头部表划分为若干区域</a:t>
            </a:r>
            <a:endParaRPr lang="en-US" altLang="zh-CN" sz="2000" dirty="0">
              <a:latin typeface="+mn-ea"/>
            </a:endParaRPr>
          </a:p>
          <a:p>
            <a:pPr lvl="1">
              <a:defRPr/>
            </a:pPr>
            <a:r>
              <a:rPr lang="zh-CN" altLang="en-US" sz="2000" dirty="0">
                <a:latin typeface="+mn-ea"/>
              </a:rPr>
              <a:t>每一个节在文件中是一块连续的字节（可为空）</a:t>
            </a:r>
            <a:endParaRPr lang="en-US" altLang="zh-CN" sz="2000" dirty="0">
              <a:latin typeface="+mn-ea"/>
            </a:endParaRPr>
          </a:p>
          <a:p>
            <a:pPr lvl="1">
              <a:defRPr/>
            </a:pPr>
            <a:r>
              <a:rPr lang="zh-CN" altLang="en-US" sz="2000" dirty="0">
                <a:latin typeface="+mn-ea"/>
              </a:rPr>
              <a:t>互不重叠</a:t>
            </a:r>
            <a:endParaRPr lang="en-US" altLang="zh-CN" sz="2000" dirty="0">
              <a:latin typeface="+mn-ea"/>
            </a:endParaRPr>
          </a:p>
          <a:p>
            <a:pPr>
              <a:defRPr/>
            </a:pPr>
            <a:r>
              <a:rPr lang="zh-CN" altLang="en-US" sz="2400" dirty="0">
                <a:latin typeface="+mn-ea"/>
              </a:rPr>
              <a:t>每一个节都有一个节头部描述</a:t>
            </a:r>
            <a:endParaRPr lang="en-US" altLang="zh-CN" sz="2400" dirty="0">
              <a:latin typeface="+mn-ea"/>
            </a:endParaRPr>
          </a:p>
          <a:p>
            <a:pPr lvl="1">
              <a:defRPr/>
            </a:pPr>
            <a:r>
              <a:rPr lang="zh-CN" altLang="en-US" sz="2000" dirty="0">
                <a:latin typeface="+mn-ea"/>
              </a:rPr>
              <a:t>节头部表的一项</a:t>
            </a:r>
            <a:endParaRPr lang="en-US" altLang="zh-CN" sz="2000" dirty="0">
              <a:latin typeface="+mn-ea"/>
            </a:endParaRP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AB865FB7-D2B9-8D86-D96D-0CB78F19265C}"/>
              </a:ext>
            </a:extLst>
          </p:cNvPr>
          <p:cNvSpPr/>
          <p:nvPr/>
        </p:nvSpPr>
        <p:spPr>
          <a:xfrm rot="10800000">
            <a:off x="2401189" y="4812237"/>
            <a:ext cx="674408" cy="29918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F954682-7133-D703-D0D9-9656064BD8B9}"/>
              </a:ext>
            </a:extLst>
          </p:cNvPr>
          <p:cNvSpPr txBox="1">
            <a:spLocks noChangeArrowheads="1"/>
          </p:cNvSpPr>
          <p:nvPr/>
        </p:nvSpPr>
        <p:spPr>
          <a:xfrm>
            <a:off x="3181591" y="1812222"/>
            <a:ext cx="7787208" cy="348474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typedef struct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Elf64_Word   </a:t>
            </a:r>
            <a:r>
              <a:rPr lang="en-US" altLang="zh-CN" sz="1800" b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sh_name</a:t>
            </a: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	/* Section name.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Elf64_Word   </a:t>
            </a:r>
            <a:r>
              <a:rPr lang="en-US" altLang="zh-CN" sz="1800" b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sh_type</a:t>
            </a: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	/* Section type.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Elf64_Xword  </a:t>
            </a:r>
            <a:r>
              <a:rPr lang="en-US" altLang="zh-CN" sz="1800" b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sh_flags</a:t>
            </a: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	/* Section flags.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Elf64_Addr   </a:t>
            </a:r>
            <a:r>
              <a:rPr lang="en-US" altLang="zh-CN" sz="1800" b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sh_addr</a:t>
            </a: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	/* Address in memory image.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Elf64_Off    </a:t>
            </a:r>
            <a:r>
              <a:rPr lang="en-US" altLang="zh-CN" sz="1800" b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sh_offset</a:t>
            </a: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	/* Offset in file.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Elf64_Xword  </a:t>
            </a:r>
            <a:r>
              <a:rPr lang="en-US" altLang="zh-CN" sz="1800" b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sh_size</a:t>
            </a: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	/* Size in bytes.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Elf64_Word   </a:t>
            </a:r>
            <a:r>
              <a:rPr lang="en-US" altLang="zh-CN" sz="1800" b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sh_link</a:t>
            </a: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	/* Index of a related section.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Elf64_Word   </a:t>
            </a:r>
            <a:r>
              <a:rPr lang="en-US" altLang="zh-CN" sz="1800" b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sh_info</a:t>
            </a: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	/* Depends on section type.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Elf64_Xword  </a:t>
            </a:r>
            <a:r>
              <a:rPr lang="en-US" altLang="zh-CN" sz="1800" b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sh_addralign</a:t>
            </a: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/* Alignment in bytes.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Elf64_Xword  </a:t>
            </a:r>
            <a:r>
              <a:rPr lang="en-US" altLang="zh-CN" sz="1800" b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sh_entsize</a:t>
            </a: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/* Size of each entry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} Elf64_Shdr;</a:t>
            </a:r>
          </a:p>
        </p:txBody>
      </p:sp>
    </p:spTree>
    <p:extLst>
      <p:ext uri="{BB962C8B-B14F-4D97-AF65-F5344CB8AC3E}">
        <p14:creationId xmlns:p14="http://schemas.microsoft.com/office/powerpoint/2010/main" val="23446970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8D39B6-3D32-1945-82D8-9F161D53E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节头部表（</a:t>
            </a:r>
            <a:r>
              <a:rPr kumimoji="1" lang="en-US" altLang="zh-CN" dirty="0"/>
              <a:t>Section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Header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B67917-9400-A749-B442-91AC317B2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sh_name</a:t>
            </a:r>
            <a:r>
              <a:rPr lang="pt-BR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</a:p>
          <a:p>
            <a:pPr lvl="1">
              <a:lnSpc>
                <a:spcPct val="110000"/>
              </a:lnSpc>
              <a:spcBef>
                <a:spcPct val="0"/>
              </a:spcBef>
            </a:pP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节名称（在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.</a:t>
            </a:r>
            <a:r>
              <a:rPr lang="en-US" altLang="zh-CN" dirty="0" err="1">
                <a:latin typeface="+mn-ea"/>
                <a:ea typeface="+mn-ea"/>
                <a:cs typeface="Times New Roman" panose="02020603050405020304" pitchFamily="18" charset="0"/>
              </a:rPr>
              <a:t>strtab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节中的偏移）</a:t>
            </a:r>
            <a:endParaRPr lang="pt-BR" altLang="zh-CN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sh_addr</a:t>
            </a:r>
            <a:endParaRPr lang="pt-BR" altLang="zh-CN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+mn-ea"/>
                <a:ea typeface="+mn-ea"/>
              </a:rPr>
              <a:t>节在加载到内存后，在内存的起始地址</a:t>
            </a:r>
            <a:endParaRPr lang="en-US" altLang="zh-CN" dirty="0">
              <a:latin typeface="+mn-ea"/>
              <a:ea typeface="+mn-ea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sh_offset</a:t>
            </a:r>
            <a:r>
              <a:rPr lang="pt-BR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节在文件中的偏移（字节数）</a:t>
            </a:r>
            <a:endParaRPr lang="en-US" altLang="zh-CN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sh_size</a:t>
            </a:r>
            <a:r>
              <a:rPr lang="pt-BR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10000"/>
              </a:lnSpc>
              <a:spcBef>
                <a:spcPct val="0"/>
              </a:spcBef>
            </a:pPr>
            <a:r>
              <a:rPr lang="zh-CN" altLang="en-US" dirty="0">
                <a:latin typeface="+mn-ea"/>
                <a:ea typeface="+mn-ea"/>
              </a:rPr>
              <a:t>节的大小（字节数）</a:t>
            </a:r>
            <a:endParaRPr lang="en-US" altLang="zh-CN" dirty="0">
              <a:latin typeface="+mn-ea"/>
              <a:ea typeface="+mn-ea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</a:rPr>
              <a:t>sh_addralign</a:t>
            </a:r>
            <a:r>
              <a:rPr lang="pt-BR" altLang="zh-CN" dirty="0">
                <a:ea typeface="宋体" panose="02010600030101010101" pitchFamily="2" charset="-122"/>
              </a:rPr>
              <a:t> </a:t>
            </a:r>
          </a:p>
          <a:p>
            <a:pPr lvl="1">
              <a:lnSpc>
                <a:spcPct val="110000"/>
              </a:lnSpc>
              <a:spcBef>
                <a:spcPct val="0"/>
              </a:spcBef>
            </a:pPr>
            <a:r>
              <a:rPr lang="zh-CN" altLang="en-US" dirty="0">
                <a:latin typeface="+mn-ea"/>
                <a:ea typeface="+mn-ea"/>
              </a:rPr>
              <a:t>对齐要求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CF19F6-412B-BA41-BC42-C92D33C2B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2148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CF0C9-ED2A-6C7C-98AF-A3CAA2DC7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1B5F91-1E44-ECD0-E70F-35F20745E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ELF</a:t>
            </a:r>
            <a:r>
              <a:rPr kumimoji="1" lang="zh-CN" altLang="en-US" dirty="0"/>
              <a:t>格式：可重定位目标文件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C80BDE-9C14-5DF3-C773-562C257B2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18" name="左大括号 6">
            <a:extLst>
              <a:ext uri="{FF2B5EF4-FFF2-40B4-BE49-F238E27FC236}">
                <a16:creationId xmlns:a16="http://schemas.microsoft.com/office/drawing/2014/main" id="{9FB311CC-6B70-80AF-D6A7-EA2A1708F980}"/>
              </a:ext>
            </a:extLst>
          </p:cNvPr>
          <p:cNvSpPr>
            <a:spLocks/>
          </p:cNvSpPr>
          <p:nvPr/>
        </p:nvSpPr>
        <p:spPr bwMode="auto">
          <a:xfrm>
            <a:off x="484252" y="1428492"/>
            <a:ext cx="381000" cy="3365491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C16900BE-2B87-46A2-A5EC-61CBFFCDFE01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522218" y="2905694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" name="左大括号 8">
            <a:extLst>
              <a:ext uri="{FF2B5EF4-FFF2-40B4-BE49-F238E27FC236}">
                <a16:creationId xmlns:a16="http://schemas.microsoft.com/office/drawing/2014/main" id="{A993060D-CE93-F1F9-E2BC-5405673B78D9}"/>
              </a:ext>
            </a:extLst>
          </p:cNvPr>
          <p:cNvSpPr>
            <a:spLocks/>
          </p:cNvSpPr>
          <p:nvPr/>
        </p:nvSpPr>
        <p:spPr bwMode="auto">
          <a:xfrm>
            <a:off x="484252" y="4793984"/>
            <a:ext cx="386292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6F4DB2FB-8E3A-7039-EFD3-24FC159F0097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377948" y="4753950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D3DAEAB4-E345-30DC-4B7D-B4C683A190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442303"/>
              </p:ext>
            </p:extLst>
          </p:nvPr>
        </p:nvGraphicFramePr>
        <p:xfrm>
          <a:off x="873838" y="1068453"/>
          <a:ext cx="1421356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21356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ELF</a:t>
                      </a:r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头部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rodata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bss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470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64603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2600"/>
                          </a:solidFill>
                        </a:rPr>
                        <a:t>.debug</a:t>
                      </a:r>
                      <a:endParaRPr lang="zh-CN" altLang="en-US" sz="1600" b="1" dirty="0">
                        <a:solidFill>
                          <a:srgbClr val="FF26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2600"/>
                          </a:solidFill>
                        </a:rPr>
                        <a:t>.line</a:t>
                      </a:r>
                      <a:endParaRPr lang="zh-CN" altLang="en-US" sz="1600" b="1" dirty="0">
                        <a:solidFill>
                          <a:srgbClr val="FF26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2600"/>
                          </a:solidFill>
                        </a:rPr>
                        <a:t>.</a:t>
                      </a:r>
                      <a:r>
                        <a:rPr lang="en-US" altLang="zh-CN" sz="1600" b="1" dirty="0" err="1">
                          <a:solidFill>
                            <a:srgbClr val="FF2600"/>
                          </a:solidFill>
                        </a:rPr>
                        <a:t>strtab</a:t>
                      </a:r>
                      <a:endParaRPr lang="zh-CN" altLang="en-US" sz="1600" b="1" dirty="0">
                        <a:solidFill>
                          <a:srgbClr val="FF26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16930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节头部表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  <p:sp>
        <p:nvSpPr>
          <p:cNvPr id="5" name="内容占位符 2">
            <a:extLst>
              <a:ext uri="{FF2B5EF4-FFF2-40B4-BE49-F238E27FC236}">
                <a16:creationId xmlns:a16="http://schemas.microsoft.com/office/drawing/2014/main" id="{2206BEB8-3A5F-B14A-C061-9583FE6F4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1840" y="1175806"/>
            <a:ext cx="6012160" cy="3771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sz="2400" dirty="0"/>
              <a:t>ELF</a:t>
            </a:r>
            <a:r>
              <a:rPr kumimoji="1" lang="zh-CN" altLang="en-US" sz="2400" dirty="0"/>
              <a:t>字符串表（</a:t>
            </a:r>
            <a:r>
              <a:rPr kumimoji="1" lang="en-US" altLang="zh-CN" sz="2400" dirty="0"/>
              <a:t>.</a:t>
            </a:r>
            <a:r>
              <a:rPr kumimoji="1" lang="en-US" altLang="zh-CN" sz="2400" dirty="0" err="1"/>
              <a:t>strtab</a:t>
            </a:r>
            <a:r>
              <a:rPr kumimoji="1" lang="zh-CN" altLang="en-US" sz="2400" dirty="0"/>
              <a:t>）</a:t>
            </a:r>
            <a:endParaRPr kumimoji="1" lang="en-US" altLang="zh-CN" sz="2400" dirty="0"/>
          </a:p>
          <a:p>
            <a:r>
              <a:rPr kumimoji="1" lang="zh-CN" altLang="en-US" sz="2400" dirty="0"/>
              <a:t>记录一系列</a:t>
            </a:r>
            <a:r>
              <a:rPr kumimoji="1" lang="en-US" altLang="zh-CN" sz="2400" dirty="0"/>
              <a:t>C</a:t>
            </a:r>
            <a:r>
              <a:rPr kumimoji="1" lang="zh-CN" altLang="en-US" sz="2400" dirty="0"/>
              <a:t>风格字符串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以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'\0’</a:t>
            </a:r>
            <a:r>
              <a:rPr kumimoji="1" lang="zh-CN" altLang="en-US" sz="2000" dirty="0"/>
              <a:t>结尾</a:t>
            </a:r>
            <a:endParaRPr kumimoji="1" lang="en-US" altLang="zh-CN" sz="2000" dirty="0"/>
          </a:p>
          <a:p>
            <a:r>
              <a:rPr kumimoji="1" lang="zh-CN" altLang="en-US" sz="2400" dirty="0"/>
              <a:t>表示符号名或节名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使用时记录字符串在表中的偏移（</a:t>
            </a:r>
            <a:r>
              <a:rPr kumimoji="1" lang="en-US" altLang="zh-CN" sz="2000" dirty="0"/>
              <a:t>index</a:t>
            </a:r>
            <a:r>
              <a:rPr kumimoji="1" lang="zh-CN" altLang="en-US" sz="2000" dirty="0"/>
              <a:t>）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13A79187-3457-1759-8D01-93181A60C90F}"/>
              </a:ext>
            </a:extLst>
          </p:cNvPr>
          <p:cNvSpPr/>
          <p:nvPr/>
        </p:nvSpPr>
        <p:spPr>
          <a:xfrm rot="10800000">
            <a:off x="2401189" y="4144649"/>
            <a:ext cx="674408" cy="29918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73D9F71-3CE5-D225-EF2D-CDDFA4CCAD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113796"/>
              </p:ext>
            </p:extLst>
          </p:nvPr>
        </p:nvGraphicFramePr>
        <p:xfrm>
          <a:off x="3377697" y="3771003"/>
          <a:ext cx="5520446" cy="1483360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637006">
                  <a:extLst>
                    <a:ext uri="{9D8B030D-6E8A-4147-A177-3AD203B41FA5}">
                      <a16:colId xmlns:a16="http://schemas.microsoft.com/office/drawing/2014/main" val="67857877"/>
                    </a:ext>
                  </a:extLst>
                </a:gridCol>
                <a:gridCol w="488344">
                  <a:extLst>
                    <a:ext uri="{9D8B030D-6E8A-4147-A177-3AD203B41FA5}">
                      <a16:colId xmlns:a16="http://schemas.microsoft.com/office/drawing/2014/main" val="3163307363"/>
                    </a:ext>
                  </a:extLst>
                </a:gridCol>
                <a:gridCol w="488344">
                  <a:extLst>
                    <a:ext uri="{9D8B030D-6E8A-4147-A177-3AD203B41FA5}">
                      <a16:colId xmlns:a16="http://schemas.microsoft.com/office/drawing/2014/main" val="4055417236"/>
                    </a:ext>
                  </a:extLst>
                </a:gridCol>
                <a:gridCol w="488344">
                  <a:extLst>
                    <a:ext uri="{9D8B030D-6E8A-4147-A177-3AD203B41FA5}">
                      <a16:colId xmlns:a16="http://schemas.microsoft.com/office/drawing/2014/main" val="367997986"/>
                    </a:ext>
                  </a:extLst>
                </a:gridCol>
                <a:gridCol w="488344">
                  <a:extLst>
                    <a:ext uri="{9D8B030D-6E8A-4147-A177-3AD203B41FA5}">
                      <a16:colId xmlns:a16="http://schemas.microsoft.com/office/drawing/2014/main" val="3733948872"/>
                    </a:ext>
                  </a:extLst>
                </a:gridCol>
                <a:gridCol w="488344">
                  <a:extLst>
                    <a:ext uri="{9D8B030D-6E8A-4147-A177-3AD203B41FA5}">
                      <a16:colId xmlns:a16="http://schemas.microsoft.com/office/drawing/2014/main" val="613019962"/>
                    </a:ext>
                  </a:extLst>
                </a:gridCol>
                <a:gridCol w="488344">
                  <a:extLst>
                    <a:ext uri="{9D8B030D-6E8A-4147-A177-3AD203B41FA5}">
                      <a16:colId xmlns:a16="http://schemas.microsoft.com/office/drawing/2014/main" val="3480997704"/>
                    </a:ext>
                  </a:extLst>
                </a:gridCol>
                <a:gridCol w="488344">
                  <a:extLst>
                    <a:ext uri="{9D8B030D-6E8A-4147-A177-3AD203B41FA5}">
                      <a16:colId xmlns:a16="http://schemas.microsoft.com/office/drawing/2014/main" val="1541768930"/>
                    </a:ext>
                  </a:extLst>
                </a:gridCol>
                <a:gridCol w="488344">
                  <a:extLst>
                    <a:ext uri="{9D8B030D-6E8A-4147-A177-3AD203B41FA5}">
                      <a16:colId xmlns:a16="http://schemas.microsoft.com/office/drawing/2014/main" val="3027071959"/>
                    </a:ext>
                  </a:extLst>
                </a:gridCol>
                <a:gridCol w="488344">
                  <a:extLst>
                    <a:ext uri="{9D8B030D-6E8A-4147-A177-3AD203B41FA5}">
                      <a16:colId xmlns:a16="http://schemas.microsoft.com/office/drawing/2014/main" val="792313152"/>
                    </a:ext>
                  </a:extLst>
                </a:gridCol>
                <a:gridCol w="488344">
                  <a:extLst>
                    <a:ext uri="{9D8B030D-6E8A-4147-A177-3AD203B41FA5}">
                      <a16:colId xmlns:a16="http://schemas.microsoft.com/office/drawing/2014/main" val="2267287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idx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+9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0228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\0</a:t>
                      </a:r>
                      <a:endParaRPr lang="zh-CN" altLang="en-US" dirty="0">
                        <a:solidFill>
                          <a:srgbClr val="C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\0</a:t>
                      </a:r>
                      <a:endParaRPr lang="zh-CN" altLang="en-US" dirty="0">
                        <a:solidFill>
                          <a:srgbClr val="C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620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\0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2170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\0</a:t>
                      </a:r>
                      <a:endParaRPr lang="zh-CN" altLang="en-US" dirty="0">
                        <a:solidFill>
                          <a:srgbClr val="C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\0</a:t>
                      </a:r>
                      <a:endParaRPr lang="zh-CN" altLang="en-US" dirty="0">
                        <a:solidFill>
                          <a:srgbClr val="C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\0</a:t>
                      </a:r>
                      <a:endParaRPr lang="zh-CN" altLang="en-US" dirty="0">
                        <a:solidFill>
                          <a:srgbClr val="C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4980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19582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C350E-DE21-3B21-443F-872284AB9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F90C3D-2C1C-3F86-8341-1EA3BE8D9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ELF</a:t>
            </a:r>
            <a:r>
              <a:rPr kumimoji="1" lang="zh-CN" altLang="en-US" dirty="0"/>
              <a:t>格式：可重定位目标文件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219CF6-5EC1-EE97-D19B-9CC306826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18" name="左大括号 6">
            <a:extLst>
              <a:ext uri="{FF2B5EF4-FFF2-40B4-BE49-F238E27FC236}">
                <a16:creationId xmlns:a16="http://schemas.microsoft.com/office/drawing/2014/main" id="{B9ECA12E-E50E-E913-8879-696103A65748}"/>
              </a:ext>
            </a:extLst>
          </p:cNvPr>
          <p:cNvSpPr>
            <a:spLocks/>
          </p:cNvSpPr>
          <p:nvPr/>
        </p:nvSpPr>
        <p:spPr bwMode="auto">
          <a:xfrm>
            <a:off x="484252" y="1428492"/>
            <a:ext cx="381000" cy="3365491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F756E309-FDE5-67F7-643A-1DD2B61B106B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522218" y="2905694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" name="左大括号 8">
            <a:extLst>
              <a:ext uri="{FF2B5EF4-FFF2-40B4-BE49-F238E27FC236}">
                <a16:creationId xmlns:a16="http://schemas.microsoft.com/office/drawing/2014/main" id="{7E954145-9289-F935-3CE6-19C87C92C17E}"/>
              </a:ext>
            </a:extLst>
          </p:cNvPr>
          <p:cNvSpPr>
            <a:spLocks/>
          </p:cNvSpPr>
          <p:nvPr/>
        </p:nvSpPr>
        <p:spPr bwMode="auto">
          <a:xfrm>
            <a:off x="484252" y="4793984"/>
            <a:ext cx="386292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2F945ED0-12BE-923A-E5C9-14212A92E2A0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377948" y="4753950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708618D9-86F6-DAFB-E2B9-F8DBEB6EBE8F}"/>
              </a:ext>
            </a:extLst>
          </p:cNvPr>
          <p:cNvGraphicFramePr>
            <a:graphicFrameLocks noGrp="1"/>
          </p:cNvGraphicFramePr>
          <p:nvPr/>
        </p:nvGraphicFramePr>
        <p:xfrm>
          <a:off x="873838" y="1068453"/>
          <a:ext cx="1421356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21356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ELF</a:t>
                      </a:r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头部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rodata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bss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470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64603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2600"/>
                          </a:solidFill>
                        </a:rPr>
                        <a:t>.debug</a:t>
                      </a:r>
                      <a:endParaRPr lang="zh-CN" altLang="en-US" sz="1600" b="1" dirty="0">
                        <a:solidFill>
                          <a:srgbClr val="FF26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2600"/>
                          </a:solidFill>
                        </a:rPr>
                        <a:t>.line</a:t>
                      </a:r>
                      <a:endParaRPr lang="zh-CN" altLang="en-US" sz="1600" b="1" dirty="0">
                        <a:solidFill>
                          <a:srgbClr val="FF26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2600"/>
                          </a:solidFill>
                        </a:rPr>
                        <a:t>.</a:t>
                      </a:r>
                      <a:r>
                        <a:rPr lang="en-US" altLang="zh-CN" sz="1600" b="1" dirty="0" err="1">
                          <a:solidFill>
                            <a:srgbClr val="FF2600"/>
                          </a:solidFill>
                        </a:rPr>
                        <a:t>strtab</a:t>
                      </a:r>
                      <a:endParaRPr lang="zh-CN" altLang="en-US" sz="1600" b="1" dirty="0">
                        <a:solidFill>
                          <a:srgbClr val="FF26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16930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节头部表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F588F4C-4970-AE8D-6E90-0065AA67C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1840" y="1175806"/>
            <a:ext cx="6012160" cy="377163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kumimoji="1" lang="zh-CN" altLang="en-US" sz="2400" dirty="0"/>
              <a:t>用于调试的节</a:t>
            </a:r>
            <a:endParaRPr kumimoji="1" lang="en-US" altLang="zh-CN" sz="2400" dirty="0"/>
          </a:p>
          <a:p>
            <a:r>
              <a:rPr lang="en-US" altLang="zh-CN" dirty="0">
                <a:ea typeface="宋体" panose="02010600030101010101" pitchFamily="2" charset="-122"/>
              </a:rPr>
              <a:t>.debug</a:t>
            </a:r>
          </a:p>
          <a:p>
            <a:pPr lvl="1"/>
            <a:r>
              <a:rPr lang="zh-CN" altLang="en-US" dirty="0">
                <a:latin typeface="+mn-ea"/>
              </a:rPr>
              <a:t>调试符号表，包括变量（全局、局部）、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typedef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>
                <a:latin typeface="+mn-ea"/>
              </a:rPr>
              <a:t>C</a:t>
            </a:r>
            <a:r>
              <a:rPr lang="zh-CN" altLang="en-US" dirty="0">
                <a:latin typeface="+mn-ea"/>
              </a:rPr>
              <a:t>源文件</a:t>
            </a:r>
            <a:endParaRPr lang="en-US" altLang="zh-CN" dirty="0">
              <a:latin typeface="+mn-ea"/>
            </a:endParaRPr>
          </a:p>
          <a:p>
            <a:pPr lvl="1"/>
            <a:r>
              <a:rPr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gcc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–g</a:t>
            </a:r>
            <a:r>
              <a:rPr lang="zh-CN" altLang="en-US" dirty="0">
                <a:latin typeface="+mn-ea"/>
              </a:rPr>
              <a:t>生成</a:t>
            </a:r>
            <a:endParaRPr lang="en-US" altLang="zh-CN" dirty="0">
              <a:latin typeface="+mn-ea"/>
            </a:endParaRPr>
          </a:p>
          <a:p>
            <a:r>
              <a:rPr lang="en-US" altLang="zh-CN" dirty="0">
                <a:latin typeface="+mn-ea"/>
              </a:rPr>
              <a:t>.line</a:t>
            </a:r>
          </a:p>
          <a:p>
            <a:pPr lvl="1"/>
            <a:r>
              <a:rPr lang="en-US" altLang="zh-CN" dirty="0">
                <a:latin typeface="+mn-ea"/>
              </a:rPr>
              <a:t>C</a:t>
            </a:r>
            <a:r>
              <a:rPr lang="zh-CN" altLang="en-US" dirty="0">
                <a:latin typeface="+mn-ea"/>
              </a:rPr>
              <a:t>源文件的行数与</a:t>
            </a:r>
            <a:r>
              <a:rPr lang="en-US" altLang="zh-CN" dirty="0">
                <a:latin typeface="+mn-ea"/>
              </a:rPr>
              <a:t>.text</a:t>
            </a:r>
            <a:r>
              <a:rPr lang="zh-CN" altLang="en-US" dirty="0">
                <a:latin typeface="+mn-ea"/>
              </a:rPr>
              <a:t>节中指令的映射</a:t>
            </a:r>
            <a:endParaRPr lang="en-US" altLang="zh-CN" dirty="0">
              <a:latin typeface="+mn-ea"/>
            </a:endParaRP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49E10307-D271-AD56-1043-BA0F0FD8BF73}"/>
              </a:ext>
            </a:extLst>
          </p:cNvPr>
          <p:cNvSpPr/>
          <p:nvPr/>
        </p:nvSpPr>
        <p:spPr>
          <a:xfrm rot="10800000">
            <a:off x="2401189" y="4144649"/>
            <a:ext cx="674408" cy="29918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9572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BE2A0-8E26-08BD-4D8C-149038012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102091-CBB5-7DC2-4BAE-4ED8C5F99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ELF</a:t>
            </a:r>
            <a:r>
              <a:rPr kumimoji="1" lang="zh-CN" altLang="en-US" dirty="0"/>
              <a:t>格式：可重定位目标文件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1340C0-6A50-3AB4-D0FE-1F97A8454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62</a:t>
            </a:fld>
            <a:endParaRPr lang="zh-CN" altLang="en-US"/>
          </a:p>
        </p:txBody>
      </p:sp>
      <p:sp>
        <p:nvSpPr>
          <p:cNvPr id="18" name="左大括号 6">
            <a:extLst>
              <a:ext uri="{FF2B5EF4-FFF2-40B4-BE49-F238E27FC236}">
                <a16:creationId xmlns:a16="http://schemas.microsoft.com/office/drawing/2014/main" id="{73928266-51F2-DF73-E28F-FA035B789117}"/>
              </a:ext>
            </a:extLst>
          </p:cNvPr>
          <p:cNvSpPr>
            <a:spLocks/>
          </p:cNvSpPr>
          <p:nvPr/>
        </p:nvSpPr>
        <p:spPr bwMode="auto">
          <a:xfrm>
            <a:off x="484252" y="1428492"/>
            <a:ext cx="381000" cy="3365491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FE1B0DDB-2A1A-7B6E-C07F-B9B888E3189C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522218" y="2905694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" name="左大括号 8">
            <a:extLst>
              <a:ext uri="{FF2B5EF4-FFF2-40B4-BE49-F238E27FC236}">
                <a16:creationId xmlns:a16="http://schemas.microsoft.com/office/drawing/2014/main" id="{D2A19512-E728-0D82-694A-AEB43EE650F5}"/>
              </a:ext>
            </a:extLst>
          </p:cNvPr>
          <p:cNvSpPr>
            <a:spLocks/>
          </p:cNvSpPr>
          <p:nvPr/>
        </p:nvSpPr>
        <p:spPr bwMode="auto">
          <a:xfrm>
            <a:off x="484252" y="4793984"/>
            <a:ext cx="386292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97B23E8A-B6AA-3957-F53F-8641DC39E50D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377948" y="4753950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BAE7D9A1-6732-6B0A-C87A-C59FC7EA9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550784"/>
              </p:ext>
            </p:extLst>
          </p:nvPr>
        </p:nvGraphicFramePr>
        <p:xfrm>
          <a:off x="873838" y="1068453"/>
          <a:ext cx="1421356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21356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ELF</a:t>
                      </a:r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头部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b="1" kern="1200" dirty="0">
                          <a:solidFill>
                            <a:srgbClr val="FF2600"/>
                          </a:solidFill>
                          <a:latin typeface="+mn-lt"/>
                          <a:ea typeface="+mn-ea"/>
                          <a:cs typeface="+mn-cs"/>
                        </a:rPr>
                        <a:t>.text</a:t>
                      </a:r>
                      <a:endParaRPr lang="zh-CN" altLang="en-US" sz="1600" b="1" kern="1200" dirty="0">
                        <a:solidFill>
                          <a:srgbClr val="FF26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b="1" kern="1200" dirty="0">
                          <a:solidFill>
                            <a:srgbClr val="FF2600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altLang="zh-CN" sz="1600" b="1" kern="1200" dirty="0" err="1">
                          <a:solidFill>
                            <a:srgbClr val="FF2600"/>
                          </a:solidFill>
                          <a:latin typeface="+mn-lt"/>
                          <a:ea typeface="+mn-ea"/>
                          <a:cs typeface="+mn-cs"/>
                        </a:rPr>
                        <a:t>rodata</a:t>
                      </a:r>
                      <a:endParaRPr lang="zh-CN" altLang="en-US" sz="1600" b="1" kern="1200" dirty="0">
                        <a:solidFill>
                          <a:srgbClr val="FF26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b="1" kern="1200" dirty="0">
                          <a:solidFill>
                            <a:srgbClr val="FF2600"/>
                          </a:solidFill>
                          <a:latin typeface="+mn-lt"/>
                          <a:ea typeface="+mn-ea"/>
                          <a:cs typeface="+mn-cs"/>
                        </a:rPr>
                        <a:t>.data</a:t>
                      </a:r>
                      <a:endParaRPr lang="zh-CN" altLang="en-US" sz="1600" b="1" kern="1200" dirty="0">
                        <a:solidFill>
                          <a:srgbClr val="FF26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b="1" kern="1200" dirty="0">
                          <a:solidFill>
                            <a:srgbClr val="FF2600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altLang="zh-CN" sz="1600" b="1" kern="1200" dirty="0" err="1">
                          <a:solidFill>
                            <a:srgbClr val="FF2600"/>
                          </a:solidFill>
                          <a:latin typeface="+mn-lt"/>
                          <a:ea typeface="+mn-ea"/>
                          <a:cs typeface="+mn-cs"/>
                        </a:rPr>
                        <a:t>bss</a:t>
                      </a:r>
                      <a:endParaRPr lang="zh-CN" altLang="en-US" sz="1600" b="1" kern="1200" dirty="0">
                        <a:solidFill>
                          <a:srgbClr val="FF26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470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64603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.debug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.line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altLang="zh-CN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strtab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16930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节头部表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CEAC6DC-ECAF-22DF-9DCE-582B84ABE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1840" y="1175806"/>
            <a:ext cx="6012160" cy="377163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kumimoji="1" lang="zh-CN" altLang="en-US" sz="2400" dirty="0"/>
              <a:t>代码与数据节</a:t>
            </a:r>
            <a:endParaRPr kumimoji="1" lang="en-US" altLang="zh-CN" sz="2400" dirty="0"/>
          </a:p>
          <a:p>
            <a:r>
              <a:rPr kumimoji="1" lang="en-US" altLang="zh-CN" dirty="0"/>
              <a:t>.text</a:t>
            </a:r>
            <a:r>
              <a:rPr kumimoji="1" lang="zh-CN" altLang="en-US" dirty="0"/>
              <a:t>：代码</a:t>
            </a:r>
            <a:endParaRPr kumimoji="1" lang="en-US" altLang="zh-CN" dirty="0"/>
          </a:p>
          <a:p>
            <a:r>
              <a:rPr kumimoji="1" lang="en-US" altLang="zh-CN" dirty="0"/>
              <a:t>.</a:t>
            </a:r>
            <a:r>
              <a:rPr kumimoji="1" lang="en-US" altLang="zh-CN" dirty="0" err="1"/>
              <a:t>rodata</a:t>
            </a:r>
            <a:r>
              <a:rPr kumimoji="1" lang="zh-CN" altLang="en-US" dirty="0"/>
              <a:t>：只读数据</a:t>
            </a:r>
            <a:endParaRPr kumimoji="1" lang="en-US" altLang="zh-CN" dirty="0"/>
          </a:p>
          <a:p>
            <a:r>
              <a:rPr kumimoji="1" lang="en-US" altLang="zh-CN" dirty="0"/>
              <a:t>.data</a:t>
            </a:r>
            <a:r>
              <a:rPr kumimoji="1" lang="zh-CN" altLang="en-US" dirty="0"/>
              <a:t>：初始化的全局变量和静态变量</a:t>
            </a:r>
            <a:endParaRPr kumimoji="1" lang="en-US" altLang="zh-CN" dirty="0"/>
          </a:p>
          <a:p>
            <a:r>
              <a:rPr kumimoji="1" lang="en-US" altLang="zh-CN" dirty="0"/>
              <a:t>.</a:t>
            </a:r>
            <a:r>
              <a:rPr kumimoji="1" lang="en-US" altLang="zh-CN" dirty="0" err="1"/>
              <a:t>bss</a:t>
            </a:r>
            <a:r>
              <a:rPr kumimoji="1" lang="zh-CN" altLang="en-US" dirty="0"/>
              <a:t>：未初始化的全局变量和静态变量</a:t>
            </a:r>
            <a:endParaRPr kumimoji="1" lang="en-US" altLang="zh-CN" dirty="0"/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“Block Started by Symbol”</a:t>
            </a:r>
            <a:r>
              <a:rPr lang="zh-CN" altLang="en-US" dirty="0">
                <a:ea typeface="宋体" panose="02010600030101010101" pitchFamily="2" charset="-122"/>
              </a:rPr>
              <a:t>，</a:t>
            </a:r>
            <a:r>
              <a:rPr lang="en-US" altLang="zh-CN" dirty="0">
                <a:ea typeface="宋体" panose="02010600030101010101" pitchFamily="2" charset="-122"/>
              </a:rPr>
              <a:t>“Better Save Space”</a:t>
            </a:r>
          </a:p>
          <a:p>
            <a:pPr lvl="1"/>
            <a:r>
              <a:rPr kumimoji="1" lang="zh-CN" altLang="en-US" dirty="0"/>
              <a:t>不占文件空间，但是在节头部表中有记录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运行时分配内存，默认为</a:t>
            </a:r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EC9852AE-0BFC-3E14-0750-57EA3C45A3A1}"/>
              </a:ext>
            </a:extLst>
          </p:cNvPr>
          <p:cNvSpPr/>
          <p:nvPr/>
        </p:nvSpPr>
        <p:spPr>
          <a:xfrm rot="10800000">
            <a:off x="2348333" y="1981947"/>
            <a:ext cx="674408" cy="29918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617674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0033D-A001-6454-683B-4AE680E6A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F2E03D-B0C6-4312-D0DA-54ABEA759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ELF</a:t>
            </a:r>
            <a:r>
              <a:rPr kumimoji="1" lang="zh-CN" altLang="en-US" dirty="0"/>
              <a:t>格式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F5C8FF-7869-0C1B-B4D1-09B26A52D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/>
          </a:p>
        </p:txBody>
      </p:sp>
      <p:sp>
        <p:nvSpPr>
          <p:cNvPr id="18" name="左大括号 6">
            <a:extLst>
              <a:ext uri="{FF2B5EF4-FFF2-40B4-BE49-F238E27FC236}">
                <a16:creationId xmlns:a16="http://schemas.microsoft.com/office/drawing/2014/main" id="{69B47BCB-E2A6-272C-8A3E-F04E800005A2}"/>
              </a:ext>
            </a:extLst>
          </p:cNvPr>
          <p:cNvSpPr>
            <a:spLocks/>
          </p:cNvSpPr>
          <p:nvPr/>
        </p:nvSpPr>
        <p:spPr bwMode="auto">
          <a:xfrm>
            <a:off x="1638426" y="1401447"/>
            <a:ext cx="381000" cy="3365491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EF8F499E-933B-7A3C-EDD3-710B2ACFB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52" y="2909753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" name="左大括号 8">
            <a:extLst>
              <a:ext uri="{FF2B5EF4-FFF2-40B4-BE49-F238E27FC236}">
                <a16:creationId xmlns:a16="http://schemas.microsoft.com/office/drawing/2014/main" id="{B1C6584D-B2ED-7C5C-7943-846F5D71170D}"/>
              </a:ext>
            </a:extLst>
          </p:cNvPr>
          <p:cNvSpPr>
            <a:spLocks/>
          </p:cNvSpPr>
          <p:nvPr/>
        </p:nvSpPr>
        <p:spPr bwMode="auto">
          <a:xfrm>
            <a:off x="1638426" y="4766939"/>
            <a:ext cx="386292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AA40BC81-CDBE-A9AB-F204-90DD3D325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222" y="4724978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01712A1C-63A5-17AD-06C4-6AD08AA79EE3}"/>
              </a:ext>
            </a:extLst>
          </p:cNvPr>
          <p:cNvGraphicFramePr>
            <a:graphicFrameLocks noGrp="1"/>
          </p:cNvGraphicFramePr>
          <p:nvPr/>
        </p:nvGraphicFramePr>
        <p:xfrm>
          <a:off x="2028012" y="1041408"/>
          <a:ext cx="1421356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21356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ELF</a:t>
                      </a:r>
                      <a:r>
                        <a:rPr lang="zh-CN" altLang="en-US" sz="1600" dirty="0"/>
                        <a:t>头部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rodata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bss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470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64603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.debug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.line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strtab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节头部表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  <p:sp>
        <p:nvSpPr>
          <p:cNvPr id="5" name="左大括号 6">
            <a:extLst>
              <a:ext uri="{FF2B5EF4-FFF2-40B4-BE49-F238E27FC236}">
                <a16:creationId xmlns:a16="http://schemas.microsoft.com/office/drawing/2014/main" id="{F7F5EB25-5705-8702-01D9-AD7EBD178F69}"/>
              </a:ext>
            </a:extLst>
          </p:cNvPr>
          <p:cNvSpPr>
            <a:spLocks/>
          </p:cNvSpPr>
          <p:nvPr/>
        </p:nvSpPr>
        <p:spPr bwMode="auto">
          <a:xfrm>
            <a:off x="5374870" y="1689480"/>
            <a:ext cx="174733" cy="3077458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文本框 7">
            <a:extLst>
              <a:ext uri="{FF2B5EF4-FFF2-40B4-BE49-F238E27FC236}">
                <a16:creationId xmlns:a16="http://schemas.microsoft.com/office/drawing/2014/main" id="{2789F274-EFBF-2E86-E698-12DEECC72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050" y="3017419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7" name="左大括号 8">
            <a:extLst>
              <a:ext uri="{FF2B5EF4-FFF2-40B4-BE49-F238E27FC236}">
                <a16:creationId xmlns:a16="http://schemas.microsoft.com/office/drawing/2014/main" id="{A67603B3-1ABD-A89F-0197-E2F0D0D1D255}"/>
              </a:ext>
            </a:extLst>
          </p:cNvPr>
          <p:cNvSpPr>
            <a:spLocks/>
          </p:cNvSpPr>
          <p:nvPr/>
        </p:nvSpPr>
        <p:spPr bwMode="auto">
          <a:xfrm>
            <a:off x="5374870" y="4766939"/>
            <a:ext cx="177160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8" name="文本框 25">
            <a:extLst>
              <a:ext uri="{FF2B5EF4-FFF2-40B4-BE49-F238E27FC236}">
                <a16:creationId xmlns:a16="http://schemas.microsoft.com/office/drawing/2014/main" id="{7B24DA5E-899A-28FF-52D4-543C16093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6320" y="4726905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9" name="表格 22">
            <a:extLst>
              <a:ext uri="{FF2B5EF4-FFF2-40B4-BE49-F238E27FC236}">
                <a16:creationId xmlns:a16="http://schemas.microsoft.com/office/drawing/2014/main" id="{63FA6AED-A159-918D-505B-E52FD2637CB3}"/>
              </a:ext>
            </a:extLst>
          </p:cNvPr>
          <p:cNvGraphicFramePr>
            <a:graphicFrameLocks noGrp="1"/>
          </p:cNvGraphicFramePr>
          <p:nvPr/>
        </p:nvGraphicFramePr>
        <p:xfrm>
          <a:off x="5590206" y="1041408"/>
          <a:ext cx="1268296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268296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ELF</a:t>
                      </a:r>
                      <a:r>
                        <a:rPr lang="zh-CN" altLang="en-US" sz="1600" dirty="0"/>
                        <a:t>头部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程序头部表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38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789230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init</a:t>
                      </a:r>
                      <a:endParaRPr lang="zh-CN" altLang="en-US" sz="1600" dirty="0"/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077523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.text</a:t>
                      </a:r>
                      <a:endParaRPr lang="zh-CN" altLang="en-US" sz="1600" dirty="0"/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rodata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bss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.debug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.line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strtab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节头部表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  <p:sp>
        <p:nvSpPr>
          <p:cNvPr id="10" name="左大括号 8">
            <a:extLst>
              <a:ext uri="{FF2B5EF4-FFF2-40B4-BE49-F238E27FC236}">
                <a16:creationId xmlns:a16="http://schemas.microsoft.com/office/drawing/2014/main" id="{541BE3EF-8876-AD03-FC09-9CF86AB52F23}"/>
              </a:ext>
            </a:extLst>
          </p:cNvPr>
          <p:cNvSpPr>
            <a:spLocks/>
          </p:cNvSpPr>
          <p:nvPr/>
        </p:nvSpPr>
        <p:spPr bwMode="auto">
          <a:xfrm>
            <a:off x="5374870" y="1379271"/>
            <a:ext cx="177160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1" name="文本框 25">
            <a:extLst>
              <a:ext uri="{FF2B5EF4-FFF2-40B4-BE49-F238E27FC236}">
                <a16:creationId xmlns:a16="http://schemas.microsoft.com/office/drawing/2014/main" id="{274BD2A8-3A5D-6633-1CF2-ED42B4AE3B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2188" y="1230018"/>
            <a:ext cx="1556836" cy="605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文件的节到内存段的映射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8B9E76-25F1-6DED-85FD-591580F75321}"/>
              </a:ext>
            </a:extLst>
          </p:cNvPr>
          <p:cNvSpPr txBox="1"/>
          <p:nvPr/>
        </p:nvSpPr>
        <p:spPr>
          <a:xfrm>
            <a:off x="1573776" y="526443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可重定位目标文件</a:t>
            </a:r>
            <a:endParaRPr lang="en-C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715002-8693-7555-7473-FD8386A7C477}"/>
              </a:ext>
            </a:extLst>
          </p:cNvPr>
          <p:cNvSpPr txBox="1"/>
          <p:nvPr/>
        </p:nvSpPr>
        <p:spPr>
          <a:xfrm>
            <a:off x="5281587" y="527190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FF2600"/>
                </a:solidFill>
              </a:rPr>
              <a:t>可执行目标文件</a:t>
            </a:r>
            <a:endParaRPr lang="en-CN" b="1" dirty="0">
              <a:solidFill>
                <a:srgbClr val="FF2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18614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DD344-AA4C-6FF4-28E7-8501E9E7D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549F33-EE36-CC49-472D-6A712EE61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可执行目标文件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D86957-C724-77BF-6277-46822AA89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64</a:t>
            </a:fld>
            <a:endParaRPr lang="zh-CN" altLang="en-US"/>
          </a:p>
        </p:txBody>
      </p:sp>
      <p:sp>
        <p:nvSpPr>
          <p:cNvPr id="18" name="左大括号 6">
            <a:extLst>
              <a:ext uri="{FF2B5EF4-FFF2-40B4-BE49-F238E27FC236}">
                <a16:creationId xmlns:a16="http://schemas.microsoft.com/office/drawing/2014/main" id="{9A1F1994-DC5B-D2BB-6F87-A09624D8062F}"/>
              </a:ext>
            </a:extLst>
          </p:cNvPr>
          <p:cNvSpPr>
            <a:spLocks/>
          </p:cNvSpPr>
          <p:nvPr/>
        </p:nvSpPr>
        <p:spPr bwMode="auto">
          <a:xfrm>
            <a:off x="749456" y="1767706"/>
            <a:ext cx="174733" cy="3077458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E9087C17-8975-F1CD-E14C-0830895354D5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234738" y="3065220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" name="左大括号 8">
            <a:extLst>
              <a:ext uri="{FF2B5EF4-FFF2-40B4-BE49-F238E27FC236}">
                <a16:creationId xmlns:a16="http://schemas.microsoft.com/office/drawing/2014/main" id="{1853486F-A27F-76CF-280D-39E425C4932B}"/>
              </a:ext>
            </a:extLst>
          </p:cNvPr>
          <p:cNvSpPr>
            <a:spLocks/>
          </p:cNvSpPr>
          <p:nvPr/>
        </p:nvSpPr>
        <p:spPr bwMode="auto">
          <a:xfrm>
            <a:off x="749456" y="4845165"/>
            <a:ext cx="177160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6156FDBA-BBD0-B585-6BE9-BC3B0A6C3C4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90468" y="4739396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3A03967C-C997-EFF8-4AAA-9C84809E18AC}"/>
              </a:ext>
            </a:extLst>
          </p:cNvPr>
          <p:cNvGraphicFramePr>
            <a:graphicFrameLocks noGrp="1"/>
          </p:cNvGraphicFramePr>
          <p:nvPr/>
        </p:nvGraphicFramePr>
        <p:xfrm>
          <a:off x="964792" y="1119634"/>
          <a:ext cx="1268296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268296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ELF</a:t>
                      </a:r>
                      <a:r>
                        <a:rPr lang="zh-CN" altLang="en-US" sz="1600" dirty="0"/>
                        <a:t>头部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程序头部表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38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789230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init</a:t>
                      </a:r>
                      <a:endParaRPr lang="zh-CN" altLang="en-US" sz="1600" dirty="0"/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077523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.text</a:t>
                      </a:r>
                      <a:endParaRPr lang="zh-CN" altLang="en-US" sz="1600" dirty="0"/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rodata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bss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.debug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.line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strtab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节头部表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  <p:sp>
        <p:nvSpPr>
          <p:cNvPr id="11" name="左大括号 8">
            <a:extLst>
              <a:ext uri="{FF2B5EF4-FFF2-40B4-BE49-F238E27FC236}">
                <a16:creationId xmlns:a16="http://schemas.microsoft.com/office/drawing/2014/main" id="{131757A4-818F-7BD8-CA86-F1B35E267FD4}"/>
              </a:ext>
            </a:extLst>
          </p:cNvPr>
          <p:cNvSpPr>
            <a:spLocks/>
          </p:cNvSpPr>
          <p:nvPr/>
        </p:nvSpPr>
        <p:spPr bwMode="auto">
          <a:xfrm>
            <a:off x="749456" y="1457497"/>
            <a:ext cx="177160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2" name="文本框 25">
            <a:extLst>
              <a:ext uri="{FF2B5EF4-FFF2-40B4-BE49-F238E27FC236}">
                <a16:creationId xmlns:a16="http://schemas.microsoft.com/office/drawing/2014/main" id="{1B9AFE54-1C6E-C50D-31B8-43394C6F8BA7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51974" y="1372502"/>
            <a:ext cx="1556836" cy="605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文件的节到内存段的映射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BFD446-F85E-83C9-7D4C-7EB29CDB9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4046" y="1250333"/>
            <a:ext cx="5122912" cy="3771636"/>
          </a:xfrm>
        </p:spPr>
        <p:txBody>
          <a:bodyPr>
            <a:normAutofit lnSpcReduction="10000"/>
          </a:bodyPr>
          <a:lstStyle/>
          <a:p>
            <a:r>
              <a:rPr kumimoji="1" lang="en-US" altLang="zh-CN" dirty="0"/>
              <a:t>ELF</a:t>
            </a:r>
            <a:r>
              <a:rPr kumimoji="1" lang="zh-CN" altLang="en-US" dirty="0"/>
              <a:t>头部（</a:t>
            </a:r>
            <a:r>
              <a:rPr kumimoji="1" lang="en-US" altLang="zh-CN" dirty="0"/>
              <a:t>ELF</a:t>
            </a:r>
            <a:r>
              <a:rPr kumimoji="1" lang="zh-CN" altLang="en-US" dirty="0"/>
              <a:t> </a:t>
            </a:r>
            <a:r>
              <a:rPr kumimoji="1" lang="en-US" altLang="zh-CN" dirty="0"/>
              <a:t>header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整体信息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程序入口 </a:t>
            </a:r>
            <a:r>
              <a:rPr kumimoji="1" lang="en-US" altLang="zh-CN" dirty="0"/>
              <a:t>(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e_entry</a:t>
            </a:r>
            <a:r>
              <a:rPr kumimoji="1" lang="en-US" altLang="zh-CN" dirty="0"/>
              <a:t>)</a:t>
            </a:r>
          </a:p>
          <a:p>
            <a:pPr lvl="1"/>
            <a:r>
              <a:rPr kumimoji="1" lang="zh-CN" altLang="en-US" dirty="0"/>
              <a:t>程序头部表信息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在文件中的起始位置（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e_phoff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大小</a:t>
            </a:r>
            <a:r>
              <a:rPr kumimoji="1" lang="zh-CN" altLang="en-US" dirty="0">
                <a:sym typeface="Wingdings" pitchFamily="2" charset="2"/>
              </a:rPr>
              <a:t>（</a:t>
            </a:r>
            <a:r>
              <a:rPr lang="en-US" altLang="zh-CN" dirty="0" err="1">
                <a:latin typeface="Consolas" panose="020B0609020204030204" pitchFamily="49" charset="0"/>
                <a:ea typeface="宋体" panose="02010600030101010101" pitchFamily="2" charset="-122"/>
              </a:rPr>
              <a:t>e_ehsize</a:t>
            </a:r>
            <a:r>
              <a:rPr kumimoji="1" lang="zh-CN" altLang="en-US" dirty="0">
                <a:sym typeface="Wingdings" pitchFamily="2" charset="2"/>
              </a:rPr>
              <a:t>）</a:t>
            </a:r>
            <a:endParaRPr kumimoji="1" lang="en-US" altLang="zh-CN" dirty="0"/>
          </a:p>
          <a:p>
            <a:pPr lvl="2"/>
            <a:r>
              <a:rPr lang="zh-CN" altLang="en-US" dirty="0">
                <a:latin typeface="+mn-ea"/>
                <a:ea typeface="+mn-ea"/>
              </a:rPr>
              <a:t>每个条目的大小</a:t>
            </a:r>
            <a:r>
              <a:rPr kumimoji="1" lang="zh-CN" altLang="en-US" dirty="0">
                <a:latin typeface="+mn-ea"/>
                <a:ea typeface="+mn-ea"/>
                <a:sym typeface="Wingdings" pitchFamily="2" charset="2"/>
              </a:rPr>
              <a:t>（</a:t>
            </a:r>
            <a:r>
              <a:rPr lang="en-US" altLang="zh-CN" dirty="0" err="1"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e_phentsize</a:t>
            </a:r>
            <a:r>
              <a:rPr kumimoji="1" lang="zh-CN" altLang="en-US" dirty="0">
                <a:latin typeface="+mn-ea"/>
                <a:ea typeface="+mn-ea"/>
                <a:sym typeface="Wingdings" pitchFamily="2" charset="2"/>
              </a:rPr>
              <a:t>）</a:t>
            </a:r>
            <a:endParaRPr kumimoji="1" lang="en-US" altLang="zh-CN" dirty="0">
              <a:latin typeface="+mn-ea"/>
              <a:ea typeface="+mn-ea"/>
              <a:sym typeface="Wingdings" pitchFamily="2" charset="2"/>
            </a:endParaRPr>
          </a:p>
          <a:p>
            <a:pPr lvl="2"/>
            <a:r>
              <a:rPr lang="zh-CN" altLang="en-US" dirty="0">
                <a:latin typeface="+mn-ea"/>
                <a:ea typeface="+mn-ea"/>
              </a:rPr>
              <a:t>条目数量（</a:t>
            </a:r>
            <a:r>
              <a:rPr lang="en-US" altLang="zh-CN" dirty="0" err="1"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e_phnum</a:t>
            </a:r>
            <a:r>
              <a:rPr lang="zh-CN" altLang="en-US" dirty="0">
                <a:latin typeface="+mn-ea"/>
                <a:ea typeface="+mn-ea"/>
              </a:rPr>
              <a:t>）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DA3A4189-5B1E-7A49-0A91-C783708D5490}"/>
              </a:ext>
            </a:extLst>
          </p:cNvPr>
          <p:cNvSpPr/>
          <p:nvPr/>
        </p:nvSpPr>
        <p:spPr>
          <a:xfrm rot="10800000">
            <a:off x="2387047" y="1123817"/>
            <a:ext cx="674408" cy="29918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392710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A08C1-848B-79FB-1E4F-668AC844B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DD1E4B-EC9D-782F-5293-93756C94D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可执行目标文件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856942-0EEC-B167-8278-86640BB1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65</a:t>
            </a:fld>
            <a:endParaRPr lang="zh-CN" altLang="en-US"/>
          </a:p>
        </p:txBody>
      </p:sp>
      <p:sp>
        <p:nvSpPr>
          <p:cNvPr id="18" name="左大括号 6">
            <a:extLst>
              <a:ext uri="{FF2B5EF4-FFF2-40B4-BE49-F238E27FC236}">
                <a16:creationId xmlns:a16="http://schemas.microsoft.com/office/drawing/2014/main" id="{FB5DFC5E-E45A-7892-8B40-DD3DD8DA96C8}"/>
              </a:ext>
            </a:extLst>
          </p:cNvPr>
          <p:cNvSpPr>
            <a:spLocks/>
          </p:cNvSpPr>
          <p:nvPr/>
        </p:nvSpPr>
        <p:spPr bwMode="auto">
          <a:xfrm>
            <a:off x="749456" y="1767706"/>
            <a:ext cx="174733" cy="3077458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E47544A5-B11D-6C57-D978-C0299025D268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234738" y="3065220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" name="左大括号 8">
            <a:extLst>
              <a:ext uri="{FF2B5EF4-FFF2-40B4-BE49-F238E27FC236}">
                <a16:creationId xmlns:a16="http://schemas.microsoft.com/office/drawing/2014/main" id="{EF9C316B-FC58-AFF0-AE04-8FB0462D4162}"/>
              </a:ext>
            </a:extLst>
          </p:cNvPr>
          <p:cNvSpPr>
            <a:spLocks/>
          </p:cNvSpPr>
          <p:nvPr/>
        </p:nvSpPr>
        <p:spPr bwMode="auto">
          <a:xfrm>
            <a:off x="749456" y="4845165"/>
            <a:ext cx="177160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9B292EAE-36AB-2BC1-A710-870CC94BC73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90468" y="4739396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22324D6B-F98D-7E6B-315B-8BEDC02CD7E3}"/>
              </a:ext>
            </a:extLst>
          </p:cNvPr>
          <p:cNvGraphicFramePr>
            <a:graphicFrameLocks noGrp="1"/>
          </p:cNvGraphicFramePr>
          <p:nvPr/>
        </p:nvGraphicFramePr>
        <p:xfrm>
          <a:off x="964792" y="1119634"/>
          <a:ext cx="1268296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268296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ELF</a:t>
                      </a:r>
                      <a:r>
                        <a:rPr lang="zh-CN" altLang="en-US" sz="1600" dirty="0"/>
                        <a:t>头部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程序头部表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38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789230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init</a:t>
                      </a:r>
                      <a:endParaRPr lang="zh-CN" altLang="en-US" sz="1600" dirty="0"/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077523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.text</a:t>
                      </a:r>
                      <a:endParaRPr lang="zh-CN" altLang="en-US" sz="1600" dirty="0"/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rodata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bss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.debug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.line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strtab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节头部表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  <p:sp>
        <p:nvSpPr>
          <p:cNvPr id="11" name="左大括号 8">
            <a:extLst>
              <a:ext uri="{FF2B5EF4-FFF2-40B4-BE49-F238E27FC236}">
                <a16:creationId xmlns:a16="http://schemas.microsoft.com/office/drawing/2014/main" id="{80E2AE94-B94F-9F29-CB9D-9CBEC447133A}"/>
              </a:ext>
            </a:extLst>
          </p:cNvPr>
          <p:cNvSpPr>
            <a:spLocks/>
          </p:cNvSpPr>
          <p:nvPr/>
        </p:nvSpPr>
        <p:spPr bwMode="auto">
          <a:xfrm>
            <a:off x="749456" y="1457497"/>
            <a:ext cx="177160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2" name="文本框 25">
            <a:extLst>
              <a:ext uri="{FF2B5EF4-FFF2-40B4-BE49-F238E27FC236}">
                <a16:creationId xmlns:a16="http://schemas.microsoft.com/office/drawing/2014/main" id="{FCB1BEF7-C389-7756-DED1-0410D9C49FF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51974" y="1372502"/>
            <a:ext cx="1556836" cy="605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文件的节到内存段的映射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BDF762D2-5CE3-793E-E93F-9989F8A2D82F}"/>
              </a:ext>
            </a:extLst>
          </p:cNvPr>
          <p:cNvSpPr/>
          <p:nvPr/>
        </p:nvSpPr>
        <p:spPr>
          <a:xfrm rot="10800000">
            <a:off x="2387047" y="1123817"/>
            <a:ext cx="674408" cy="29918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CAD00F5-A0DD-7417-369E-A7A0B7FCF1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7608" y="1040651"/>
            <a:ext cx="7571184" cy="419100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39" indent="-285739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33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9100" indent="-23811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2pPr>
            <a:lvl3pPr marL="952462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67">
                <a:solidFill>
                  <a:schemeClr val="tx1"/>
                </a:solidFill>
                <a:latin typeface="+mn-lt"/>
              </a:defRPr>
            </a:lvl3pPr>
            <a:lvl4pPr marL="1333447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67">
                <a:solidFill>
                  <a:schemeClr val="tx1"/>
                </a:solidFill>
                <a:latin typeface="+mn-lt"/>
              </a:defRPr>
            </a:lvl4pPr>
            <a:lvl5pPr marL="1714431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5pPr>
            <a:lvl6pPr marL="2095416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6pPr>
            <a:lvl7pPr marL="2476401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7pPr>
            <a:lvl8pPr marL="2857386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8pPr>
            <a:lvl9pPr marL="3238370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typedef  struct{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unsigned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char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e_ident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[16]; /* ELF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identification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e_type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Object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file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type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e_machine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Machine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type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Elf64_Word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e_version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Object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file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version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Elf64_Addr    </a:t>
            </a:r>
            <a:r>
              <a:rPr lang="pt-BR" altLang="zh-CN" sz="1667" kern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e_entry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Entry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point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address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Elf64_Off     </a:t>
            </a:r>
            <a:r>
              <a:rPr lang="pt-BR" altLang="zh-CN" sz="1667" kern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e_phoff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Prog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. header offset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Elf64_Off 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e_shoff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/* Sec. header offset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Elf64_Worda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e_flags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/* Processor-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specific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flags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e_ehsize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/* ELF header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size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e_phentsize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Size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of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prog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. header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entry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e_phnum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/* Num.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of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prog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. header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entries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e_shentsize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Size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of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sec. header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entry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e_shnum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/* Num.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of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sec. header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entries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e_shstrndx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/* Sec.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name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string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table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idx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} Elf64_Ehdr;</a:t>
            </a:r>
          </a:p>
        </p:txBody>
      </p:sp>
    </p:spTree>
    <p:extLst>
      <p:ext uri="{BB962C8B-B14F-4D97-AF65-F5344CB8AC3E}">
        <p14:creationId xmlns:p14="http://schemas.microsoft.com/office/powerpoint/2010/main" val="17783694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A8C63-70CB-C2AA-0A13-9A1873CBE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D9B533-1407-0F6D-D68D-3B80A5384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可执行目标文件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04C4AB-E460-B3A0-7156-4BD296DD9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66</a:t>
            </a:fld>
            <a:endParaRPr lang="zh-CN" altLang="en-US"/>
          </a:p>
        </p:txBody>
      </p:sp>
      <p:sp>
        <p:nvSpPr>
          <p:cNvPr id="18" name="左大括号 6">
            <a:extLst>
              <a:ext uri="{FF2B5EF4-FFF2-40B4-BE49-F238E27FC236}">
                <a16:creationId xmlns:a16="http://schemas.microsoft.com/office/drawing/2014/main" id="{BA1AA272-0727-1450-B9DC-F31F6326E0AF}"/>
              </a:ext>
            </a:extLst>
          </p:cNvPr>
          <p:cNvSpPr>
            <a:spLocks/>
          </p:cNvSpPr>
          <p:nvPr/>
        </p:nvSpPr>
        <p:spPr bwMode="auto">
          <a:xfrm>
            <a:off x="749456" y="1767706"/>
            <a:ext cx="174733" cy="3077458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191FA9C3-DE4C-A1BE-66DB-5C1B8046903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234738" y="3065220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" name="左大括号 8">
            <a:extLst>
              <a:ext uri="{FF2B5EF4-FFF2-40B4-BE49-F238E27FC236}">
                <a16:creationId xmlns:a16="http://schemas.microsoft.com/office/drawing/2014/main" id="{A2757414-E912-692B-EE1D-D689E09AF0E8}"/>
              </a:ext>
            </a:extLst>
          </p:cNvPr>
          <p:cNvSpPr>
            <a:spLocks/>
          </p:cNvSpPr>
          <p:nvPr/>
        </p:nvSpPr>
        <p:spPr bwMode="auto">
          <a:xfrm>
            <a:off x="749456" y="4845165"/>
            <a:ext cx="177160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79449EAD-56F9-DC73-7598-D54C9118E867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90468" y="4739396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3BB5AC99-D9E3-1634-1FC9-66DCA619533B}"/>
              </a:ext>
            </a:extLst>
          </p:cNvPr>
          <p:cNvGraphicFramePr>
            <a:graphicFrameLocks noGrp="1"/>
          </p:cNvGraphicFramePr>
          <p:nvPr/>
        </p:nvGraphicFramePr>
        <p:xfrm>
          <a:off x="964792" y="1119634"/>
          <a:ext cx="1268296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268296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ELF</a:t>
                      </a:r>
                      <a:r>
                        <a:rPr lang="zh-CN" altLang="en-US" sz="1600" dirty="0"/>
                        <a:t>头部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程序头部表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38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789230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init</a:t>
                      </a:r>
                      <a:endParaRPr lang="zh-CN" altLang="en-US" sz="1600" dirty="0"/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077523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.text</a:t>
                      </a:r>
                      <a:endParaRPr lang="zh-CN" altLang="en-US" sz="1600" dirty="0"/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rodata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bss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.debug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.line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strtab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节头部表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  <p:sp>
        <p:nvSpPr>
          <p:cNvPr id="11" name="左大括号 8">
            <a:extLst>
              <a:ext uri="{FF2B5EF4-FFF2-40B4-BE49-F238E27FC236}">
                <a16:creationId xmlns:a16="http://schemas.microsoft.com/office/drawing/2014/main" id="{010F90B2-5405-A2CA-71E6-1D5BEFFDBD76}"/>
              </a:ext>
            </a:extLst>
          </p:cNvPr>
          <p:cNvSpPr>
            <a:spLocks/>
          </p:cNvSpPr>
          <p:nvPr/>
        </p:nvSpPr>
        <p:spPr bwMode="auto">
          <a:xfrm>
            <a:off x="749456" y="1457497"/>
            <a:ext cx="177160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2" name="文本框 25">
            <a:extLst>
              <a:ext uri="{FF2B5EF4-FFF2-40B4-BE49-F238E27FC236}">
                <a16:creationId xmlns:a16="http://schemas.microsoft.com/office/drawing/2014/main" id="{EF7B5F44-D0DF-9F9D-8772-5292CB295C65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51974" y="1372502"/>
            <a:ext cx="1556836" cy="605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文件的节到内存段的映射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441473E5-3516-5C23-DBD4-B4BD8DA9AAE8}"/>
              </a:ext>
            </a:extLst>
          </p:cNvPr>
          <p:cNvSpPr/>
          <p:nvPr/>
        </p:nvSpPr>
        <p:spPr>
          <a:xfrm rot="10800000">
            <a:off x="2300434" y="1465230"/>
            <a:ext cx="674408" cy="29918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539B2BB-1859-02DD-09BD-3C225B1855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9792" y="1949675"/>
            <a:ext cx="7112000" cy="296416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39" indent="-285739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33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9100" indent="-23811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2pPr>
            <a:lvl3pPr marL="952462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67">
                <a:solidFill>
                  <a:schemeClr val="tx1"/>
                </a:solidFill>
                <a:latin typeface="+mn-lt"/>
              </a:defRPr>
            </a:lvl3pPr>
            <a:lvl4pPr marL="1333447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67">
                <a:solidFill>
                  <a:schemeClr val="tx1"/>
                </a:solidFill>
                <a:latin typeface="+mn-lt"/>
              </a:defRPr>
            </a:lvl4pPr>
            <a:lvl5pPr marL="1714431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5pPr>
            <a:lvl6pPr marL="2095416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6pPr>
            <a:lvl7pPr marL="2476401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7pPr>
            <a:lvl8pPr marL="2857386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8pPr>
            <a:lvl9pPr marL="3238370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typedef struct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Elf64_Word   </a:t>
            </a:r>
            <a:r>
              <a:rPr lang="en-US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p_type</a:t>
            </a: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/* Entry type.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Elf64_Word   </a:t>
            </a:r>
            <a:r>
              <a:rPr lang="en-US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p_flags</a:t>
            </a: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/* Access permission flags.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Elf64_Off    </a:t>
            </a:r>
            <a:r>
              <a:rPr lang="en-US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p_offset</a:t>
            </a: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/* File offset of contents.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Elf64_Addr   </a:t>
            </a:r>
            <a:r>
              <a:rPr lang="en-US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p_vaddr</a:t>
            </a: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/* Virtual address </a:t>
            </a:r>
            <a:b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</a:b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                      in memory image.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Elf64_Addr   </a:t>
            </a:r>
            <a:r>
              <a:rPr lang="en-US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p_paddr</a:t>
            </a: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/* Phys. address (not used).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Elf64_Xword  </a:t>
            </a:r>
            <a:r>
              <a:rPr lang="en-US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p_filesz</a:t>
            </a: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/* Size of contents in file.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Elf64_Xword  </a:t>
            </a:r>
            <a:r>
              <a:rPr lang="en-US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p_memsz</a:t>
            </a: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/* Size of contents in memory.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Elf64_Xword  </a:t>
            </a:r>
            <a:r>
              <a:rPr lang="en-US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p_align</a:t>
            </a: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/* Align. in memory and file.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} Elf64_Phdr;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1667" kern="0" dirty="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146ED09-63BE-CC28-5CAD-F8F33BCA7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4046" y="1250333"/>
            <a:ext cx="5122912" cy="3771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sz="2000" dirty="0"/>
              <a:t>程序头部表（</a:t>
            </a:r>
            <a:r>
              <a:rPr kumimoji="1" lang="en-US" altLang="zh-CN" sz="2000" dirty="0"/>
              <a:t>Program</a:t>
            </a:r>
            <a:r>
              <a:rPr kumimoji="1" lang="zh-CN" altLang="en-US" sz="2000" dirty="0"/>
              <a:t> </a:t>
            </a:r>
            <a:r>
              <a:rPr kumimoji="1" lang="en" altLang="zh-CN" sz="2000" dirty="0"/>
              <a:t>Header Table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7493219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37C3F-0856-BAD5-89DF-79C10D00C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7EE83D-097A-B8C7-EB7D-2A3F5195D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可执行目标文件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68C2CD-D9E4-546D-2D4D-9315FF253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67</a:t>
            </a:fld>
            <a:endParaRPr lang="zh-CN" altLang="en-US"/>
          </a:p>
        </p:txBody>
      </p:sp>
      <p:sp>
        <p:nvSpPr>
          <p:cNvPr id="18" name="左大括号 6">
            <a:extLst>
              <a:ext uri="{FF2B5EF4-FFF2-40B4-BE49-F238E27FC236}">
                <a16:creationId xmlns:a16="http://schemas.microsoft.com/office/drawing/2014/main" id="{8B2B0101-17F5-F136-77F7-1B06C2B6D79F}"/>
              </a:ext>
            </a:extLst>
          </p:cNvPr>
          <p:cNvSpPr>
            <a:spLocks/>
          </p:cNvSpPr>
          <p:nvPr/>
        </p:nvSpPr>
        <p:spPr bwMode="auto">
          <a:xfrm>
            <a:off x="749456" y="1767706"/>
            <a:ext cx="174733" cy="3077458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CD523965-5629-D839-FAD8-97E792C93D47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234738" y="3065220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" name="左大括号 8">
            <a:extLst>
              <a:ext uri="{FF2B5EF4-FFF2-40B4-BE49-F238E27FC236}">
                <a16:creationId xmlns:a16="http://schemas.microsoft.com/office/drawing/2014/main" id="{3A231FB6-D510-7A7A-1CFA-FDC2D74481FD}"/>
              </a:ext>
            </a:extLst>
          </p:cNvPr>
          <p:cNvSpPr>
            <a:spLocks/>
          </p:cNvSpPr>
          <p:nvPr/>
        </p:nvSpPr>
        <p:spPr bwMode="auto">
          <a:xfrm>
            <a:off x="749456" y="4845165"/>
            <a:ext cx="177160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A709016C-8961-8CFB-186C-B42BB5C9A7D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90468" y="4739396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10BD8851-6F9C-7B12-AECD-976EFD1A2E73}"/>
              </a:ext>
            </a:extLst>
          </p:cNvPr>
          <p:cNvGraphicFramePr>
            <a:graphicFrameLocks noGrp="1"/>
          </p:cNvGraphicFramePr>
          <p:nvPr/>
        </p:nvGraphicFramePr>
        <p:xfrm>
          <a:off x="964792" y="1119634"/>
          <a:ext cx="1268296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268296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ELF</a:t>
                      </a:r>
                      <a:r>
                        <a:rPr lang="zh-CN" altLang="en-US" sz="1600" dirty="0"/>
                        <a:t>头部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程序头部表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38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789230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init</a:t>
                      </a:r>
                      <a:endParaRPr lang="zh-CN" altLang="en-US" sz="1600" dirty="0"/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077523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.text</a:t>
                      </a:r>
                      <a:endParaRPr lang="zh-CN" altLang="en-US" sz="1600" dirty="0"/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rodata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bss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.debug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.line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strtab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节头部表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  <p:sp>
        <p:nvSpPr>
          <p:cNvPr id="11" name="左大括号 8">
            <a:extLst>
              <a:ext uri="{FF2B5EF4-FFF2-40B4-BE49-F238E27FC236}">
                <a16:creationId xmlns:a16="http://schemas.microsoft.com/office/drawing/2014/main" id="{307369C0-59E5-1945-2F77-997C23E1FBAD}"/>
              </a:ext>
            </a:extLst>
          </p:cNvPr>
          <p:cNvSpPr>
            <a:spLocks/>
          </p:cNvSpPr>
          <p:nvPr/>
        </p:nvSpPr>
        <p:spPr bwMode="auto">
          <a:xfrm>
            <a:off x="749456" y="1457497"/>
            <a:ext cx="177160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2" name="文本框 25">
            <a:extLst>
              <a:ext uri="{FF2B5EF4-FFF2-40B4-BE49-F238E27FC236}">
                <a16:creationId xmlns:a16="http://schemas.microsoft.com/office/drawing/2014/main" id="{BF01A794-C5E5-1120-4737-B969A39045B5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51974" y="1372502"/>
            <a:ext cx="1556836" cy="605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文件的节到内存段的映射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A1977DB-DDEB-FEEF-5D6A-28C2B6354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8759" y="1881004"/>
            <a:ext cx="7112000" cy="296416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39" indent="-285739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33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9100" indent="-23811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2pPr>
            <a:lvl3pPr marL="952462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67">
                <a:solidFill>
                  <a:schemeClr val="tx1"/>
                </a:solidFill>
                <a:latin typeface="+mn-lt"/>
              </a:defRPr>
            </a:lvl3pPr>
            <a:lvl4pPr marL="1333447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67">
                <a:solidFill>
                  <a:schemeClr val="tx1"/>
                </a:solidFill>
                <a:latin typeface="+mn-lt"/>
              </a:defRPr>
            </a:lvl4pPr>
            <a:lvl5pPr marL="1714431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5pPr>
            <a:lvl6pPr marL="2095416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6pPr>
            <a:lvl7pPr marL="2476401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7pPr>
            <a:lvl8pPr marL="2857386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8pPr>
            <a:lvl9pPr marL="3238370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typedef struct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Elf64_Word   </a:t>
            </a:r>
            <a:r>
              <a:rPr lang="en-US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p_type</a:t>
            </a: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/* Entry type.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Elf64_Word   </a:t>
            </a:r>
            <a:r>
              <a:rPr lang="en-US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p_flags</a:t>
            </a: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/* Access permission flags.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Elf64_Off    </a:t>
            </a:r>
            <a:r>
              <a:rPr lang="en-US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p_offset</a:t>
            </a: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/* File offset of contents.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Elf64_Addr   </a:t>
            </a:r>
            <a:r>
              <a:rPr lang="en-US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p_vaddr</a:t>
            </a: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/* Virtual address </a:t>
            </a:r>
            <a:b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</a:b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                      in memory image.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Elf64_Addr   </a:t>
            </a:r>
            <a:r>
              <a:rPr lang="en-US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p_paddr</a:t>
            </a: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/* Phys. address (not used).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Elf64_Xword  </a:t>
            </a:r>
            <a:r>
              <a:rPr lang="en-US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p_filesz</a:t>
            </a: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/* Size of contents in file.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Elf64_Xword  </a:t>
            </a:r>
            <a:r>
              <a:rPr lang="en-US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p_memsz</a:t>
            </a: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/* Size of contents in memory.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Elf64_Xword  </a:t>
            </a:r>
            <a:r>
              <a:rPr lang="en-US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p_align</a:t>
            </a: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/* Align. in memory and file.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} Elf64_Phdr;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1667" kern="0" dirty="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7" name="左大括号 6">
            <a:extLst>
              <a:ext uri="{FF2B5EF4-FFF2-40B4-BE49-F238E27FC236}">
                <a16:creationId xmlns:a16="http://schemas.microsoft.com/office/drawing/2014/main" id="{329ABE9A-A71C-2110-41D8-0797C953CD47}"/>
              </a:ext>
            </a:extLst>
          </p:cNvPr>
          <p:cNvSpPr>
            <a:spLocks/>
          </p:cNvSpPr>
          <p:nvPr/>
        </p:nvSpPr>
        <p:spPr bwMode="auto">
          <a:xfrm rot="10800000">
            <a:off x="2542292" y="1119635"/>
            <a:ext cx="381000" cy="1656184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8" name="文本框 25">
            <a:extLst>
              <a:ext uri="{FF2B5EF4-FFF2-40B4-BE49-F238E27FC236}">
                <a16:creationId xmlns:a16="http://schemas.microsoft.com/office/drawing/2014/main" id="{E485A81B-8F4E-B0B8-1642-54B950B47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3717" y="1699701"/>
            <a:ext cx="1556836" cy="60542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只读内存段</a:t>
            </a:r>
            <a:endParaRPr lang="en-US" altLang="zh-CN" sz="1667" dirty="0">
              <a:solidFill>
                <a:schemeClr val="bg1"/>
              </a:solidFill>
              <a:latin typeface="+mn-ea"/>
              <a:cs typeface="Times New Roman" panose="02020603050405020304" pitchFamily="18" charset="0"/>
            </a:endParaRPr>
          </a:p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（代码段）</a:t>
            </a:r>
          </a:p>
        </p:txBody>
      </p:sp>
      <p:sp>
        <p:nvSpPr>
          <p:cNvPr id="9" name="左大括号 6">
            <a:extLst>
              <a:ext uri="{FF2B5EF4-FFF2-40B4-BE49-F238E27FC236}">
                <a16:creationId xmlns:a16="http://schemas.microsoft.com/office/drawing/2014/main" id="{AFCDCE70-FA14-AFBF-E9D9-BB8140909991}"/>
              </a:ext>
            </a:extLst>
          </p:cNvPr>
          <p:cNvSpPr>
            <a:spLocks/>
          </p:cNvSpPr>
          <p:nvPr/>
        </p:nvSpPr>
        <p:spPr bwMode="auto">
          <a:xfrm rot="10800000">
            <a:off x="2550878" y="2803013"/>
            <a:ext cx="381000" cy="641511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" name="文本框 25">
            <a:extLst>
              <a:ext uri="{FF2B5EF4-FFF2-40B4-BE49-F238E27FC236}">
                <a16:creationId xmlns:a16="http://schemas.microsoft.com/office/drawing/2014/main" id="{12A53B2E-2695-422F-1E2E-5123861986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3717" y="2832589"/>
            <a:ext cx="1556836" cy="60542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读写内存段</a:t>
            </a:r>
            <a:endParaRPr lang="en-US" altLang="zh-CN" sz="1667" dirty="0">
              <a:solidFill>
                <a:schemeClr val="bg1"/>
              </a:solidFill>
              <a:latin typeface="+mn-ea"/>
              <a:cs typeface="Times New Roman" panose="02020603050405020304" pitchFamily="18" charset="0"/>
            </a:endParaRPr>
          </a:p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（数据段）</a:t>
            </a:r>
          </a:p>
        </p:txBody>
      </p:sp>
      <p:sp>
        <p:nvSpPr>
          <p:cNvPr id="13" name="左大括号 6">
            <a:extLst>
              <a:ext uri="{FF2B5EF4-FFF2-40B4-BE49-F238E27FC236}">
                <a16:creationId xmlns:a16="http://schemas.microsoft.com/office/drawing/2014/main" id="{F8ADFDEC-96F0-3156-2319-42E1E1DFF2B9}"/>
              </a:ext>
            </a:extLst>
          </p:cNvPr>
          <p:cNvSpPr>
            <a:spLocks/>
          </p:cNvSpPr>
          <p:nvPr/>
        </p:nvSpPr>
        <p:spPr bwMode="auto">
          <a:xfrm rot="10800000">
            <a:off x="2542292" y="3448323"/>
            <a:ext cx="381000" cy="1703759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4" name="文本框 25">
            <a:extLst>
              <a:ext uri="{FF2B5EF4-FFF2-40B4-BE49-F238E27FC236}">
                <a16:creationId xmlns:a16="http://schemas.microsoft.com/office/drawing/2014/main" id="{259BD5FE-AE4C-F973-4166-BD6C69AA2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6940" y="4018077"/>
            <a:ext cx="195039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4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符号表、调试信息等</a:t>
            </a:r>
            <a:endParaRPr lang="en-US" altLang="zh-CN" sz="1400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4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（不加载到内存）</a:t>
            </a:r>
          </a:p>
        </p:txBody>
      </p:sp>
    </p:spTree>
    <p:extLst>
      <p:ext uri="{BB962C8B-B14F-4D97-AF65-F5344CB8AC3E}">
        <p14:creationId xmlns:p14="http://schemas.microsoft.com/office/powerpoint/2010/main" val="24460740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148906-1BEC-8142-897A-FF24BF292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程序头部表（</a:t>
            </a:r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" altLang="zh-CN" dirty="0"/>
              <a:t>Header Table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02D4DC-71D6-F54A-97D6-4E54EBB97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-US" altLang="zh-CN" dirty="0"/>
              <a:t>(Segment)</a:t>
            </a:r>
            <a:r>
              <a:rPr kumimoji="1" lang="zh-CN" altLang="en-US" dirty="0"/>
              <a:t> </a:t>
            </a:r>
            <a:r>
              <a:rPr kumimoji="1" lang="en" altLang="zh-CN" dirty="0"/>
              <a:t>Header Table</a:t>
            </a:r>
          </a:p>
          <a:p>
            <a:pPr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p_type</a:t>
            </a:r>
            <a:endParaRPr lang="pt-BR" altLang="zh-CN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spcBef>
                <a:spcPct val="0"/>
              </a:spcBef>
            </a:pPr>
            <a:r>
              <a:rPr lang="pt-BR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PT_LOAD (1): 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可加载段</a:t>
            </a:r>
            <a:endParaRPr lang="pt-BR" altLang="zh-CN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p_flags</a:t>
            </a:r>
            <a:endParaRPr lang="pt-BR" altLang="zh-CN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spcBef>
                <a:spcPct val="0"/>
              </a:spcBef>
            </a:pPr>
            <a:r>
              <a:rPr lang="zh-CN" altLang="pt-BR" dirty="0">
                <a:latin typeface="+mn-ea"/>
                <a:ea typeface="+mn-ea"/>
                <a:cs typeface="Times New Roman" panose="02020603050405020304" pitchFamily="18" charset="0"/>
              </a:rPr>
              <a:t>运行时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权限</a:t>
            </a:r>
            <a:r>
              <a:rPr lang="pt-BR" altLang="zh-CN" dirty="0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rwx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endParaRPr lang="pt-BR" altLang="zh-CN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p_offset</a:t>
            </a:r>
            <a:endParaRPr lang="pt-BR" altLang="zh-CN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spcBef>
                <a:spcPct val="0"/>
              </a:spcBef>
            </a:pPr>
            <a:r>
              <a:rPr lang="zh-CN" altLang="pt-BR" dirty="0">
                <a:latin typeface="+mn-ea"/>
                <a:ea typeface="+mn-ea"/>
                <a:cs typeface="Times New Roman" panose="02020603050405020304" pitchFamily="18" charset="0"/>
              </a:rPr>
              <a:t>段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在文件中的起始偏移</a:t>
            </a:r>
            <a:endParaRPr lang="pt-BR" altLang="zh-CN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</a:rPr>
              <a:t>p_filesz</a:t>
            </a:r>
            <a:endParaRPr lang="pt-BR" altLang="zh-CN" dirty="0">
              <a:ea typeface="宋体" panose="02010600030101010101" pitchFamily="2" charset="-122"/>
            </a:endParaRPr>
          </a:p>
          <a:p>
            <a:pPr lvl="1">
              <a:spcBef>
                <a:spcPct val="0"/>
              </a:spcBef>
            </a:pPr>
            <a:r>
              <a:rPr lang="zh-CN" altLang="pt-BR" dirty="0">
                <a:latin typeface="+mn-ea"/>
                <a:ea typeface="+mn-ea"/>
              </a:rPr>
              <a:t>段</a:t>
            </a:r>
            <a:r>
              <a:rPr lang="zh-CN" altLang="en-US" dirty="0">
                <a:latin typeface="+mn-ea"/>
                <a:ea typeface="+mn-ea"/>
              </a:rPr>
              <a:t>在文件中的大小（</a:t>
            </a:r>
            <a:r>
              <a:rPr lang="pt-BR" altLang="zh-CN" dirty="0">
                <a:ea typeface="宋体" panose="02010600030101010101" pitchFamily="2" charset="-122"/>
                <a:sym typeface="Symbol" pitchFamily="2" charset="2"/>
              </a:rPr>
              <a:t></a:t>
            </a:r>
            <a:r>
              <a:rPr lang="zh-CN" altLang="en-US" dirty="0">
                <a:ea typeface="宋体" panose="02010600030101010101" pitchFamily="2" charset="-122"/>
                <a:sym typeface="Symbol" pitchFamily="2" charset="2"/>
              </a:rPr>
              <a:t> </a:t>
            </a:r>
            <a:r>
              <a:rPr lang="zh-CN" altLang="en-US" dirty="0">
                <a:latin typeface="+mn-ea"/>
                <a:ea typeface="+mn-ea"/>
                <a:sym typeface="Symbol" pitchFamily="2" charset="2"/>
              </a:rPr>
              <a:t>段在内存中的大小</a:t>
            </a:r>
            <a:r>
              <a:rPr lang="pt-BR" altLang="zh-CN" dirty="0" err="1">
                <a:ea typeface="宋体" panose="02010600030101010101" pitchFamily="2" charset="-122"/>
              </a:rPr>
              <a:t>p_memsz</a:t>
            </a:r>
            <a:r>
              <a:rPr lang="zh-CN" altLang="en-US" dirty="0">
                <a:latin typeface="+mn-ea"/>
                <a:ea typeface="+mn-ea"/>
              </a:rPr>
              <a:t>）</a:t>
            </a:r>
            <a:endParaRPr lang="pt-BR" altLang="zh-CN" dirty="0">
              <a:latin typeface="+mn-ea"/>
              <a:ea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3EDFA7-81D5-464A-B7CE-8717E1294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79465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148906-1BEC-8142-897A-FF24BF292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程序头部表（</a:t>
            </a:r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" altLang="zh-CN" dirty="0"/>
              <a:t>Header Table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02D4DC-71D6-F54A-97D6-4E54EBB97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p_vaddr</a:t>
            </a:r>
            <a:endParaRPr lang="pt-BR" altLang="zh-CN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spcBef>
                <a:spcPct val="0"/>
              </a:spcBef>
            </a:pPr>
            <a:r>
              <a:rPr lang="zh-CN" altLang="pt-BR" dirty="0">
                <a:latin typeface="+mn-ea"/>
                <a:ea typeface="+mn-ea"/>
                <a:cs typeface="Times New Roman" panose="02020603050405020304" pitchFamily="18" charset="0"/>
              </a:rPr>
              <a:t>段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在内存中的起始（虚拟）地址</a:t>
            </a:r>
            <a:endParaRPr lang="en-US" altLang="zh-CN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p_paddr</a:t>
            </a:r>
            <a:r>
              <a:rPr lang="pt-BR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pt-BR" altLang="zh-CN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pt-BR" dirty="0">
                <a:latin typeface="+mn-ea"/>
                <a:ea typeface="+mn-ea"/>
                <a:cs typeface="Times New Roman" panose="02020603050405020304" pitchFamily="18" charset="0"/>
              </a:rPr>
              <a:t>不常用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en" altLang="zh-CN" dirty="0"/>
              <a:t>x86</a:t>
            </a:r>
            <a:r>
              <a:rPr lang="zh-CN" altLang="en" dirty="0"/>
              <a:t>、</a:t>
            </a:r>
            <a:r>
              <a:rPr lang="en" altLang="zh-CN" dirty="0"/>
              <a:t>ARM </a:t>
            </a:r>
            <a:r>
              <a:rPr lang="zh-CN" altLang="en" dirty="0"/>
              <a:t>下</a:t>
            </a:r>
            <a:r>
              <a:rPr lang="zh-CN" altLang="en-US" dirty="0"/>
              <a:t>不用</a:t>
            </a:r>
            <a:r>
              <a:rPr lang="pt-BR" altLang="zh-CN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p_memsz</a:t>
            </a:r>
            <a:endParaRPr lang="pt-BR" altLang="zh-CN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spcBef>
                <a:spcPct val="0"/>
              </a:spcBef>
            </a:pP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段在内存中的大小</a:t>
            </a:r>
            <a:r>
              <a:rPr lang="pt-BR" altLang="zh-CN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pt-BR" altLang="zh-CN" dirty="0">
                <a:latin typeface="+mn-ea"/>
                <a:ea typeface="+mn-ea"/>
                <a:cs typeface="Times New Roman" panose="02020603050405020304" pitchFamily="18" charset="0"/>
                <a:sym typeface="Symbol" pitchFamily="2" charset="2"/>
              </a:rPr>
              <a:t></a:t>
            </a:r>
            <a:r>
              <a:rPr lang="pt-BR" altLang="zh-CN" dirty="0" err="1">
                <a:latin typeface="+mn-ea"/>
                <a:ea typeface="+mn-ea"/>
                <a:cs typeface="Times New Roman" panose="02020603050405020304" pitchFamily="18" charset="0"/>
              </a:rPr>
              <a:t>p_filesz</a:t>
            </a:r>
            <a:r>
              <a:rPr lang="pt-BR" altLang="zh-CN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endParaRPr lang="pt-BR" altLang="zh-CN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p_align</a:t>
            </a:r>
            <a:endParaRPr lang="pt-BR" altLang="zh-CN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spcBef>
                <a:spcPct val="0"/>
              </a:spcBef>
            </a:pPr>
            <a:r>
              <a:rPr lang="zh-CN" altLang="pt-BR" dirty="0">
                <a:latin typeface="+mn-ea"/>
                <a:ea typeface="+mn-ea"/>
                <a:cs typeface="Times New Roman" panose="02020603050405020304" pitchFamily="18" charset="0"/>
              </a:rPr>
              <a:t>段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起始地址的对齐要求</a:t>
            </a:r>
            <a:endParaRPr lang="pt-BR" altLang="zh-CN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lvl="1">
              <a:spcBef>
                <a:spcPct val="0"/>
              </a:spcBef>
            </a:pPr>
            <a:r>
              <a:rPr lang="zh-CN" altLang="pt-BR" dirty="0">
                <a:latin typeface="+mn-ea"/>
                <a:ea typeface="+mn-ea"/>
                <a:cs typeface="Times New Roman" panose="02020603050405020304" pitchFamily="18" charset="0"/>
              </a:rPr>
              <a:t>通常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为</a:t>
            </a:r>
            <a:r>
              <a:rPr lang="pt-BR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2^12 (4K) </a:t>
            </a:r>
            <a:r>
              <a:rPr lang="zh-CN" altLang="pt-BR" dirty="0">
                <a:latin typeface="+mn-ea"/>
                <a:ea typeface="+mn-ea"/>
                <a:cs typeface="Times New Roman" panose="02020603050405020304" pitchFamily="18" charset="0"/>
              </a:rPr>
              <a:t>或</a:t>
            </a:r>
            <a:r>
              <a:rPr lang="pt-BR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2^21 (2M)</a:t>
            </a:r>
            <a:endParaRPr lang="pt-BR" altLang="zh-CN" dirty="0">
              <a:latin typeface="+mn-ea"/>
              <a:ea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3EDFA7-81D5-464A-B7CE-8717E1294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462836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5156C8-A155-BB5F-EA46-63E0018C4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回顾：常见的进程虚拟内存布局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7A6150D-5960-A3CE-3F9C-3578CD687B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36" t="19404" r="34437" b="9960"/>
          <a:stretch/>
        </p:blipFill>
        <p:spPr>
          <a:xfrm>
            <a:off x="683568" y="1561356"/>
            <a:ext cx="2724627" cy="360040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FF0ADB-F1DA-F50F-5EE1-68BE9E04D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70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68B561-2ED1-ECBF-1705-E7736EDFF973}"/>
              </a:ext>
            </a:extLst>
          </p:cNvPr>
          <p:cNvSpPr txBox="1"/>
          <p:nvPr/>
        </p:nvSpPr>
        <p:spPr>
          <a:xfrm>
            <a:off x="5439079" y="1789534"/>
            <a:ext cx="20457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cat /proc/$PID/maps</a:t>
            </a:r>
            <a:endParaRPr kumimoji="1" lang="zh-CN" altLang="en-US" sz="16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7EF10C4-8765-1E5B-1C98-8D9AF07C6A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2128088"/>
            <a:ext cx="5220072" cy="2229933"/>
          </a:xfrm>
          <a:prstGeom prst="rect">
            <a:avLst/>
          </a:prstGeom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00092538-B236-3009-F0F4-705F268E8389}"/>
              </a:ext>
            </a:extLst>
          </p:cNvPr>
          <p:cNvSpPr/>
          <p:nvPr/>
        </p:nvSpPr>
        <p:spPr>
          <a:xfrm>
            <a:off x="2267744" y="4153644"/>
            <a:ext cx="1552628" cy="64807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DA837D6-4ACA-EB58-F9C7-71505AF617D6}"/>
              </a:ext>
            </a:extLst>
          </p:cNvPr>
          <p:cNvSpPr txBox="1"/>
          <p:nvPr/>
        </p:nvSpPr>
        <p:spPr>
          <a:xfrm>
            <a:off x="2195736" y="3012221"/>
            <a:ext cx="29527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600" dirty="0"/>
              <a:t>}</a:t>
            </a:r>
            <a:endParaRPr kumimoji="1" lang="zh-CN" altLang="en-US" sz="26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184396F-FE21-43E2-8EC3-FCD90DF9AD0D}"/>
              </a:ext>
            </a:extLst>
          </p:cNvPr>
          <p:cNvSpPr txBox="1"/>
          <p:nvPr/>
        </p:nvSpPr>
        <p:spPr>
          <a:xfrm>
            <a:off x="2366128" y="3073777"/>
            <a:ext cx="14542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/>
              <a:t>从代码库的</a:t>
            </a:r>
            <a:br>
              <a:rPr kumimoji="1" lang="en-US" altLang="zh-CN" sz="1100" dirty="0"/>
            </a:br>
            <a:r>
              <a:rPr kumimoji="1" lang="zh-CN" altLang="en-US" sz="1100" dirty="0"/>
              <a:t>共享目标文件中载入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46FDBE8-C3A1-3B69-29AE-AB990FE4ECD4}"/>
              </a:ext>
            </a:extLst>
          </p:cNvPr>
          <p:cNvSpPr/>
          <p:nvPr/>
        </p:nvSpPr>
        <p:spPr>
          <a:xfrm>
            <a:off x="2267744" y="2965512"/>
            <a:ext cx="1552628" cy="64807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472526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19D352-FA54-4DC6-8CA2-6C6329651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小结：进程使用内存资源（虚拟化</a:t>
            </a:r>
            <a:r>
              <a:rPr kumimoji="1" lang="en-US" altLang="zh-CN" dirty="0"/>
              <a:t>+</a:t>
            </a:r>
            <a:r>
              <a:rPr kumimoji="1" lang="zh-CN" altLang="en-US" dirty="0"/>
              <a:t>抽象）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5D2C1D-F88A-3850-92EC-26AB271B3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71</a:t>
            </a:fld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8216D65-9B69-5D7F-CCAF-84D18D705F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176" y="1057300"/>
            <a:ext cx="7451648" cy="4563999"/>
          </a:xfrm>
          <a:prstGeom prst="rect">
            <a:avLst/>
          </a:prstGeom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23BCCBAC-AA63-B04D-8A0F-02912E053A4E}"/>
              </a:ext>
            </a:extLst>
          </p:cNvPr>
          <p:cNvSpPr/>
          <p:nvPr/>
        </p:nvSpPr>
        <p:spPr>
          <a:xfrm>
            <a:off x="3923928" y="985292"/>
            <a:ext cx="2160240" cy="4615941"/>
          </a:xfrm>
          <a:prstGeom prst="roundRect">
            <a:avLst>
              <a:gd name="adj" fmla="val 6277"/>
            </a:avLst>
          </a:prstGeom>
          <a:solidFill>
            <a:srgbClr val="FF2600">
              <a:alpha val="12157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72250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B9028-CCC2-3AE7-C2B9-987416E9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文件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96DF6D-5573-10DF-36A5-22A7F59158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F2445D-FED5-C6D1-2BCB-0E11F75E8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17726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Unix</a:t>
            </a:r>
            <a:r>
              <a:rPr kumimoji="1" lang="zh-CN" altLang="en-US" dirty="0"/>
              <a:t> 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Unix</a:t>
            </a:r>
            <a:r>
              <a:rPr kumimoji="1"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文件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是一串字节序列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altLang="zh-CN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B</a:t>
            </a:r>
            <a:r>
              <a:rPr lang="en-US" altLang="zh-CN" baseline="-25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0</a:t>
            </a:r>
            <a:r>
              <a:rPr lang="en-US" altLang="zh-CN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,B</a:t>
            </a:r>
            <a:r>
              <a:rPr lang="en-US" altLang="zh-CN" baseline="-25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1</a:t>
            </a:r>
            <a:r>
              <a:rPr lang="en-US" altLang="zh-CN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,..., B</a:t>
            </a:r>
            <a:r>
              <a:rPr lang="en-US" altLang="zh-CN" baseline="-25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k</a:t>
            </a:r>
            <a:r>
              <a:rPr lang="en-US" altLang="zh-CN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,...,B</a:t>
            </a:r>
            <a:r>
              <a:rPr lang="en-US" altLang="zh-CN" baseline="-25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m</a:t>
            </a:r>
            <a:r>
              <a:rPr lang="en-US" altLang="zh-CN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endParaRPr kumimoji="1" lang="en-US" altLang="zh-CN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所有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IO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设备都被抽象成</a:t>
            </a:r>
            <a:r>
              <a:rPr kumimoji="1"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文件</a:t>
            </a:r>
            <a:endParaRPr kumimoji="1" lang="en-US" altLang="zh-CN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如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网络设备、硬盘、终端等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b="0" dirty="0">
                <a:latin typeface="Consolas" panose="020B0609020204030204" pitchFamily="49" charset="0"/>
                <a:cs typeface="Consolas" panose="020B0609020204030204" pitchFamily="49" charset="0"/>
              </a:rPr>
              <a:t>Unix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提供</a:t>
            </a:r>
            <a:r>
              <a:rPr kumimoji="1" lang="zh-CN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一个基于文件的底层应用接口，即 </a:t>
            </a:r>
            <a:r>
              <a:rPr kumimoji="1"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Unix</a:t>
            </a:r>
            <a:r>
              <a:rPr kumimoji="1" lang="zh-CN" alt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IO</a:t>
            </a:r>
          </a:p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所有输入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输出都是通过读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写文件完成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让所有输入输出都有统一的表现方式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kumimoji="1"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731178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文件类型</a:t>
            </a:r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普通文件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(regular file)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：包含任意数据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从应用程序的角度来看有两种</a:t>
            </a:r>
            <a:endParaRPr kumimoji="1" lang="en-US" altLang="zh-CN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kumimoji="1" lang="zh-CN" altLang="en-US" sz="2200" b="0" dirty="0">
                <a:latin typeface="Consolas" panose="020B0609020204030204" pitchFamily="49" charset="0"/>
                <a:cs typeface="Consolas" panose="020B0609020204030204" pitchFamily="49" charset="0"/>
              </a:rPr>
              <a:t>文本文件：仅包含</a:t>
            </a:r>
            <a:r>
              <a:rPr kumimoji="1" lang="en-US" altLang="zh-CN" sz="2200" b="0" dirty="0">
                <a:latin typeface="Consolas" panose="020B0609020204030204" pitchFamily="49" charset="0"/>
                <a:cs typeface="Consolas" panose="020B0609020204030204" pitchFamily="49" charset="0"/>
              </a:rPr>
              <a:t>ASCII</a:t>
            </a:r>
            <a:r>
              <a:rPr kumimoji="1" lang="zh-CN" altLang="en-US" sz="2200" b="0" dirty="0">
                <a:latin typeface="Consolas" panose="020B0609020204030204" pitchFamily="49" charset="0"/>
                <a:cs typeface="Consolas" panose="020B0609020204030204" pitchFamily="49" charset="0"/>
              </a:rPr>
              <a:t>或</a:t>
            </a:r>
            <a:r>
              <a:rPr kumimoji="1" lang="en-US" altLang="zh-CN" sz="2200" b="0" dirty="0">
                <a:latin typeface="Consolas" panose="020B0609020204030204" pitchFamily="49" charset="0"/>
                <a:cs typeface="Consolas" panose="020B0609020204030204" pitchFamily="49" charset="0"/>
              </a:rPr>
              <a:t>Unicode</a:t>
            </a:r>
            <a:r>
              <a:rPr kumimoji="1" lang="zh-CN" altLang="en-US" sz="2200" b="0" dirty="0">
                <a:latin typeface="Consolas" panose="020B0609020204030204" pitchFamily="49" charset="0"/>
                <a:cs typeface="Consolas" panose="020B0609020204030204" pitchFamily="49" charset="0"/>
              </a:rPr>
              <a:t>字符</a:t>
            </a:r>
            <a:endParaRPr kumimoji="1" lang="en-US" altLang="zh-CN" sz="22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kumimoji="1" lang="zh-CN" alt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二进制文件：除文本文件以外的所有</a:t>
            </a:r>
            <a:endParaRPr kumimoji="1" lang="en-US" altLang="zh-CN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从内核的角度来看，没有区别</a:t>
            </a:r>
            <a:endParaRPr kumimoji="1" lang="en-US" altLang="zh-CN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lvl="1" indent="0">
              <a:buNone/>
            </a:pPr>
            <a:endParaRPr kumimoji="1" lang="zh-CN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52339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文件类型</a:t>
            </a:r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目录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(directory)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也是一个文件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由一组链接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(links)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构成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每个链接将一个文件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名映射到</a:t>
            </a:r>
            <a:r>
              <a:rPr kumimoji="1" lang="zh-CN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一个文件</a:t>
            </a:r>
            <a:r>
              <a:rPr kumimoji="1" lang="en-US" altLang="zh-CN" b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zh-CN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或目录</a:t>
            </a:r>
            <a:r>
              <a:rPr kumimoji="1" lang="en-US" altLang="zh-CN" b="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每个目录至少有两个链接：</a:t>
            </a:r>
            <a:endParaRPr kumimoji="1" lang="en-US" altLang="zh-CN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kumimoji="1"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. (dot)</a:t>
            </a:r>
            <a:r>
              <a:rPr kumimoji="1" lang="zh-CN" alt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：到文件夹本身的链接</a:t>
            </a:r>
            <a:endParaRPr kumimoji="1" lang="en-US" altLang="zh-CN" sz="22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kumimoji="1"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.. (dot-dot)</a:t>
            </a:r>
            <a:r>
              <a:rPr kumimoji="1" lang="zh-CN" alt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：到上一层文件夹的链接</a:t>
            </a:r>
            <a:endParaRPr kumimoji="1" lang="en-US" altLang="zh-CN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目录相关指令：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mkdir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、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ls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、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rmdir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等</a:t>
            </a:r>
            <a:endParaRPr kumimoji="1"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79797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目录层级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Linux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内核使用层次化目录来组织所有文件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：代表根目录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每个文件都是根目录直接或间接的后代</a:t>
            </a:r>
            <a:endParaRPr kumimoji="1" lang="en-US" altLang="zh-CN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kumimoji="1"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76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9766B04-7AFF-CF45-9A45-17BD11917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350" y="2929508"/>
            <a:ext cx="6337300" cy="28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97461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文件类型</a:t>
            </a:r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套接字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(Socket)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也是文件，用于跨网络进程交互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其他文件类型包括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命名管道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(named pipes)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符号连接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(symbolic links)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字符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块设备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(character/block devices)</a:t>
            </a:r>
          </a:p>
          <a:p>
            <a:pPr lvl="1"/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pPr marL="457200" lvl="1" indent="0">
              <a:buNone/>
            </a:pPr>
            <a:endParaRPr kumimoji="1" lang="zh-CN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458859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打开文件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075240" cy="3771636"/>
          </a:xfrm>
        </p:spPr>
        <p:txBody>
          <a:bodyPr>
            <a:noAutofit/>
          </a:bodyPr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应用准备访问一个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IO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设备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内核打开相关文件，并返回一个</a:t>
            </a:r>
            <a:r>
              <a:rPr kumimoji="1"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非负整数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，作为文件标识符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(file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descriptor, 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2"/>
            <a:r>
              <a:rPr kumimoji="1" lang="en-US" altLang="zh-CN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kumimoji="1" lang="zh-CN" alt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代表该文件，用于之后对文件进行操作</a:t>
            </a:r>
            <a:endParaRPr kumimoji="1" lang="en-US" altLang="zh-CN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内核跟踪记录每个进程的所有打开文件的信息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kumimoji="1" lang="zh-CN" alt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对于每个打开文件，维护一个文件内偏移</a:t>
            </a:r>
            <a:r>
              <a:rPr kumimoji="1"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</a:p>
          <a:p>
            <a:pPr lvl="2"/>
            <a:r>
              <a:rPr kumimoji="1" lang="zh-CN" alt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应用可以通过</a:t>
            </a:r>
            <a:r>
              <a:rPr kumimoji="1"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seek</a:t>
            </a:r>
            <a:r>
              <a:rPr kumimoji="1" lang="zh-CN" alt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函数，显式改变当前文件内偏移</a:t>
            </a:r>
            <a:r>
              <a:rPr kumimoji="1"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应用只需要记录内核返回的文件</a:t>
            </a:r>
            <a:r>
              <a:rPr kumimoji="1" lang="zh-CN" altLang="en-CN" dirty="0">
                <a:latin typeface="Consolas" panose="020B0609020204030204" pitchFamily="49" charset="0"/>
                <a:cs typeface="Consolas" panose="020B0609020204030204" pitchFamily="49" charset="0"/>
              </a:rPr>
              <a:t>标识符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19195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打开文件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79</a:t>
            </a:fld>
            <a:endParaRPr lang="zh-CN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E9E2309-2CD9-2449-9009-C8DC070124F8}"/>
              </a:ext>
            </a:extLst>
          </p:cNvPr>
          <p:cNvSpPr txBox="1">
            <a:spLocks noChangeArrowheads="1"/>
          </p:cNvSpPr>
          <p:nvPr/>
        </p:nvSpPr>
        <p:spPr>
          <a:xfrm>
            <a:off x="419100" y="1156461"/>
            <a:ext cx="8305800" cy="440120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0"/>
              </a:spcBef>
              <a:buFontTx/>
              <a:buNone/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Comic Sans MS" panose="030F0902030302020204" pitchFamily="66" charset="0"/>
              </a:defRPr>
            </a:lvl9pPr>
          </a:lstStyle>
          <a:p>
            <a:r>
              <a:rPr lang="zh-CN" altLang="en-US" dirty="0"/>
              <a:t>#</a:t>
            </a:r>
            <a:r>
              <a:rPr lang="en-US" altLang="zh-CN" dirty="0"/>
              <a:t>include &lt;sys/</a:t>
            </a:r>
            <a:r>
              <a:rPr lang="en-US" altLang="zh-CN" dirty="0" err="1"/>
              <a:t>types.h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#include &lt;sys/</a:t>
            </a:r>
            <a:r>
              <a:rPr lang="en-US" altLang="zh-CN" dirty="0" err="1"/>
              <a:t>stat.h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#include &lt;</a:t>
            </a:r>
            <a:r>
              <a:rPr lang="en-US" altLang="zh-CN" dirty="0" err="1"/>
              <a:t>fcntl.h</a:t>
            </a:r>
            <a:r>
              <a:rPr lang="en-US" altLang="zh-CN" dirty="0"/>
              <a:t>&gt;</a:t>
            </a:r>
          </a:p>
          <a:p>
            <a:endParaRPr lang="en-US" altLang="zh-CN" dirty="0"/>
          </a:p>
          <a:p>
            <a:r>
              <a:rPr lang="en-US" altLang="zh-CN" dirty="0"/>
              <a:t>int </a:t>
            </a:r>
            <a:r>
              <a:rPr lang="en-US" altLang="zh-CN" b="1" dirty="0"/>
              <a:t>open</a:t>
            </a:r>
            <a:r>
              <a:rPr lang="en-US" altLang="zh-CN" dirty="0"/>
              <a:t>(char *filename, int flags, </a:t>
            </a:r>
            <a:r>
              <a:rPr lang="en-US" altLang="zh-CN" dirty="0" err="1"/>
              <a:t>mode_t</a:t>
            </a:r>
            <a:r>
              <a:rPr lang="en-US" altLang="zh-CN" dirty="0"/>
              <a:t> mode);</a:t>
            </a:r>
          </a:p>
          <a:p>
            <a:pPr algn="r"/>
            <a:r>
              <a:rPr lang="zh-CN" altLang="en-US" b="1" dirty="0">
                <a:solidFill>
                  <a:srgbClr val="C00000"/>
                </a:solidFill>
              </a:rPr>
              <a:t>返回值：成功</a:t>
            </a:r>
            <a:r>
              <a:rPr lang="en-US" altLang="zh-CN" b="1" dirty="0">
                <a:solidFill>
                  <a:srgbClr val="C00000"/>
                </a:solidFill>
              </a:rPr>
              <a:t>(</a:t>
            </a:r>
            <a:r>
              <a:rPr lang="zh-CN" altLang="en-US" b="1" dirty="0">
                <a:solidFill>
                  <a:srgbClr val="C00000"/>
                </a:solidFill>
              </a:rPr>
              <a:t>新文件标识符</a:t>
            </a:r>
            <a:r>
              <a:rPr lang="en-US" altLang="zh-CN" b="1" dirty="0">
                <a:solidFill>
                  <a:srgbClr val="C00000"/>
                </a:solidFill>
              </a:rPr>
              <a:t>)</a:t>
            </a:r>
            <a:r>
              <a:rPr lang="zh-CN" altLang="en-US" b="1" dirty="0">
                <a:solidFill>
                  <a:srgbClr val="C00000"/>
                </a:solidFill>
              </a:rPr>
              <a:t>，出错</a:t>
            </a:r>
            <a:r>
              <a:rPr lang="en-US" altLang="zh-CN" b="1" dirty="0">
                <a:solidFill>
                  <a:srgbClr val="C00000"/>
                </a:solidFill>
              </a:rPr>
              <a:t>(-1)</a:t>
            </a:r>
          </a:p>
          <a:p>
            <a:r>
              <a:rPr lang="en-US" altLang="zh-CN" dirty="0"/>
              <a:t>flags</a:t>
            </a:r>
          </a:p>
          <a:p>
            <a:pPr lvl="1"/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O_RDONLY, O_WRONLY, O_RDWR (must have one)</a:t>
            </a:r>
          </a:p>
          <a:p>
            <a:pPr lvl="1"/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O_CREAT, O_TRUNC, O_APPEND (optional)</a:t>
            </a:r>
          </a:p>
          <a:p>
            <a:r>
              <a:rPr lang="en-US" altLang="zh-CN" dirty="0"/>
              <a:t>mode </a:t>
            </a:r>
          </a:p>
          <a:p>
            <a:pPr lvl="1"/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S_IRUSR, S_IWUSR, S_IXUSR</a:t>
            </a:r>
          </a:p>
          <a:p>
            <a:pPr lvl="1"/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S_IRGRP, S_IWGRP, S_IXGRP</a:t>
            </a:r>
          </a:p>
          <a:p>
            <a:pPr lvl="1"/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S_IROTH, S_IWOTH, S_IXOTH</a:t>
            </a:r>
          </a:p>
        </p:txBody>
      </p:sp>
    </p:spTree>
    <p:extLst>
      <p:ext uri="{BB962C8B-B14F-4D97-AF65-F5344CB8AC3E}">
        <p14:creationId xmlns:p14="http://schemas.microsoft.com/office/powerpoint/2010/main" val="112933694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关闭文件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dirty="0"/>
              <a:t>关闭文件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不再需要访问文件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内核操作如下</a:t>
            </a:r>
          </a:p>
          <a:p>
            <a:pPr lvl="2"/>
            <a:r>
              <a:rPr kumimoji="1" lang="zh-CN" altLang="en-US" sz="2200" dirty="0"/>
              <a:t>释放在文件打开时创建的数据结构</a:t>
            </a:r>
            <a:endParaRPr kumimoji="1" lang="en-US" altLang="zh-CN" sz="2200" dirty="0"/>
          </a:p>
          <a:p>
            <a:pPr lvl="2"/>
            <a:r>
              <a:rPr kumimoji="1" lang="zh-CN" altLang="en-US" sz="2200" dirty="0"/>
              <a:t>把文件标识符返回到可用标识符池</a:t>
            </a:r>
            <a:endParaRPr kumimoji="1" lang="en-US" altLang="zh-CN" sz="2200" dirty="0"/>
          </a:p>
          <a:p>
            <a:pPr marL="457200" lvl="1" indent="0">
              <a:buNone/>
            </a:pP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42193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关闭文件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dirty="0"/>
              <a:t>进程终止时的默认行为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内核关闭所有打开的文件</a:t>
            </a:r>
            <a:endParaRPr kumimoji="1" lang="en-US" altLang="zh-CN" dirty="0"/>
          </a:p>
          <a:p>
            <a:pPr lvl="1"/>
            <a:r>
              <a:rPr kumimoji="1" lang="zh-CN" altLang="en-US" b="0" dirty="0"/>
              <a:t>内核释放内存资源</a:t>
            </a:r>
            <a:endParaRPr kumimoji="1" lang="en-US" altLang="zh-CN" sz="2800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81</a:t>
            </a:fld>
            <a:endParaRPr lang="zh-CN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9D95DF-1B92-DD47-8769-85AA7F954037}"/>
              </a:ext>
            </a:extLst>
          </p:cNvPr>
          <p:cNvSpPr/>
          <p:nvPr/>
        </p:nvSpPr>
        <p:spPr>
          <a:xfrm>
            <a:off x="611560" y="3406269"/>
            <a:ext cx="7920880" cy="1323439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unistd.h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spcBef>
                <a:spcPct val="0"/>
              </a:spcBef>
            </a:pP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close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(int 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) ;</a:t>
            </a:r>
          </a:p>
          <a:p>
            <a:pPr algn="r">
              <a:spcBef>
                <a:spcPct val="0"/>
              </a:spcBef>
            </a:pPr>
            <a:endParaRPr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r">
              <a:spcBef>
                <a:spcPct val="0"/>
              </a:spcBef>
            </a:pP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返回值：成功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(0);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失败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(-1)</a:t>
            </a:r>
          </a:p>
        </p:txBody>
      </p:sp>
    </p:spTree>
    <p:extLst>
      <p:ext uri="{BB962C8B-B14F-4D97-AF65-F5344CB8AC3E}">
        <p14:creationId xmlns:p14="http://schemas.microsoft.com/office/powerpoint/2010/main" val="255184434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读写文件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读操作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从文件中复制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m&gt;0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个字节到内存中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从当前文件的位置</a:t>
            </a:r>
            <a:r>
              <a: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开始</a:t>
            </a:r>
            <a:r>
              <a: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并更新</a:t>
            </a:r>
            <a:r>
              <a: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k+=m</a:t>
            </a:r>
            <a:endParaRPr kumimoji="1" lang="en-US" altLang="zh-CN" sz="24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如果从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开始到文件末尾的长度小于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，触发一个条件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end-of-file(EOF)</a:t>
            </a:r>
          </a:p>
          <a:p>
            <a:pPr lvl="2"/>
            <a:r>
              <a: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EOF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可以被应用检测</a:t>
            </a:r>
            <a:endParaRPr kumimoji="1" lang="en-US" altLang="zh-CN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但文件末尾实际上不存在</a:t>
            </a:r>
            <a:r>
              <a: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EOF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字符</a:t>
            </a:r>
            <a:endParaRPr kumimoji="1" lang="en-US" altLang="zh-CN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80229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读写文件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83</a:t>
            </a:fld>
            <a:endParaRPr lang="zh-CN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63A6E08-C9B7-294E-8B44-8973D1E13C01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9600" cy="2246769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#</a:t>
            </a:r>
            <a:r>
              <a:rPr lang="en-US" altLang="zh-CN" dirty="0"/>
              <a:t>include &lt;</a:t>
            </a:r>
            <a:r>
              <a:rPr lang="en-US" altLang="zh-CN" dirty="0" err="1"/>
              <a:t>unistd.h</a:t>
            </a:r>
            <a:r>
              <a:rPr lang="en-US" altLang="zh-CN" dirty="0"/>
              <a:t>&gt;</a:t>
            </a:r>
          </a:p>
          <a:p>
            <a:endParaRPr lang="en-US" altLang="zh-CN" dirty="0"/>
          </a:p>
          <a:p>
            <a:r>
              <a:rPr lang="en-US" altLang="zh-CN" dirty="0" err="1"/>
              <a:t>ssize_t</a:t>
            </a:r>
            <a:r>
              <a:rPr lang="en-US" altLang="zh-CN" dirty="0"/>
              <a:t> </a:t>
            </a:r>
            <a:r>
              <a:rPr lang="en-US" altLang="zh-CN" b="1" dirty="0"/>
              <a:t>read</a:t>
            </a:r>
            <a:r>
              <a:rPr lang="en-US" altLang="zh-CN" dirty="0"/>
              <a:t>(int </a:t>
            </a:r>
            <a:r>
              <a:rPr lang="en-US" altLang="zh-CN" dirty="0" err="1"/>
              <a:t>fd</a:t>
            </a:r>
            <a:r>
              <a:rPr lang="en-US" altLang="zh-CN" dirty="0"/>
              <a:t>, void *</a:t>
            </a:r>
            <a:r>
              <a:rPr lang="en-US" altLang="zh-CN" dirty="0" err="1"/>
              <a:t>buf</a:t>
            </a:r>
            <a:r>
              <a:rPr lang="en-US" altLang="zh-CN" dirty="0"/>
              <a:t>, </a:t>
            </a:r>
            <a:r>
              <a:rPr lang="en-US" altLang="zh-CN" dirty="0" err="1"/>
              <a:t>size_t</a:t>
            </a:r>
            <a:r>
              <a:rPr lang="en-US" altLang="zh-CN" dirty="0"/>
              <a:t> count);</a:t>
            </a:r>
          </a:p>
          <a:p>
            <a:pPr algn="r"/>
            <a:r>
              <a:rPr lang="en-US" altLang="zh-CN" dirty="0"/>
              <a:t>	</a:t>
            </a:r>
            <a:r>
              <a:rPr lang="zh-CN" altLang="en-US" b="1" dirty="0">
                <a:solidFill>
                  <a:srgbClr val="C00000"/>
                </a:solidFill>
              </a:rPr>
              <a:t>返回值：成功</a:t>
            </a:r>
            <a:r>
              <a:rPr lang="en-US" altLang="zh-CN" b="1" dirty="0">
                <a:solidFill>
                  <a:srgbClr val="C00000"/>
                </a:solidFill>
              </a:rPr>
              <a:t>(</a:t>
            </a:r>
            <a:r>
              <a:rPr lang="zh-CN" altLang="en-US" b="1" dirty="0">
                <a:solidFill>
                  <a:srgbClr val="C00000"/>
                </a:solidFill>
              </a:rPr>
              <a:t>读到</a:t>
            </a:r>
            <a:r>
              <a:rPr lang="zh-CN" altLang="en-CN" b="1" dirty="0">
                <a:solidFill>
                  <a:srgbClr val="C00000"/>
                </a:solidFill>
              </a:rPr>
              <a:t>字节数</a:t>
            </a:r>
            <a:r>
              <a:rPr lang="en-US" altLang="zh-CN" b="1" dirty="0">
                <a:solidFill>
                  <a:srgbClr val="C00000"/>
                </a:solidFill>
              </a:rPr>
              <a:t>)</a:t>
            </a:r>
            <a:r>
              <a:rPr lang="zh-CN" altLang="en-US" b="1" dirty="0">
                <a:solidFill>
                  <a:srgbClr val="C00000"/>
                </a:solidFill>
              </a:rPr>
              <a:t>，遇到</a:t>
            </a:r>
            <a:r>
              <a:rPr lang="en-US" altLang="zh-CN" b="1" dirty="0">
                <a:solidFill>
                  <a:srgbClr val="C00000"/>
                </a:solidFill>
              </a:rPr>
              <a:t>EOF(0)</a:t>
            </a:r>
            <a:r>
              <a:rPr lang="zh-CN" altLang="en-US" b="1" dirty="0">
                <a:solidFill>
                  <a:srgbClr val="C00000"/>
                </a:solidFill>
              </a:rPr>
              <a:t>，失败</a:t>
            </a:r>
            <a:r>
              <a:rPr lang="en-US" altLang="zh-CN" b="1" dirty="0">
                <a:solidFill>
                  <a:srgbClr val="C00000"/>
                </a:solidFill>
              </a:rPr>
              <a:t>(-1) </a:t>
            </a:r>
            <a:br>
              <a:rPr lang="en-US" altLang="zh-CN" dirty="0"/>
            </a:br>
            <a:endParaRPr lang="en-US" altLang="zh-CN" dirty="0"/>
          </a:p>
          <a:p>
            <a:r>
              <a:rPr lang="en-US" altLang="zh-CN" dirty="0" err="1"/>
              <a:t>ssize_t</a:t>
            </a:r>
            <a:r>
              <a:rPr lang="en-US" altLang="zh-CN" dirty="0"/>
              <a:t> </a:t>
            </a:r>
            <a:r>
              <a:rPr lang="en-US" altLang="zh-CN" b="1" dirty="0"/>
              <a:t>write</a:t>
            </a:r>
            <a:r>
              <a:rPr lang="en-US" altLang="zh-CN" dirty="0"/>
              <a:t>(int </a:t>
            </a:r>
            <a:r>
              <a:rPr lang="en-US" altLang="zh-CN" dirty="0" err="1"/>
              <a:t>fd</a:t>
            </a:r>
            <a:r>
              <a:rPr lang="en-US" altLang="zh-CN" dirty="0"/>
              <a:t>, const void *</a:t>
            </a:r>
            <a:r>
              <a:rPr lang="en-US" altLang="zh-CN" dirty="0" err="1"/>
              <a:t>buf</a:t>
            </a:r>
            <a:r>
              <a:rPr lang="en-US" altLang="zh-CN" dirty="0"/>
              <a:t>, </a:t>
            </a:r>
            <a:r>
              <a:rPr lang="en-US" altLang="zh-CN" dirty="0" err="1"/>
              <a:t>size_t</a:t>
            </a:r>
            <a:r>
              <a:rPr lang="en-US" altLang="zh-CN" dirty="0"/>
              <a:t> count);</a:t>
            </a:r>
          </a:p>
          <a:p>
            <a:pPr algn="r"/>
            <a:r>
              <a:rPr lang="en-US" altLang="zh-CN" dirty="0"/>
              <a:t>		</a:t>
            </a:r>
            <a:r>
              <a:rPr lang="zh-CN" altLang="en-US" b="1" dirty="0">
                <a:solidFill>
                  <a:srgbClr val="C00000"/>
                </a:solidFill>
              </a:rPr>
              <a:t>返回值：成功</a:t>
            </a:r>
            <a:r>
              <a:rPr lang="en-US" altLang="zh-CN" b="1" dirty="0">
                <a:solidFill>
                  <a:srgbClr val="C00000"/>
                </a:solidFill>
              </a:rPr>
              <a:t>(</a:t>
            </a:r>
            <a:r>
              <a:rPr lang="zh-CN" altLang="en-US" b="1" dirty="0">
                <a:solidFill>
                  <a:srgbClr val="C00000"/>
                </a:solidFill>
              </a:rPr>
              <a:t>写入字节数</a:t>
            </a:r>
            <a:r>
              <a:rPr lang="en-US" altLang="zh-CN" b="1" dirty="0">
                <a:solidFill>
                  <a:srgbClr val="C00000"/>
                </a:solidFill>
              </a:rPr>
              <a:t>)</a:t>
            </a:r>
            <a:r>
              <a:rPr lang="zh-CN" altLang="en-US" b="1" dirty="0">
                <a:solidFill>
                  <a:srgbClr val="C00000"/>
                </a:solidFill>
              </a:rPr>
              <a:t>，失败</a:t>
            </a:r>
            <a:r>
              <a:rPr lang="en-US" altLang="zh-CN" b="1" dirty="0">
                <a:solidFill>
                  <a:srgbClr val="C00000"/>
                </a:solidFill>
              </a:rPr>
              <a:t>(-1)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51131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读写文件示例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84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98CBB92-5BC5-94CC-A76A-4DF43592D2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328852"/>
            <a:ext cx="7772400" cy="3968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60952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0F28D4-0DD8-A6D1-9D2C-8EA09B8D1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文件：对所有设备的抽象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975B15-2B90-FE74-A772-0B6203E31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存储设备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File</a:t>
            </a:r>
          </a:p>
          <a:p>
            <a:r>
              <a:rPr kumimoji="1" lang="zh-CN" altLang="en-US" dirty="0"/>
              <a:t>网络设备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Socket</a:t>
            </a:r>
          </a:p>
          <a:p>
            <a:r>
              <a:rPr kumimoji="1" lang="zh-CN" altLang="en-US" dirty="0"/>
              <a:t>其它设备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同样是</a:t>
            </a:r>
            <a:r>
              <a:rPr kumimoji="1" lang="en-US" altLang="zh-CN" dirty="0" err="1"/>
              <a:t>fd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8E0581-0DB8-B07A-700A-3E41AC533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3F8F40D-3239-32A3-2819-48738DB4A5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1939156"/>
            <a:ext cx="4091551" cy="1836688"/>
          </a:xfrm>
          <a:prstGeom prst="rect">
            <a:avLst/>
          </a:prstGeom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CF48E234-94A6-E69C-90FF-1DA0D956F5CD}"/>
              </a:ext>
            </a:extLst>
          </p:cNvPr>
          <p:cNvSpPr/>
          <p:nvPr/>
        </p:nvSpPr>
        <p:spPr>
          <a:xfrm>
            <a:off x="5103755" y="2366989"/>
            <a:ext cx="1008112" cy="100811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0B798E6-E668-C169-B39E-3E38D3534D0C}"/>
              </a:ext>
            </a:extLst>
          </p:cNvPr>
          <p:cNvSpPr txBox="1"/>
          <p:nvPr/>
        </p:nvSpPr>
        <p:spPr>
          <a:xfrm>
            <a:off x="5105607" y="3431156"/>
            <a:ext cx="1296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/dev/xxx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08948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B917C8-A044-C928-CCF1-72C54C01F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操作设备的示例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8C1BD363-53EC-73C2-7FBE-E1E04F3D5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489348"/>
            <a:ext cx="5740702" cy="229494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B2FD05-2D50-83FE-506E-45CEE1A7E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86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8344290-844B-0566-9818-1E185CE460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04" y="3705204"/>
            <a:ext cx="7772400" cy="200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803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6967D8-83FE-FB8D-D144-6F092C09B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总结：</a:t>
            </a:r>
            <a:r>
              <a:rPr kumimoji="1" lang="en-US" altLang="zh-CN" dirty="0"/>
              <a:t>OS</a:t>
            </a:r>
            <a:r>
              <a:rPr kumimoji="1" lang="zh-CN" altLang="en-US" dirty="0"/>
              <a:t>对</a:t>
            </a:r>
            <a:r>
              <a:rPr kumimoji="1" lang="en-US" altLang="zh-CN" dirty="0"/>
              <a:t>CPU</a:t>
            </a:r>
            <a:r>
              <a:rPr kumimoji="1" lang="zh-CN" altLang="en-US" dirty="0"/>
              <a:t>、内存、设备的三大抽象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8DB62A-7061-2F6D-BCB5-7985B454C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87</a:t>
            </a:fld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0B2512A-FE80-7A1E-1E4C-67D1D36B17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17" y="1033101"/>
            <a:ext cx="7451648" cy="4563999"/>
          </a:xfrm>
          <a:prstGeom prst="rect">
            <a:avLst/>
          </a:prstGeom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F1406B18-E512-4A45-BFF8-60B7DBE0CEBA}"/>
              </a:ext>
            </a:extLst>
          </p:cNvPr>
          <p:cNvSpPr/>
          <p:nvPr/>
        </p:nvSpPr>
        <p:spPr>
          <a:xfrm>
            <a:off x="6012160" y="985292"/>
            <a:ext cx="2160240" cy="4615941"/>
          </a:xfrm>
          <a:prstGeom prst="roundRect">
            <a:avLst>
              <a:gd name="adj" fmla="val 6277"/>
            </a:avLst>
          </a:prstGeom>
          <a:solidFill>
            <a:srgbClr val="FF2600">
              <a:alpha val="12157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5975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49102</TotalTime>
  <Words>6537</Words>
  <Application>Microsoft Macintosh PowerPoint</Application>
  <PresentationFormat>On-screen Show (16:10)</PresentationFormat>
  <Paragraphs>1164</Paragraphs>
  <Slides>87</Slides>
  <Notes>20</Notes>
  <HiddenSlides>6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87</vt:i4>
      </vt:variant>
    </vt:vector>
  </HeadingPairs>
  <TitlesOfParts>
    <vt:vector size="101" baseType="lpstr">
      <vt:lpstr>Cascadia Code</vt:lpstr>
      <vt:lpstr>DengXian</vt:lpstr>
      <vt:lpstr>微软雅黑</vt:lpstr>
      <vt:lpstr>微软雅黑</vt:lpstr>
      <vt:lpstr>宋体</vt:lpstr>
      <vt:lpstr>Arial</vt:lpstr>
      <vt:lpstr>Calibri</vt:lpstr>
      <vt:lpstr>Consolas</vt:lpstr>
      <vt:lpstr>Courier New</vt:lpstr>
      <vt:lpstr>Helvetica</vt:lpstr>
      <vt:lpstr>Times New Roman</vt:lpstr>
      <vt:lpstr>Wingdings</vt:lpstr>
      <vt:lpstr>Office 主题​​</vt:lpstr>
      <vt:lpstr>1_Office 主题​​</vt:lpstr>
      <vt:lpstr>从应用视角看操作系统抽象</vt:lpstr>
      <vt:lpstr>版权声明</vt:lpstr>
      <vt:lpstr>回顾</vt:lpstr>
      <vt:lpstr>系统调用（回顾）</vt:lpstr>
      <vt:lpstr>系统调用</vt:lpstr>
      <vt:lpstr>eret：从内核态返回到用户态</vt:lpstr>
      <vt:lpstr>操作系统在切换过程中的任务</vt:lpstr>
      <vt:lpstr>进程</vt:lpstr>
      <vt:lpstr>分时复用有限的CPU资源</vt:lpstr>
      <vt:lpstr>分时复用有限的CPU资源</vt:lpstr>
      <vt:lpstr>应用程序与进程</vt:lpstr>
      <vt:lpstr>进程在操作系统中的实现：状态数据</vt:lpstr>
      <vt:lpstr>从程序员视角看进程</vt:lpstr>
      <vt:lpstr>进程切换</vt:lpstr>
      <vt:lpstr>处理器上下文(CPU Context)</vt:lpstr>
      <vt:lpstr>处理器上下文(CPU Context)</vt:lpstr>
      <vt:lpstr>进程切换的时机</vt:lpstr>
      <vt:lpstr>进程切换示例一</vt:lpstr>
      <vt:lpstr>进程切换示例二</vt:lpstr>
      <vt:lpstr>常见的进程相关的接口</vt:lpstr>
      <vt:lpstr>获取进程 ID</vt:lpstr>
      <vt:lpstr>获取进程 ID</vt:lpstr>
      <vt:lpstr>Exit 函数</vt:lpstr>
      <vt:lpstr>Fork 函数</vt:lpstr>
      <vt:lpstr>Fork 函数</vt:lpstr>
      <vt:lpstr>Fork 函数</vt:lpstr>
      <vt:lpstr>小思考：打印几行输出？</vt:lpstr>
      <vt:lpstr>小思考：打印几行输出？</vt:lpstr>
      <vt:lpstr>小思考：打印几行输出？</vt:lpstr>
      <vt:lpstr>小思考：打印几行输出？</vt:lpstr>
      <vt:lpstr>Execve函数</vt:lpstr>
      <vt:lpstr>Linux下的僵尸进程</vt:lpstr>
      <vt:lpstr>Linux下的僵尸进程</vt:lpstr>
      <vt:lpstr>waitpid函数</vt:lpstr>
      <vt:lpstr>waitpid函数</vt:lpstr>
      <vt:lpstr>waitpid函数</vt:lpstr>
      <vt:lpstr>waitpid函数</vt:lpstr>
      <vt:lpstr>waitpid函数</vt:lpstr>
      <vt:lpstr>waitpid函数</vt:lpstr>
      <vt:lpstr>waitpid函数</vt:lpstr>
      <vt:lpstr>waitpid函数</vt:lpstr>
      <vt:lpstr>小结：应用程序使用CPU资源（直通+抽象）</vt:lpstr>
      <vt:lpstr>内存</vt:lpstr>
      <vt:lpstr>回顾：内存布局</vt:lpstr>
      <vt:lpstr>进程内存布局</vt:lpstr>
      <vt:lpstr>虚拟内存</vt:lpstr>
      <vt:lpstr>虚拟内存与物理内存</vt:lpstr>
      <vt:lpstr>虚拟内存的优势：独立而统一的地址空间</vt:lpstr>
      <vt:lpstr>虚拟内存的优势：突破物理内存容量限制</vt:lpstr>
      <vt:lpstr>Linux中进程的虚拟内存布局</vt:lpstr>
      <vt:lpstr>ELF文件格式</vt:lpstr>
      <vt:lpstr>目标文件</vt:lpstr>
      <vt:lpstr>ELF：可执行可链接格式</vt:lpstr>
      <vt:lpstr>ELF格式</vt:lpstr>
      <vt:lpstr>ELF格式：可重定位目标文件</vt:lpstr>
      <vt:lpstr>ELF格式：可重定位目标文件</vt:lpstr>
      <vt:lpstr>ELF格式：可重定位目标文件</vt:lpstr>
      <vt:lpstr>ELF格式：可重定位目标文件</vt:lpstr>
      <vt:lpstr>节头部表（Section Header Table）</vt:lpstr>
      <vt:lpstr>ELF格式：可重定位目标文件</vt:lpstr>
      <vt:lpstr>ELF格式：可重定位目标文件</vt:lpstr>
      <vt:lpstr>ELF格式：可重定位目标文件</vt:lpstr>
      <vt:lpstr>ELF格式</vt:lpstr>
      <vt:lpstr>可执行目标文件</vt:lpstr>
      <vt:lpstr>可执行目标文件</vt:lpstr>
      <vt:lpstr>可执行目标文件</vt:lpstr>
      <vt:lpstr>可执行目标文件</vt:lpstr>
      <vt:lpstr>程序头部表（Program Header Table）</vt:lpstr>
      <vt:lpstr>程序头部表（Program Header Table）</vt:lpstr>
      <vt:lpstr>回顾：常见的进程虚拟内存布局</vt:lpstr>
      <vt:lpstr>小结：进程使用内存资源（虚拟化+抽象）</vt:lpstr>
      <vt:lpstr>文件</vt:lpstr>
      <vt:lpstr>Unix 文件</vt:lpstr>
      <vt:lpstr>文件类型1</vt:lpstr>
      <vt:lpstr>文件类型2</vt:lpstr>
      <vt:lpstr>目录层级</vt:lpstr>
      <vt:lpstr>文件类型3</vt:lpstr>
      <vt:lpstr>打开文件</vt:lpstr>
      <vt:lpstr>打开文件</vt:lpstr>
      <vt:lpstr>关闭文件</vt:lpstr>
      <vt:lpstr>关闭文件</vt:lpstr>
      <vt:lpstr>读写文件</vt:lpstr>
      <vt:lpstr>读写文件</vt:lpstr>
      <vt:lpstr>读写文件示例</vt:lpstr>
      <vt:lpstr>文件：对所有设备的抽象</vt:lpstr>
      <vt:lpstr>操作设备的示例</vt:lpstr>
      <vt:lpstr>总结：OS对CPU、内存、设备的三大抽象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Mingkai Dong</cp:lastModifiedBy>
  <cp:revision>1363</cp:revision>
  <cp:lastPrinted>2020-03-02T13:38:09Z</cp:lastPrinted>
  <dcterms:created xsi:type="dcterms:W3CDTF">2017-11-24T09:35:45Z</dcterms:created>
  <dcterms:modified xsi:type="dcterms:W3CDTF">2025-09-26T07:58:52Z</dcterms:modified>
</cp:coreProperties>
</file>