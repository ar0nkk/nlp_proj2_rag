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2" r:id="rId2"/>
  </p:sldMasterIdLst>
  <p:notesMasterIdLst>
    <p:notesMasterId r:id="rId50"/>
  </p:notesMasterIdLst>
  <p:handoutMasterIdLst>
    <p:handoutMasterId r:id="rId51"/>
  </p:handoutMasterIdLst>
  <p:sldIdLst>
    <p:sldId id="2769" r:id="rId3"/>
    <p:sldId id="1359" r:id="rId4"/>
    <p:sldId id="2326" r:id="rId5"/>
    <p:sldId id="2245" r:id="rId6"/>
    <p:sldId id="2234" r:id="rId7"/>
    <p:sldId id="2314" r:id="rId8"/>
    <p:sldId id="2315" r:id="rId9"/>
    <p:sldId id="2316" r:id="rId10"/>
    <p:sldId id="2317" r:id="rId11"/>
    <p:sldId id="2303" r:id="rId12"/>
    <p:sldId id="2313" r:id="rId13"/>
    <p:sldId id="2295" r:id="rId14"/>
    <p:sldId id="2293" r:id="rId15"/>
    <p:sldId id="392" r:id="rId16"/>
    <p:sldId id="393" r:id="rId17"/>
    <p:sldId id="317" r:id="rId18"/>
    <p:sldId id="318" r:id="rId19"/>
    <p:sldId id="319" r:id="rId20"/>
    <p:sldId id="320" r:id="rId21"/>
    <p:sldId id="2304" r:id="rId22"/>
    <p:sldId id="2253" r:id="rId23"/>
    <p:sldId id="2301" r:id="rId24"/>
    <p:sldId id="2272" r:id="rId25"/>
    <p:sldId id="2273" r:id="rId26"/>
    <p:sldId id="2274" r:id="rId27"/>
    <p:sldId id="2275" r:id="rId28"/>
    <p:sldId id="2276" r:id="rId29"/>
    <p:sldId id="2277" r:id="rId30"/>
    <p:sldId id="2278" r:id="rId31"/>
    <p:sldId id="2296" r:id="rId32"/>
    <p:sldId id="2279" r:id="rId33"/>
    <p:sldId id="1215" r:id="rId34"/>
    <p:sldId id="2280" r:id="rId35"/>
    <p:sldId id="2312" r:id="rId36"/>
    <p:sldId id="2281" r:id="rId37"/>
    <p:sldId id="2282" r:id="rId38"/>
    <p:sldId id="2283" r:id="rId39"/>
    <p:sldId id="2299" r:id="rId40"/>
    <p:sldId id="2297" r:id="rId41"/>
    <p:sldId id="2305" r:id="rId42"/>
    <p:sldId id="2306" r:id="rId43"/>
    <p:sldId id="2307" r:id="rId44"/>
    <p:sldId id="2302" r:id="rId45"/>
    <p:sldId id="2308" r:id="rId46"/>
    <p:sldId id="2309" r:id="rId47"/>
    <p:sldId id="2286" r:id="rId48"/>
    <p:sldId id="2310" r:id="rId49"/>
  </p:sldIdLst>
  <p:sldSz cx="9144000" cy="5715000" type="screen16x1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80" userDrawn="1">
          <p15:clr>
            <a:srgbClr val="A4A3A4"/>
          </p15:clr>
        </p15:guide>
        <p15:guide id="2" pos="340" userDrawn="1">
          <p15:clr>
            <a:srgbClr val="A4A3A4"/>
          </p15:clr>
        </p15:guide>
        <p15:guide id="3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32FF"/>
    <a:srgbClr val="73FEFF"/>
    <a:srgbClr val="941100"/>
    <a:srgbClr val="212121"/>
    <a:srgbClr val="005493"/>
    <a:srgbClr val="FF2F92"/>
    <a:srgbClr val="9437FF"/>
    <a:srgbClr val="ED3C64"/>
    <a:srgbClr val="00FB92"/>
    <a:srgbClr val="FF9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241" autoAdjust="0"/>
    <p:restoredTop sz="87483" autoAdjust="0"/>
  </p:normalViewPr>
  <p:slideViewPr>
    <p:cSldViewPr>
      <p:cViewPr varScale="1">
        <p:scale>
          <a:sx n="127" d="100"/>
          <a:sy n="127" d="100"/>
        </p:scale>
        <p:origin x="1192" y="176"/>
      </p:cViewPr>
      <p:guideLst>
        <p:guide orient="horz" pos="2480"/>
        <p:guide pos="340"/>
        <p:guide pos="2880"/>
      </p:guideLst>
    </p:cSldViewPr>
  </p:slideViewPr>
  <p:outlineViewPr>
    <p:cViewPr>
      <p:scale>
        <a:sx n="33" d="100"/>
        <a:sy n="33" d="100"/>
      </p:scale>
      <p:origin x="0" y="-5720"/>
    </p:cViewPr>
  </p:outlineViewPr>
  <p:notesTextViewPr>
    <p:cViewPr>
      <p:scale>
        <a:sx n="65" d="100"/>
        <a:sy n="65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5" d="100"/>
          <a:sy n="85" d="100"/>
        </p:scale>
        <p:origin x="2720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notesMaster" Target="notesMasters/notesMaster1.xml"/><Relationship Id="rId55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8" Type="http://schemas.openxmlformats.org/officeDocument/2006/relationships/slide" Target="slides/slide6.xml"/><Relationship Id="rId51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384E5B-0B7C-A143-A087-04B582FC4BEF}" type="datetimeFigureOut">
              <a:rPr kumimoji="1" lang="zh-CN" altLang="en-US" smtClean="0"/>
              <a:t>2025/10/9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8370ED-3FEA-E543-9D41-DF20FAD761C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551917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D7DB94-E0DE-4F0F-A9B7-54654CD8C8B1}" type="datetimeFigureOut">
              <a:rPr lang="zh-CN" altLang="en-US" smtClean="0"/>
              <a:t>2025/10/9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84A077-83E9-49A7-9F59-234D78BD69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0265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Bootstrapping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A84A077-83E9-49A7-9F59-234D78BD694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229643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" altLang="zh-CN" sz="1600" dirty="0">
                <a:hlinkClick r:id="rId3"/>
              </a:rPr>
              <a:t>Bootstrapping - Wikipedia</a:t>
            </a:r>
            <a:endParaRPr kumimoji="1" lang="zh-CN" altLang="en-US" sz="16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76055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14072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sz="1200" dirty="0"/>
              <a:t>BIOS</a:t>
            </a:r>
            <a:r>
              <a:rPr kumimoji="1" lang="zh-CN" altLang="en-US" sz="1200" dirty="0"/>
              <a:t> </a:t>
            </a:r>
            <a:r>
              <a:rPr kumimoji="1" lang="en-US" altLang="zh-CN" sz="1200" dirty="0"/>
              <a:t>is</a:t>
            </a:r>
            <a:r>
              <a:rPr kumimoji="1" lang="zh-CN" altLang="en-US" sz="1200" dirty="0"/>
              <a:t> </a:t>
            </a:r>
            <a:r>
              <a:rPr kumimoji="1" lang="en-US" altLang="zh-CN" sz="1200" dirty="0"/>
              <a:t>not</a:t>
            </a:r>
            <a:r>
              <a:rPr kumimoji="1" lang="zh-CN" altLang="en-US" sz="1200" dirty="0"/>
              <a:t> </a:t>
            </a:r>
            <a:r>
              <a:rPr kumimoji="1" lang="en-US" altLang="zh-CN" sz="1200" dirty="0"/>
              <a:t>OS</a:t>
            </a:r>
            <a:br>
              <a:rPr kumimoji="1" lang="en-US" altLang="zh-CN" sz="1200" dirty="0"/>
            </a:br>
            <a:endParaRPr kumimoji="1" lang="en" altLang="zh-CN" sz="1200" dirty="0"/>
          </a:p>
          <a:p>
            <a:r>
              <a:rPr kumimoji="1" lang="en" altLang="zh-CN" sz="1200" dirty="0"/>
              <a:t>BIOS</a:t>
            </a:r>
            <a:r>
              <a:rPr kumimoji="1" lang="zh-CN" altLang="en-US" sz="1200" dirty="0"/>
              <a:t>程序首先检查，计算机硬件能否满足运行的基本条件，这叫做</a:t>
            </a:r>
            <a:r>
              <a:rPr kumimoji="1" lang="en-US" altLang="zh-CN" sz="1200" dirty="0"/>
              <a:t>"</a:t>
            </a:r>
            <a:r>
              <a:rPr kumimoji="1" lang="zh-CN" altLang="en-US" sz="1200" dirty="0"/>
              <a:t>硬件自检</a:t>
            </a:r>
            <a:r>
              <a:rPr kumimoji="1" lang="en-US" altLang="zh-CN" sz="1200" dirty="0"/>
              <a:t>"</a:t>
            </a:r>
            <a:r>
              <a:rPr kumimoji="1" lang="zh-CN" altLang="en-US" sz="1200" dirty="0"/>
              <a:t>（</a:t>
            </a:r>
            <a:r>
              <a:rPr kumimoji="1" lang="en" altLang="zh-CN" sz="1200" dirty="0"/>
              <a:t>Power-On Self-Test</a:t>
            </a:r>
            <a:r>
              <a:rPr kumimoji="1" lang="zh-CN" altLang="en" sz="1200" dirty="0"/>
              <a:t>），</a:t>
            </a:r>
            <a:r>
              <a:rPr kumimoji="1" lang="zh-CN" altLang="en-US" sz="1200" dirty="0"/>
              <a:t>缩写为</a:t>
            </a:r>
            <a:r>
              <a:rPr kumimoji="1" lang="en" altLang="zh-CN" sz="1200" dirty="0"/>
              <a:t>POST</a:t>
            </a:r>
            <a:r>
              <a:rPr kumimoji="1" lang="zh-CN" altLang="en" sz="1200" dirty="0"/>
              <a:t>。</a:t>
            </a:r>
          </a:p>
          <a:p>
            <a:r>
              <a:rPr kumimoji="1" lang="zh-CN" altLang="en-US" sz="1200" dirty="0"/>
              <a:t>如果硬件出现问题，主板会发出不同含义的蜂鸣，启动中止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09805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把大象装入冰箱分为几步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2602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04215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36105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Secure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configuraion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register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01847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RW:</a:t>
            </a:r>
            <a:r>
              <a:rPr kumimoji="1" lang="zh-CN" altLang="en-US" dirty="0"/>
              <a:t> </a:t>
            </a:r>
            <a:r>
              <a:rPr lang="en-US" altLang="zh-CN" b="0" i="0" dirty="0">
                <a:effectLst/>
                <a:latin typeface="Lato" panose="020F0502020204030204" pitchFamily="34" charset="0"/>
              </a:rPr>
              <a:t>Register width control for lower exception levels.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71279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3" name="Rectangle 7">
            <a:extLst>
              <a:ext uri="{FF2B5EF4-FFF2-40B4-BE49-F238E27FC236}">
                <a16:creationId xmlns:a16="http://schemas.microsoft.com/office/drawing/2014/main" id="{6A9B3768-1EEF-B641-8616-5526AE3707D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fld id="{93452E22-CA4D-464A-B020-468E311E2747}" type="slidenum">
              <a:rPr lang="zh-CN" altLang="en-US" sz="1200" b="0" smtClean="0">
                <a:latin typeface="Times New Roman" panose="02020603050405020304" pitchFamily="18" charset="0"/>
              </a:rPr>
              <a:pPr/>
              <a:t>32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202754" name="Rectangle 2">
            <a:extLst>
              <a:ext uri="{FF2B5EF4-FFF2-40B4-BE49-F238E27FC236}">
                <a16:creationId xmlns:a16="http://schemas.microsoft.com/office/drawing/2014/main" id="{3525EA71-B3FD-B146-9399-EB0FEE29962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2755" name="Rectangle 3">
            <a:extLst>
              <a:ext uri="{FF2B5EF4-FFF2-40B4-BE49-F238E27FC236}">
                <a16:creationId xmlns:a16="http://schemas.microsoft.com/office/drawing/2014/main" id="{CA8C94FA-3039-6041-AE31-0F1EF5EF3E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62795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12396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510319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70545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dirty="0">
                <a:solidFill>
                  <a:srgbClr val="FF0000"/>
                </a:solidFill>
              </a:rPr>
              <a:t>el1_vector</a:t>
            </a:r>
            <a:r>
              <a:rPr kumimoji="1" lang="zh-CN" altLang="en-US" sz="1200" b="1" dirty="0">
                <a:solidFill>
                  <a:srgbClr val="FF0000"/>
                </a:solidFill>
              </a:rPr>
              <a:t>（异常向量表）</a:t>
            </a:r>
            <a:endParaRPr kumimoji="1" lang="en-US" altLang="zh-CN" sz="1200" b="1" dirty="0">
              <a:solidFill>
                <a:srgbClr val="FF0000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200" b="1" dirty="0">
                <a:solidFill>
                  <a:srgbClr val="FF0000"/>
                </a:solidFill>
              </a:rPr>
              <a:t>每一项大小有限（</a:t>
            </a:r>
            <a:r>
              <a:rPr kumimoji="1" lang="en-US" altLang="zh-CN" sz="1200" b="1" dirty="0">
                <a:solidFill>
                  <a:srgbClr val="FF0000"/>
                </a:solidFill>
              </a:rPr>
              <a:t>128</a:t>
            </a:r>
            <a:r>
              <a:rPr kumimoji="1" lang="zh-CN" altLang="en-US" sz="1200" b="1" dirty="0">
                <a:solidFill>
                  <a:srgbClr val="FF0000"/>
                </a:solidFill>
              </a:rPr>
              <a:t>字节、</a:t>
            </a:r>
            <a:r>
              <a:rPr kumimoji="1" lang="en-US" altLang="zh-CN" sz="1200" b="1" dirty="0">
                <a:solidFill>
                  <a:srgbClr val="FF0000"/>
                </a:solidFill>
              </a:rPr>
              <a:t>32</a:t>
            </a:r>
            <a:r>
              <a:rPr kumimoji="1" lang="zh-CN" altLang="en-US" sz="1200" b="1" dirty="0">
                <a:solidFill>
                  <a:srgbClr val="FF0000"/>
                </a:solidFill>
              </a:rPr>
              <a:t>条指令）</a:t>
            </a:r>
          </a:p>
          <a:p>
            <a:endParaRPr kumimoji="1" lang="zh-CN" altLang="en-US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415002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以一个为例讲解，不然</a:t>
            </a:r>
            <a:r>
              <a:rPr kumimoji="1" lang="en-US" altLang="zh-CN" dirty="0"/>
              <a:t>lab</a:t>
            </a:r>
            <a:r>
              <a:rPr kumimoji="1" lang="zh-CN" altLang="en-US" dirty="0"/>
              <a:t>答案都给出来了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20002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SVC</a:t>
            </a:r>
            <a:r>
              <a:rPr kumimoji="1" lang="zh-CN" altLang="en-US" dirty="0"/>
              <a:t>指令会触发</a:t>
            </a:r>
            <a:r>
              <a:rPr kumimoji="1" lang="en-US" altLang="zh-CN" dirty="0"/>
              <a:t>SYNC_EL0_64</a:t>
            </a:r>
            <a:r>
              <a:rPr kumimoji="1" lang="zh-CN" altLang="en-US" dirty="0"/>
              <a:t>异常。</a:t>
            </a:r>
            <a:r>
              <a:rPr kumimoji="1" lang="en-US" altLang="zh-CN" dirty="0"/>
              <a:t>ESR</a:t>
            </a:r>
            <a:r>
              <a:rPr kumimoji="1" lang="zh-CN" altLang="en-US" dirty="0"/>
              <a:t>寄存器判断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779499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SVC</a:t>
            </a:r>
            <a:r>
              <a:rPr kumimoji="1" lang="zh-CN" altLang="en-US" dirty="0"/>
              <a:t>指令会触发</a:t>
            </a:r>
            <a:r>
              <a:rPr kumimoji="1" lang="en-US" altLang="zh-CN" dirty="0"/>
              <a:t>SYNC_EL0_64</a:t>
            </a:r>
            <a:r>
              <a:rPr kumimoji="1" lang="zh-CN" altLang="en-US" dirty="0"/>
              <a:t>异常。</a:t>
            </a:r>
            <a:r>
              <a:rPr kumimoji="1" lang="en-US" altLang="zh-CN" dirty="0"/>
              <a:t>ESR</a:t>
            </a:r>
            <a:r>
              <a:rPr kumimoji="1" lang="zh-CN" altLang="en-US" dirty="0"/>
              <a:t>寄存器判断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227120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包含了</a:t>
            </a:r>
            <a:r>
              <a:rPr kumimoji="1" lang="en-US" altLang="zh-CN" dirty="0"/>
              <a:t>lab1-lab3</a:t>
            </a:r>
            <a:r>
              <a:rPr kumimoji="1" lang="zh-CN" altLang="en-US" dirty="0"/>
              <a:t>的部分内容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42182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775358"/>
            <a:ext cx="7772400" cy="1225021"/>
          </a:xfrm>
        </p:spPr>
        <p:txBody>
          <a:bodyPr>
            <a:normAutofit/>
          </a:bodyPr>
          <a:lstStyle>
            <a:lvl1pPr algn="ctr">
              <a:defRPr sz="4400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6142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  <a:latin typeface="+mj-lt"/>
                <a:ea typeface="+mj-ea"/>
                <a:cs typeface="微软雅黑 Light" panose="020B0502040204020203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20000"/>
              </a:lnSpc>
              <a:defRPr sz="2600" b="1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lnSpc>
                <a:spcPct val="120000"/>
              </a:lnSpc>
              <a:defRPr sz="24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lnSpc>
                <a:spcPct val="120000"/>
              </a:lnSpc>
              <a:defRPr sz="20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-180527" y="439062"/>
            <a:ext cx="164581" cy="4800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066DE83E-C489-9340-8A6C-F2C63F8574DC}"/>
              </a:ext>
            </a:extLst>
          </p:cNvPr>
          <p:cNvSpPr/>
          <p:nvPr userDrawn="1"/>
        </p:nvSpPr>
        <p:spPr>
          <a:xfrm rot="5400000">
            <a:off x="-160702" y="599536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3949560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672418"/>
            <a:ext cx="7772400" cy="1135062"/>
          </a:xfrm>
        </p:spPr>
        <p:txBody>
          <a:bodyPr anchor="t"/>
          <a:lstStyle>
            <a:lvl1pPr algn="l">
              <a:defRPr sz="4000" b="1" cap="all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A8EE614D-B549-154F-943F-0F3919AB5939}"/>
              </a:ext>
            </a:extLst>
          </p:cNvPr>
          <p:cNvSpPr/>
          <p:nvPr userDrawn="1"/>
        </p:nvSpPr>
        <p:spPr>
          <a:xfrm rot="5400000">
            <a:off x="-160703" y="3920373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614694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ea typeface="宋体" pitchFamily="2" charset="-122"/>
              </a:defRPr>
            </a:lvl1pPr>
          </a:lstStyle>
          <a:p>
            <a:fld id="{54F3100C-EB21-4948-BC96-CAC85E4C60BF}" type="datetimeFigureOut">
              <a:rPr kumimoji="1" lang="zh-CN" altLang="en-US" smtClean="0"/>
              <a:t>2025/10/9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560443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775358"/>
            <a:ext cx="7772400" cy="1225021"/>
          </a:xfrm>
        </p:spPr>
        <p:txBody>
          <a:bodyPr>
            <a:normAutofit/>
          </a:bodyPr>
          <a:lstStyle>
            <a:lvl1pPr algn="ctr">
              <a:defRPr sz="4400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15857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  <a:latin typeface="+mj-lt"/>
                <a:ea typeface="+mj-ea"/>
                <a:cs typeface="微软雅黑 Light" panose="020B0502040204020203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20000"/>
              </a:lnSpc>
              <a:defRPr sz="2600" b="1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lnSpc>
                <a:spcPct val="120000"/>
              </a:lnSpc>
              <a:defRPr sz="24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lnSpc>
                <a:spcPct val="120000"/>
              </a:lnSpc>
              <a:defRPr sz="20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-180527" y="439062"/>
            <a:ext cx="164581" cy="4800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066DE83E-C489-9340-8A6C-F2C63F8574DC}"/>
              </a:ext>
            </a:extLst>
          </p:cNvPr>
          <p:cNvSpPr/>
          <p:nvPr userDrawn="1"/>
        </p:nvSpPr>
        <p:spPr>
          <a:xfrm rot="5400000">
            <a:off x="-160702" y="599536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36245122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672418"/>
            <a:ext cx="7772400" cy="1135062"/>
          </a:xfrm>
        </p:spPr>
        <p:txBody>
          <a:bodyPr anchor="t"/>
          <a:lstStyle>
            <a:lvl1pPr algn="l">
              <a:defRPr sz="4000" b="1" cap="all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A8EE614D-B549-154F-943F-0F3919AB5939}"/>
              </a:ext>
            </a:extLst>
          </p:cNvPr>
          <p:cNvSpPr/>
          <p:nvPr userDrawn="1"/>
        </p:nvSpPr>
        <p:spPr>
          <a:xfrm rot="5400000">
            <a:off x="-160703" y="3920373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13605760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193204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333501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1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1" y="5296962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fld id="{ADE361C3-C043-4A6E-BDCE-8DA1E7D90A3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0905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6" r:id="rId4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600" b="1" kern="1200">
          <a:solidFill>
            <a:schemeClr val="accent1"/>
          </a:solidFill>
          <a:latin typeface="+mj-lt"/>
          <a:ea typeface="+mj-ea"/>
          <a:cs typeface="微软雅黑 Light" panose="020B0502040204020203" pitchFamily="34" charset="-122"/>
        </a:defRPr>
      </a:lvl1pPr>
    </p:titleStyle>
    <p:bodyStyle>
      <a:lvl1pPr marL="342900" indent="-342900" algn="l" defTabSz="914400" rtl="0" eaLnBrk="1" latinLnBrk="0" hangingPunct="1">
        <a:lnSpc>
          <a:spcPct val="120000"/>
        </a:lnSpc>
        <a:spcBef>
          <a:spcPts val="1200"/>
        </a:spcBef>
        <a:buFont typeface="Arial" pitchFamily="34" charset="0"/>
        <a:buChar char="•"/>
        <a:defRPr sz="2600" b="1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1pPr>
      <a:lvl2pPr marL="742950" indent="-28575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»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333501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1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1" y="5296962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fld id="{ADE361C3-C043-4A6E-BDCE-8DA1E7D90A3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3814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600" b="1" kern="1200">
          <a:solidFill>
            <a:schemeClr val="accent1"/>
          </a:solidFill>
          <a:latin typeface="+mj-lt"/>
          <a:ea typeface="+mj-ea"/>
          <a:cs typeface="微软雅黑 Light" panose="020B0502040204020203" pitchFamily="34" charset="-122"/>
        </a:defRPr>
      </a:lvl1pPr>
    </p:titleStyle>
    <p:bodyStyle>
      <a:lvl1pPr marL="342900" indent="-342900" algn="l" defTabSz="914400" rtl="0" eaLnBrk="1" latinLnBrk="0" hangingPunct="1">
        <a:lnSpc>
          <a:spcPct val="120000"/>
        </a:lnSpc>
        <a:spcBef>
          <a:spcPts val="1200"/>
        </a:spcBef>
        <a:buFont typeface="Arial" pitchFamily="34" charset="0"/>
        <a:buChar char="•"/>
        <a:defRPr sz="2600" b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1pPr>
      <a:lvl2pPr marL="742950" indent="-28575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»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/4.0/legalcode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www.raspberrypi.org/documentation/configuration/config-txt/boot.md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hyperlink" Target="https://github.com/s-matyukevich/raspberry-pi-os/blob/master/docs/lesson02/rpi-os.md" TargetMode="Externa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arm.com/documentation/ddi0500/j/System-Control/AArch64-register-descriptions/Secure-Configuration-Register" TargetMode="Externa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1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2C7C6228-E47F-EA4B-8DD8-28647C76DD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720996"/>
            <a:ext cx="7772400" cy="1225021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kumimoji="1" lang="zh-CN" altLang="en-US" sz="4800" dirty="0"/>
              <a:t>系统初始化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23A70DCB-3E4D-4449-82B8-441C200ABD6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652120" y="252561"/>
            <a:ext cx="1362088" cy="492009"/>
          </a:xfrm>
          <a:prstGeom prst="rect">
            <a:avLst/>
          </a:prstGeom>
        </p:spPr>
      </p:pic>
      <p:sp>
        <p:nvSpPr>
          <p:cNvPr id="7" name="副标题 2">
            <a:extLst>
              <a:ext uri="{FF2B5EF4-FFF2-40B4-BE49-F238E27FC236}">
                <a16:creationId xmlns:a16="http://schemas.microsoft.com/office/drawing/2014/main" id="{E2120B98-7095-B94B-B13B-75606426BFB4}"/>
              </a:ext>
            </a:extLst>
          </p:cNvPr>
          <p:cNvSpPr txBox="1">
            <a:spLocks/>
          </p:cNvSpPr>
          <p:nvPr/>
        </p:nvSpPr>
        <p:spPr>
          <a:xfrm>
            <a:off x="467544" y="252559"/>
            <a:ext cx="3240360" cy="504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None/>
              <a:defRPr sz="2600" b="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altLang="zh-CN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CS3601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</a:rPr>
              <a:t>·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</a:rPr>
              <a:t> 操作系统（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</a:rPr>
              <a:t>2025</a:t>
            </a:r>
            <a:r>
              <a:rPr lang="zh-CN" altLang="en-US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  <a:ea typeface="微软雅黑"/>
              </a:rPr>
              <a:t>秋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</a:rPr>
              <a:t>）</a:t>
            </a:r>
          </a:p>
        </p:txBody>
      </p:sp>
      <p:pic>
        <p:nvPicPr>
          <p:cNvPr id="8" name="Picture 6" descr="http://korean.onlinesjtu.com/%E6%A0%A1%E5%BE%BD%E7%B3%BB%E5%88%97/%E7%BC%A9%E5%B0%8F%E7%89%88/%E8%93%9D%E8%89%B2%E7%B3%BB%20%E5%B0%8F%E5%B0%BA%E5%AF%B8%E6%A0%A1%E5%BE%BD%E5%B1%95%E5%BC%80%E5%BC%8F%20(10mm%E4%BB%A5%E4%B8%8B%E4%BD%BF%E7%94%A8)%20%5b%E8%BD%AC%E6%8D%A2%5d.png">
            <a:extLst>
              <a:ext uri="{FF2B5EF4-FFF2-40B4-BE49-F238E27FC236}">
                <a16:creationId xmlns:a16="http://schemas.microsoft.com/office/drawing/2014/main" id="{9D0C1772-9C9E-534B-9410-16BA28CA6E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4288" y="282539"/>
            <a:ext cx="1642840" cy="432048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副标题 5">
            <a:extLst>
              <a:ext uri="{FF2B5EF4-FFF2-40B4-BE49-F238E27FC236}">
                <a16:creationId xmlns:a16="http://schemas.microsoft.com/office/drawing/2014/main" id="{8E6E9FE5-704E-7677-1033-E056DF5C6602}"/>
              </a:ext>
            </a:extLst>
          </p:cNvPr>
          <p:cNvSpPr txBox="1">
            <a:spLocks/>
          </p:cNvSpPr>
          <p:nvPr/>
        </p:nvSpPr>
        <p:spPr>
          <a:xfrm>
            <a:off x="685800" y="3297888"/>
            <a:ext cx="7772400" cy="12250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None/>
              <a:defRPr sz="2600" b="1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DengXian" charset="0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DengXian" charset="0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DengXian" charset="0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DengXian" charset="0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DengXian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  <a:spcBef>
                <a:spcPts val="0"/>
              </a:spcBef>
            </a:pPr>
            <a:r>
              <a:rPr kumimoji="1" lang="zh-CN" altLang="en-US" sz="1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董明凯</a:t>
            </a:r>
            <a:endParaRPr kumimoji="1" lang="en-US" altLang="zh-CN" sz="1800" b="0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200000"/>
              </a:lnSpc>
              <a:spcBef>
                <a:spcPts val="0"/>
              </a:spcBef>
            </a:pPr>
            <a:r>
              <a:rPr kumimoji="1" lang="en-US" altLang="zh-CN" sz="1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IPADS</a:t>
            </a:r>
            <a:r>
              <a:rPr kumimoji="1" lang="zh-CN" altLang="en-US" sz="1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</a:t>
            </a:r>
            <a:r>
              <a:rPr kumimoji="1" lang="zh-CN" altLang="en-US" sz="1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上海交通大学</a:t>
            </a:r>
            <a:endParaRPr kumimoji="1" lang="en-US" altLang="zh-CN" sz="1800" b="0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58568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626"/>
    </mc:Choice>
    <mc:Fallback xmlns="">
      <p:transition spd="slow" advTm="1162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版权声明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5B3383-B219-984C-8D0C-BCF076655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zh-CN" altLang="en-US" sz="2000" b="0" dirty="0"/>
              <a:t>本内容版权归</a:t>
            </a:r>
            <a:r>
              <a:rPr lang="zh-CN" altLang="en-US" sz="2000" dirty="0"/>
              <a:t>上海交通大学并行与分布式系统研究所</a:t>
            </a:r>
            <a:r>
              <a:rPr lang="zh-CN" altLang="en-US" sz="2000" b="0" dirty="0"/>
              <a:t>所有</a:t>
            </a:r>
            <a:endParaRPr lang="en-US" altLang="zh-CN" sz="2000" b="0" dirty="0"/>
          </a:p>
          <a:p>
            <a:r>
              <a:rPr lang="zh-CN" altLang="en-US" sz="2000" b="0" dirty="0"/>
              <a:t>使用者可以将全部或部分本内容免费用于非商业用途</a:t>
            </a:r>
            <a:endParaRPr lang="en-US" altLang="zh-CN" sz="2000" b="0" dirty="0"/>
          </a:p>
          <a:p>
            <a:r>
              <a:rPr lang="zh-CN" altLang="en-US" sz="2000" b="0" dirty="0"/>
              <a:t>使用者在使用全部或部分本内容时请注明来源</a:t>
            </a:r>
            <a:endParaRPr lang="en-US" altLang="zh-CN" sz="2000" b="0" dirty="0"/>
          </a:p>
          <a:p>
            <a:pPr lvl="1"/>
            <a:r>
              <a:rPr lang="zh-CN" altLang="en-US" sz="1600" dirty="0"/>
              <a:t>内容</a:t>
            </a:r>
            <a:r>
              <a:rPr lang="zh-CN" altLang="en-US" sz="1600" b="0" dirty="0"/>
              <a:t>来自</a:t>
            </a:r>
            <a:r>
              <a:rPr lang="zh-CN" altLang="en-US" sz="1600" dirty="0"/>
              <a:t>：上海交通大学并行与分布式系统研究所</a:t>
            </a:r>
            <a:r>
              <a:rPr lang="en-US" altLang="zh-CN" sz="1600" dirty="0"/>
              <a:t>+</a:t>
            </a:r>
            <a:r>
              <a:rPr lang="zh-CN" altLang="en-US" sz="1600" dirty="0"/>
              <a:t>材料名字</a:t>
            </a:r>
            <a:endParaRPr lang="en-US" altLang="zh-CN" sz="1600" b="0" dirty="0"/>
          </a:p>
          <a:p>
            <a:r>
              <a:rPr lang="zh-CN" altLang="en-US" sz="2000" b="0" dirty="0"/>
              <a:t>对于不遵守此声明或者其他违法使用本内容者，将依法保留追究权</a:t>
            </a:r>
            <a:endParaRPr lang="en-US" altLang="zh-CN" sz="2000" b="0" dirty="0"/>
          </a:p>
          <a:p>
            <a:r>
              <a:rPr lang="zh-CN" altLang="en-US" sz="2000" b="0" dirty="0"/>
              <a:t>本内容的发布采用 </a:t>
            </a:r>
            <a:r>
              <a:rPr lang="en-US" altLang="zh-CN" sz="2000" b="0" dirty="0"/>
              <a:t>Creative Commons</a:t>
            </a:r>
            <a:r>
              <a:rPr lang="zh-CN" altLang="en-US" sz="2000" b="0" dirty="0"/>
              <a:t> </a:t>
            </a:r>
            <a:r>
              <a:rPr lang="en-US" altLang="zh-CN" sz="2000" b="0" dirty="0"/>
              <a:t>Attribution</a:t>
            </a:r>
            <a:r>
              <a:rPr lang="zh-CN" altLang="en-US" sz="2000" b="0" dirty="0"/>
              <a:t> </a:t>
            </a:r>
            <a:r>
              <a:rPr lang="en-US" altLang="zh-CN" sz="2000" b="0" dirty="0"/>
              <a:t>4.0</a:t>
            </a:r>
            <a:r>
              <a:rPr lang="zh-CN" altLang="en-US" sz="2000" b="0" dirty="0"/>
              <a:t> </a:t>
            </a:r>
            <a:r>
              <a:rPr lang="en-US" altLang="zh-CN" sz="2000" b="0" dirty="0"/>
              <a:t>License</a:t>
            </a:r>
            <a:endParaRPr lang="en-US" altLang="zh-CN" sz="2400" b="0" dirty="0"/>
          </a:p>
          <a:p>
            <a:pPr lvl="1"/>
            <a:r>
              <a:rPr lang="zh-CN" altLang="en-US" sz="1600" dirty="0"/>
              <a:t>完整文本：</a:t>
            </a:r>
            <a:r>
              <a:rPr lang="en-US" altLang="zh-CN" sz="1600" dirty="0">
                <a:hlinkClick r:id="rId2"/>
              </a:rPr>
              <a:t>https://creativecommons.org/licenses/by/4.0/legalcode</a:t>
            </a:r>
            <a:endParaRPr lang="en-US" altLang="zh-CN" sz="1800" b="0" dirty="0"/>
          </a:p>
          <a:p>
            <a:endParaRPr kumimoji="1" lang="zh-CN" altLang="en-US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5226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7C3CFBB2-29A4-9845-909C-D2C6211C1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b="1" dirty="0"/>
              <a:t>启动过程与系统初始化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88326478-0DD6-F849-B334-5BDB7DEEC8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584533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0CCD27-2B49-C948-B8CD-AC74D9A4A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启动：一个复杂的过程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854406-708C-E94E-A140-60A71C6C59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000" dirty="0"/>
              <a:t>为什么用</a:t>
            </a:r>
            <a:r>
              <a:rPr kumimoji="1" lang="en-US" altLang="zh-CN" sz="2000" dirty="0"/>
              <a:t>“boot”</a:t>
            </a:r>
            <a:r>
              <a:rPr kumimoji="1" lang="zh-CN" altLang="en-US" sz="2000" dirty="0"/>
              <a:t>表示启动</a:t>
            </a:r>
            <a:r>
              <a:rPr kumimoji="1" lang="en-US" altLang="zh-CN" sz="2000" dirty="0"/>
              <a:t>?</a:t>
            </a:r>
          </a:p>
          <a:p>
            <a:pPr lvl="1"/>
            <a:r>
              <a:rPr kumimoji="1" lang="en-US" altLang="zh-CN" sz="2000" dirty="0"/>
              <a:t>Boot</a:t>
            </a:r>
            <a:r>
              <a:rPr kumimoji="1" lang="zh-CN" altLang="en-US" sz="2000" dirty="0"/>
              <a:t>源自</a:t>
            </a:r>
            <a:r>
              <a:rPr kumimoji="1" lang="en-US" altLang="zh-CN" sz="2000" dirty="0"/>
              <a:t>bootstrap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–</a:t>
            </a:r>
            <a:r>
              <a:rPr kumimoji="1" lang="zh-CN" altLang="en-US" sz="2000" dirty="0"/>
              <a:t> 鞋带</a:t>
            </a:r>
            <a:endParaRPr kumimoji="1" lang="en" altLang="zh-CN" sz="2000" dirty="0"/>
          </a:p>
          <a:p>
            <a:pPr lvl="1"/>
            <a:r>
              <a:rPr kumimoji="1" lang="en" altLang="zh-CN" sz="2000" dirty="0"/>
              <a:t>"pull oneself up by one's bootstraps"</a:t>
            </a:r>
          </a:p>
          <a:p>
            <a:pPr lvl="2"/>
            <a:r>
              <a:rPr kumimoji="1" lang="zh-CN" altLang="en" sz="1800" dirty="0"/>
              <a:t>通过</a:t>
            </a:r>
            <a:r>
              <a:rPr kumimoji="1" lang="zh-CN" altLang="en-US" sz="1800" dirty="0"/>
              <a:t>拽鞋带，把自己拉起来</a:t>
            </a:r>
            <a:endParaRPr kumimoji="1" lang="en-US" altLang="zh-CN" sz="1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33DBE01-8D6E-7148-9DCE-97B7D3D56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</a:t>
            </a:fld>
            <a:endParaRPr lang="zh-CN" altLang="en-US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52027CB3-9C3A-314B-B5D3-BBF55E5DA9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4F4F4"/>
              </a:clrFrom>
              <a:clrTo>
                <a:srgbClr val="F4F4F4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4208" y="1417340"/>
            <a:ext cx="1963936" cy="1644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A91AF96B-3EAB-E045-A502-AB3314B7A619}"/>
              </a:ext>
            </a:extLst>
          </p:cNvPr>
          <p:cNvSpPr/>
          <p:nvPr/>
        </p:nvSpPr>
        <p:spPr>
          <a:xfrm>
            <a:off x="608268" y="3365836"/>
            <a:ext cx="7927464" cy="2031325"/>
          </a:xfrm>
          <a:prstGeom prst="rect">
            <a:avLst/>
          </a:prstGeom>
          <a:ln>
            <a:solidFill>
              <a:schemeClr val="accent6"/>
            </a:solidFill>
          </a:ln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kumimoji="1" lang="en" altLang="zh-CN" i="1" dirty="0"/>
              <a:t>The computer term bootstrap began as a metaphor in the 1950s. In computers, pressing a bootstrap button caused a hardwired program to read a bootstrap program from an input unit. The computer would then execute the bootstrap program, which caused it to read more program instructions. It became a self-sustaining process that proceeded without external help from manually entered instructions. As a computing term, bootstrap has been used since at least 1953.</a:t>
            </a:r>
            <a:endParaRPr kumimoji="1" lang="zh-CN" altLang="en-US" i="1" dirty="0"/>
          </a:p>
        </p:txBody>
      </p:sp>
    </p:spTree>
    <p:extLst>
      <p:ext uri="{BB962C8B-B14F-4D97-AF65-F5344CB8AC3E}">
        <p14:creationId xmlns:p14="http://schemas.microsoft.com/office/powerpoint/2010/main" val="4881639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C396A1-FAED-9F40-B989-BBC1F47D6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启动流程：从上电到等待用户输入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B626A4F-60DB-8847-A2D3-B623A0B2E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</a:t>
            </a:fld>
            <a:endParaRPr lang="zh-CN" altLang="en-US"/>
          </a:p>
        </p:txBody>
      </p:sp>
      <p:cxnSp>
        <p:nvCxnSpPr>
          <p:cNvPr id="6" name="直线箭头连接符 5">
            <a:extLst>
              <a:ext uri="{FF2B5EF4-FFF2-40B4-BE49-F238E27FC236}">
                <a16:creationId xmlns:a16="http://schemas.microsoft.com/office/drawing/2014/main" id="{AAD4F2AC-85B2-FC41-93D1-06E36402BA37}"/>
              </a:ext>
            </a:extLst>
          </p:cNvPr>
          <p:cNvCxnSpPr>
            <a:cxnSpLocks/>
          </p:cNvCxnSpPr>
          <p:nvPr/>
        </p:nvCxnSpPr>
        <p:spPr>
          <a:xfrm>
            <a:off x="3398491" y="1444983"/>
            <a:ext cx="0" cy="3932797"/>
          </a:xfrm>
          <a:prstGeom prst="straightConnector1">
            <a:avLst/>
          </a:prstGeom>
          <a:ln w="381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80596111-A099-A646-8FBF-9BEF8C413E39}"/>
              </a:ext>
            </a:extLst>
          </p:cNvPr>
          <p:cNvSpPr/>
          <p:nvPr/>
        </p:nvSpPr>
        <p:spPr>
          <a:xfrm>
            <a:off x="2262907" y="1487604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kumimoji="1" lang="zh-CN" altLang="en-US" sz="1400" dirty="0"/>
              <a:t>按下开关</a:t>
            </a:r>
            <a:endParaRPr lang="zh-CN" altLang="en-US" sz="1400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20A3826-8315-CD43-A81A-7F2E25077D7B}"/>
              </a:ext>
            </a:extLst>
          </p:cNvPr>
          <p:cNvSpPr/>
          <p:nvPr/>
        </p:nvSpPr>
        <p:spPr>
          <a:xfrm>
            <a:off x="1544762" y="2313664"/>
            <a:ext cx="162095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kumimoji="1" lang="zh-CN" altLang="en-US" sz="1400" dirty="0"/>
              <a:t>内核的第一行代码</a:t>
            </a:r>
            <a:endParaRPr lang="zh-CN" altLang="en-US" sz="1400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3099803-4A77-5447-B794-69E6A9EDE172}"/>
              </a:ext>
            </a:extLst>
          </p:cNvPr>
          <p:cNvSpPr/>
          <p:nvPr/>
        </p:nvSpPr>
        <p:spPr>
          <a:xfrm>
            <a:off x="467544" y="3139724"/>
            <a:ext cx="269817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kumimoji="1" lang="zh-CN" altLang="en-US" sz="1400" dirty="0"/>
              <a:t>第一个用户态应用的第一行代码</a:t>
            </a:r>
            <a:endParaRPr lang="zh-CN" altLang="en-US" sz="14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D5E7FDE-2736-C24B-9142-1EE837606B50}"/>
              </a:ext>
            </a:extLst>
          </p:cNvPr>
          <p:cNvSpPr/>
          <p:nvPr/>
        </p:nvSpPr>
        <p:spPr>
          <a:xfrm>
            <a:off x="1535143" y="3965784"/>
            <a:ext cx="163057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kumimoji="1" lang="en-US" altLang="zh-CN" sz="1400" dirty="0"/>
              <a:t>shell</a:t>
            </a:r>
            <a:r>
              <a:rPr kumimoji="1" lang="zh-CN" altLang="en-US" sz="1400" dirty="0"/>
              <a:t>的第一行代码</a:t>
            </a:r>
            <a:endParaRPr lang="zh-CN" altLang="en-US" sz="1400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CDF2F5F-D6FF-F641-A708-40DD40FBF535}"/>
              </a:ext>
            </a:extLst>
          </p:cNvPr>
          <p:cNvSpPr/>
          <p:nvPr/>
        </p:nvSpPr>
        <p:spPr>
          <a:xfrm>
            <a:off x="1535143" y="4791843"/>
            <a:ext cx="163057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kumimoji="1" lang="en-US" altLang="zh-CN" sz="1400" dirty="0"/>
              <a:t>shell</a:t>
            </a:r>
            <a:r>
              <a:rPr kumimoji="1" lang="zh-CN" altLang="en-US" sz="1400" dirty="0"/>
              <a:t>等待用户输入</a:t>
            </a:r>
            <a:endParaRPr lang="zh-CN" altLang="en-US" sz="1400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EAF7EFB-45B4-BC45-B52A-90EB3BCDC6BF}"/>
              </a:ext>
            </a:extLst>
          </p:cNvPr>
          <p:cNvSpPr txBox="1"/>
          <p:nvPr/>
        </p:nvSpPr>
        <p:spPr>
          <a:xfrm>
            <a:off x="3608709" y="1735960"/>
            <a:ext cx="3534195" cy="624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/>
              <a:t>硬件环境（除</a:t>
            </a:r>
            <a:r>
              <a:rPr kumimoji="1" lang="en-US" altLang="zh-CN" sz="1400" dirty="0"/>
              <a:t>CPU</a:t>
            </a:r>
            <a:r>
              <a:rPr kumimoji="1" lang="zh-CN" altLang="en-US" sz="1400" dirty="0"/>
              <a:t>）初始化</a:t>
            </a:r>
            <a:endParaRPr kumimoji="1" lang="en-US" altLang="zh-CN" sz="1400" dirty="0"/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/>
              <a:t>加载内核代码到内存中</a:t>
            </a:r>
          </a:p>
        </p:txBody>
      </p:sp>
      <p:cxnSp>
        <p:nvCxnSpPr>
          <p:cNvPr id="5" name="直线连接符 4">
            <a:extLst>
              <a:ext uri="{FF2B5EF4-FFF2-40B4-BE49-F238E27FC236}">
                <a16:creationId xmlns:a16="http://schemas.microsoft.com/office/drawing/2014/main" id="{1E0456C8-A445-EE4E-8171-9BDEA71211DA}"/>
              </a:ext>
            </a:extLst>
          </p:cNvPr>
          <p:cNvCxnSpPr/>
          <p:nvPr/>
        </p:nvCxnSpPr>
        <p:spPr>
          <a:xfrm>
            <a:off x="3398491" y="1633364"/>
            <a:ext cx="3744413" cy="0"/>
          </a:xfrm>
          <a:prstGeom prst="line">
            <a:avLst/>
          </a:prstGeom>
          <a:ln w="6350">
            <a:solidFill>
              <a:schemeClr val="accent1"/>
            </a:solidFill>
            <a:head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线连接符 21">
            <a:extLst>
              <a:ext uri="{FF2B5EF4-FFF2-40B4-BE49-F238E27FC236}">
                <a16:creationId xmlns:a16="http://schemas.microsoft.com/office/drawing/2014/main" id="{E4F0EC48-D4E8-B44E-AFC8-7C31AAC5C055}"/>
              </a:ext>
            </a:extLst>
          </p:cNvPr>
          <p:cNvCxnSpPr/>
          <p:nvPr/>
        </p:nvCxnSpPr>
        <p:spPr>
          <a:xfrm>
            <a:off x="3398491" y="2461456"/>
            <a:ext cx="3744413" cy="0"/>
          </a:xfrm>
          <a:prstGeom prst="line">
            <a:avLst/>
          </a:prstGeom>
          <a:ln w="6350">
            <a:solidFill>
              <a:schemeClr val="accent1"/>
            </a:solidFill>
            <a:head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线连接符 22">
            <a:extLst>
              <a:ext uri="{FF2B5EF4-FFF2-40B4-BE49-F238E27FC236}">
                <a16:creationId xmlns:a16="http://schemas.microsoft.com/office/drawing/2014/main" id="{FBD8E2D1-753B-864B-BB05-7239F8CAD350}"/>
              </a:ext>
            </a:extLst>
          </p:cNvPr>
          <p:cNvCxnSpPr/>
          <p:nvPr/>
        </p:nvCxnSpPr>
        <p:spPr>
          <a:xfrm>
            <a:off x="3398491" y="3289548"/>
            <a:ext cx="3744413" cy="0"/>
          </a:xfrm>
          <a:prstGeom prst="line">
            <a:avLst/>
          </a:prstGeom>
          <a:ln w="6350">
            <a:solidFill>
              <a:schemeClr val="accent1"/>
            </a:solidFill>
            <a:head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线连接符 23">
            <a:extLst>
              <a:ext uri="{FF2B5EF4-FFF2-40B4-BE49-F238E27FC236}">
                <a16:creationId xmlns:a16="http://schemas.microsoft.com/office/drawing/2014/main" id="{4CC669C2-677B-9245-B183-4F9BA8DE5A45}"/>
              </a:ext>
            </a:extLst>
          </p:cNvPr>
          <p:cNvCxnSpPr/>
          <p:nvPr/>
        </p:nvCxnSpPr>
        <p:spPr>
          <a:xfrm>
            <a:off x="3398491" y="4117640"/>
            <a:ext cx="3744413" cy="0"/>
          </a:xfrm>
          <a:prstGeom prst="line">
            <a:avLst/>
          </a:prstGeom>
          <a:ln w="6350">
            <a:solidFill>
              <a:schemeClr val="accent1"/>
            </a:solidFill>
            <a:head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线连接符 24">
            <a:extLst>
              <a:ext uri="{FF2B5EF4-FFF2-40B4-BE49-F238E27FC236}">
                <a16:creationId xmlns:a16="http://schemas.microsoft.com/office/drawing/2014/main" id="{71E9F174-07B3-2043-9AAD-D462DA8654D8}"/>
              </a:ext>
            </a:extLst>
          </p:cNvPr>
          <p:cNvCxnSpPr/>
          <p:nvPr/>
        </p:nvCxnSpPr>
        <p:spPr>
          <a:xfrm>
            <a:off x="3398491" y="4945732"/>
            <a:ext cx="3744413" cy="0"/>
          </a:xfrm>
          <a:prstGeom prst="line">
            <a:avLst/>
          </a:prstGeom>
          <a:ln w="6350">
            <a:solidFill>
              <a:schemeClr val="accent1"/>
            </a:solidFill>
            <a:head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EAD7D499-FB1D-D041-BCAA-292FA449B138}"/>
              </a:ext>
            </a:extLst>
          </p:cNvPr>
          <p:cNvSpPr txBox="1"/>
          <p:nvPr/>
        </p:nvSpPr>
        <p:spPr>
          <a:xfrm>
            <a:off x="3608709" y="2564051"/>
            <a:ext cx="3534195" cy="624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/>
              <a:t>初始化</a:t>
            </a:r>
            <a:r>
              <a:rPr kumimoji="1" lang="en-US" altLang="zh-CN" sz="1400" dirty="0"/>
              <a:t>MMU</a:t>
            </a:r>
            <a:r>
              <a:rPr kumimoji="1" lang="zh-CN" altLang="en-US" sz="1400" dirty="0"/>
              <a:t>、外设（如网卡、硬盘）</a:t>
            </a:r>
            <a:endParaRPr kumimoji="1" lang="en-US" altLang="zh-CN" sz="1400" dirty="0"/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/>
              <a:t>若有多核，则初始化其他</a:t>
            </a:r>
            <a:r>
              <a:rPr kumimoji="1" lang="en-US" altLang="zh-CN" sz="1400" dirty="0"/>
              <a:t>CPU</a:t>
            </a:r>
            <a:r>
              <a:rPr kumimoji="1" lang="zh-CN" altLang="en-US" sz="1400" dirty="0"/>
              <a:t>核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10B0298-31FC-B64A-B854-8D252896DDEE}"/>
              </a:ext>
            </a:extLst>
          </p:cNvPr>
          <p:cNvSpPr txBox="1"/>
          <p:nvPr/>
        </p:nvSpPr>
        <p:spPr>
          <a:xfrm>
            <a:off x="3631264" y="3387453"/>
            <a:ext cx="3534195" cy="34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/>
              <a:t>加载</a:t>
            </a:r>
            <a:r>
              <a:rPr kumimoji="1" lang="en-US" altLang="zh-CN" sz="1400" dirty="0"/>
              <a:t>shell</a:t>
            </a:r>
            <a:r>
              <a:rPr kumimoji="1" lang="zh-CN" altLang="en-US" sz="1400" dirty="0"/>
              <a:t>的二进制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7052C279-1851-164C-A18D-0D98291C0D98}"/>
              </a:ext>
            </a:extLst>
          </p:cNvPr>
          <p:cNvSpPr txBox="1"/>
          <p:nvPr/>
        </p:nvSpPr>
        <p:spPr>
          <a:xfrm>
            <a:off x="3631264" y="4215544"/>
            <a:ext cx="3534195" cy="34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/>
              <a:t>等待键盘输入</a:t>
            </a:r>
          </a:p>
        </p:txBody>
      </p:sp>
      <p:sp>
        <p:nvSpPr>
          <p:cNvPr id="33" name="右大括号 32">
            <a:extLst>
              <a:ext uri="{FF2B5EF4-FFF2-40B4-BE49-F238E27FC236}">
                <a16:creationId xmlns:a16="http://schemas.microsoft.com/office/drawing/2014/main" id="{6813E226-AE60-0E42-8125-0F712A0428CF}"/>
              </a:ext>
            </a:extLst>
          </p:cNvPr>
          <p:cNvSpPr/>
          <p:nvPr/>
        </p:nvSpPr>
        <p:spPr>
          <a:xfrm>
            <a:off x="7253050" y="1728658"/>
            <a:ext cx="127262" cy="632088"/>
          </a:xfrm>
          <a:prstGeom prst="rightBrace">
            <a:avLst>
              <a:gd name="adj1" fmla="val 52426"/>
              <a:gd name="adj2" fmla="val 50000"/>
            </a:avLst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7" name="右大括号 36">
            <a:extLst>
              <a:ext uri="{FF2B5EF4-FFF2-40B4-BE49-F238E27FC236}">
                <a16:creationId xmlns:a16="http://schemas.microsoft.com/office/drawing/2014/main" id="{ACB44733-C2E8-DE4E-9831-E50F24E255EF}"/>
              </a:ext>
            </a:extLst>
          </p:cNvPr>
          <p:cNvSpPr/>
          <p:nvPr/>
        </p:nvSpPr>
        <p:spPr>
          <a:xfrm>
            <a:off x="7253050" y="2560400"/>
            <a:ext cx="127262" cy="632088"/>
          </a:xfrm>
          <a:prstGeom prst="rightBrace">
            <a:avLst>
              <a:gd name="adj1" fmla="val 52426"/>
              <a:gd name="adj2" fmla="val 50000"/>
            </a:avLst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8" name="右大括号 37">
            <a:extLst>
              <a:ext uri="{FF2B5EF4-FFF2-40B4-BE49-F238E27FC236}">
                <a16:creationId xmlns:a16="http://schemas.microsoft.com/office/drawing/2014/main" id="{0C5266E5-D4D9-A84B-B9BA-CC9C0154C703}"/>
              </a:ext>
            </a:extLst>
          </p:cNvPr>
          <p:cNvSpPr/>
          <p:nvPr/>
        </p:nvSpPr>
        <p:spPr>
          <a:xfrm>
            <a:off x="7253050" y="3387453"/>
            <a:ext cx="127262" cy="632088"/>
          </a:xfrm>
          <a:prstGeom prst="rightBrace">
            <a:avLst>
              <a:gd name="adj1" fmla="val 52426"/>
              <a:gd name="adj2" fmla="val 50000"/>
            </a:avLst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9" name="右大括号 38">
            <a:extLst>
              <a:ext uri="{FF2B5EF4-FFF2-40B4-BE49-F238E27FC236}">
                <a16:creationId xmlns:a16="http://schemas.microsoft.com/office/drawing/2014/main" id="{A62E0023-B689-864A-BECD-9E127B3FCA85}"/>
              </a:ext>
            </a:extLst>
          </p:cNvPr>
          <p:cNvSpPr/>
          <p:nvPr/>
        </p:nvSpPr>
        <p:spPr>
          <a:xfrm>
            <a:off x="7253050" y="4214506"/>
            <a:ext cx="127262" cy="632088"/>
          </a:xfrm>
          <a:prstGeom prst="rightBrace">
            <a:avLst>
              <a:gd name="adj1" fmla="val 52426"/>
              <a:gd name="adj2" fmla="val 50000"/>
            </a:avLst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758D83B-1251-F84E-8BB7-CD3E73326A62}"/>
              </a:ext>
            </a:extLst>
          </p:cNvPr>
          <p:cNvSpPr/>
          <p:nvPr/>
        </p:nvSpPr>
        <p:spPr>
          <a:xfrm>
            <a:off x="7464418" y="1890813"/>
            <a:ext cx="102944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 dirty="0"/>
              <a:t>bootloader</a:t>
            </a:r>
            <a:endParaRPr lang="zh-CN" altLang="en-US" sz="1400" dirty="0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B6703E84-ABA0-494B-A1F0-48A2F887E37E}"/>
              </a:ext>
            </a:extLst>
          </p:cNvPr>
          <p:cNvSpPr/>
          <p:nvPr/>
        </p:nvSpPr>
        <p:spPr>
          <a:xfrm>
            <a:off x="7464417" y="2703611"/>
            <a:ext cx="98135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 dirty="0"/>
              <a:t>OS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kernel</a:t>
            </a:r>
            <a:endParaRPr lang="zh-CN" altLang="en-US" sz="1400" dirty="0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30F1CD53-690F-2644-B59F-D74878163C1A}"/>
              </a:ext>
            </a:extLst>
          </p:cNvPr>
          <p:cNvSpPr/>
          <p:nvPr/>
        </p:nvSpPr>
        <p:spPr>
          <a:xfrm>
            <a:off x="7442875" y="3516409"/>
            <a:ext cx="131157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1400" dirty="0"/>
              <a:t>用户态</a:t>
            </a:r>
            <a:r>
              <a:rPr kumimoji="1" lang="en-US" altLang="zh-CN" sz="1400" dirty="0" err="1"/>
              <a:t>init</a:t>
            </a:r>
            <a:r>
              <a:rPr kumimoji="1" lang="zh-CN" altLang="en-US" sz="1400" dirty="0"/>
              <a:t>进程</a:t>
            </a:r>
            <a:endParaRPr lang="zh-CN" altLang="en-US" sz="1400" dirty="0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C5C6ED51-1CE6-7A40-B28E-8FF0DFF9D3F0}"/>
              </a:ext>
            </a:extLst>
          </p:cNvPr>
          <p:cNvSpPr/>
          <p:nvPr/>
        </p:nvSpPr>
        <p:spPr>
          <a:xfrm>
            <a:off x="7464418" y="4373311"/>
            <a:ext cx="55335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 dirty="0"/>
              <a:t>shell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6086443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CBE98B-DAFA-2548-8318-C801B3752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从计算机上电到内核开始运行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522EC99-C5CE-5640-ABA3-931EF33775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kumimoji="1" lang="zh-CN" altLang="en-US" sz="1800" dirty="0"/>
              <a:t>上电后，开始执行</a:t>
            </a:r>
            <a:r>
              <a:rPr kumimoji="1" lang="en-US" altLang="zh-CN" sz="1800" dirty="0"/>
              <a:t>BIOS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ROM</a:t>
            </a:r>
            <a:r>
              <a:rPr kumimoji="1" lang="zh-CN" altLang="en-US" sz="1800" dirty="0"/>
              <a:t>中的代码（早期设备）</a:t>
            </a:r>
            <a:endParaRPr kumimoji="1" lang="en-US" altLang="zh-CN" sz="1800" dirty="0"/>
          </a:p>
          <a:p>
            <a:pPr marL="857250" lvl="1" indent="-457200"/>
            <a:r>
              <a:rPr kumimoji="1" lang="zh-CN" altLang="en-US" sz="1600" dirty="0"/>
              <a:t>自检（</a:t>
            </a:r>
            <a:r>
              <a:rPr kumimoji="1" lang="en-US" altLang="zh-CN" sz="1600" dirty="0"/>
              <a:t>POST: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Power-On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Self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Test</a:t>
            </a:r>
            <a:r>
              <a:rPr kumimoji="1" lang="zh-CN" altLang="en-US" sz="1600" dirty="0"/>
              <a:t>）</a:t>
            </a:r>
            <a:endParaRPr kumimoji="1" lang="en-US" altLang="zh-CN" sz="1600" dirty="0"/>
          </a:p>
          <a:p>
            <a:pPr marL="857250" lvl="1" indent="-457200"/>
            <a:r>
              <a:rPr kumimoji="1" lang="zh-CN" altLang="en-US" sz="1600" dirty="0"/>
              <a:t>找到第一个可启动设备（如第一块磁盘）</a:t>
            </a:r>
            <a:endParaRPr kumimoji="1" lang="en-US" altLang="zh-CN" sz="1600" dirty="0"/>
          </a:p>
          <a:p>
            <a:pPr marL="857250" lvl="1" indent="-457200"/>
            <a:r>
              <a:rPr kumimoji="1" lang="zh-CN" altLang="en-US" sz="1600" dirty="0"/>
              <a:t>将可启动设备的第一个块（</a:t>
            </a:r>
            <a:r>
              <a:rPr kumimoji="1" lang="en" altLang="zh-CN" sz="1600" dirty="0"/>
              <a:t>Master Boot Record</a:t>
            </a:r>
            <a:r>
              <a:rPr kumimoji="1" lang="zh-CN" altLang="en-US" sz="1600" dirty="0"/>
              <a:t>）加载到内存固定地址中</a:t>
            </a:r>
            <a:endParaRPr kumimoji="1" lang="en-US" altLang="zh-CN" sz="1200" dirty="0"/>
          </a:p>
          <a:p>
            <a:pPr marL="857250" lvl="1" indent="-457200"/>
            <a:r>
              <a:rPr kumimoji="1" lang="zh-CN" altLang="en-US" sz="1600" dirty="0"/>
              <a:t>跳转到</a:t>
            </a:r>
            <a:r>
              <a:rPr kumimoji="1" lang="en-US" altLang="zh-CN" sz="1600" dirty="0"/>
              <a:t>bootloader</a:t>
            </a:r>
            <a:r>
              <a:rPr kumimoji="1" lang="zh-CN" altLang="en-US" sz="1600" dirty="0"/>
              <a:t>的内存地址（</a:t>
            </a:r>
            <a:r>
              <a:rPr kumimoji="1" lang="en-US" altLang="zh-CN" sz="1600" dirty="0"/>
              <a:t>MBR</a:t>
            </a:r>
            <a:r>
              <a:rPr kumimoji="1" lang="zh-CN" altLang="en-US" sz="1600" dirty="0"/>
              <a:t>中包含</a:t>
            </a:r>
            <a:r>
              <a:rPr kumimoji="1" lang="en-US" altLang="zh-CN" sz="1600" dirty="0"/>
              <a:t>bootloader</a:t>
            </a:r>
            <a:r>
              <a:rPr kumimoji="1" lang="zh-CN" altLang="en-US" sz="1600" dirty="0"/>
              <a:t>）并继续执行</a:t>
            </a:r>
            <a:endParaRPr kumimoji="1" lang="en-US" altLang="zh-CN" sz="1600" dirty="0"/>
          </a:p>
          <a:p>
            <a:pPr marL="457200" indent="-457200">
              <a:buFont typeface="+mj-lt"/>
              <a:buAutoNum type="arabicPeriod"/>
            </a:pPr>
            <a:r>
              <a:rPr kumimoji="1" lang="en-US" altLang="zh-CN" sz="1800" dirty="0"/>
              <a:t>bootloader</a:t>
            </a:r>
            <a:r>
              <a:rPr kumimoji="1" lang="zh-CN" altLang="en-US" sz="1800" dirty="0"/>
              <a:t>开始执行</a:t>
            </a:r>
            <a:endParaRPr kumimoji="1" lang="en-US" altLang="zh-CN" sz="1800" dirty="0"/>
          </a:p>
          <a:p>
            <a:pPr marL="857250" lvl="1" indent="-457200"/>
            <a:r>
              <a:rPr kumimoji="1" lang="zh-CN" altLang="en-US" sz="1600" dirty="0"/>
              <a:t>将内核的二进制文件从启动设备加载到内存中</a:t>
            </a:r>
            <a:endParaRPr kumimoji="1" lang="en-US" altLang="zh-CN" sz="1600" dirty="0"/>
          </a:p>
          <a:p>
            <a:pPr marL="857250" lvl="1" indent="-457200"/>
            <a:r>
              <a:rPr kumimoji="1" lang="zh-CN" altLang="en-US" sz="1600" dirty="0"/>
              <a:t>若内核文件是压缩包，则对其进行解压</a:t>
            </a:r>
            <a:endParaRPr kumimoji="1" lang="en-US" altLang="zh-CN" sz="1600" dirty="0"/>
          </a:p>
          <a:p>
            <a:pPr marL="857250" lvl="1" indent="-457200"/>
            <a:r>
              <a:rPr kumimoji="1" lang="zh-CN" altLang="en-US" sz="1600" dirty="0"/>
              <a:t>跳转到（解压后的）内核加载地址（物理地址）并继续执行</a:t>
            </a:r>
            <a:endParaRPr kumimoji="1" lang="en-US" altLang="zh-CN" sz="1600" dirty="0"/>
          </a:p>
          <a:p>
            <a:pPr marL="457200" indent="-457200">
              <a:buFont typeface="+mj-lt"/>
              <a:buAutoNum type="arabicPeriod"/>
            </a:pPr>
            <a:r>
              <a:rPr kumimoji="1" lang="zh-CN" altLang="en-US" sz="1800" dirty="0"/>
              <a:t>内核代码开始执行</a:t>
            </a:r>
            <a:endParaRPr kumimoji="1" lang="en-US" altLang="zh-CN" sz="1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435E554-88D7-4446-B227-289B7C3E0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</a:t>
            </a:fld>
            <a:endParaRPr lang="zh-CN" altLang="en-US"/>
          </a:p>
        </p:txBody>
      </p:sp>
      <p:pic>
        <p:nvPicPr>
          <p:cNvPr id="1026" name="Picture 2" descr="PC Computer Boot BIOS POST Beep Codes – Find Thingy">
            <a:extLst>
              <a:ext uri="{FF2B5EF4-FFF2-40B4-BE49-F238E27FC236}">
                <a16:creationId xmlns:a16="http://schemas.microsoft.com/office/drawing/2014/main" id="{C72FEFA6-1DBC-9746-9929-BA69768CB2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0232" y="679087"/>
            <a:ext cx="2132753" cy="1599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50554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8AEBA5-2447-6C41-9187-8FEDCD241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实例：树莓派</a:t>
            </a:r>
            <a:r>
              <a:rPr kumimoji="1" lang="en-US" altLang="zh-CN" dirty="0"/>
              <a:t>bootloader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2AABAAD-4335-9144-8A5D-700C09B394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0"/>
            <a:ext cx="8229600" cy="4044280"/>
          </a:xfrm>
        </p:spPr>
        <p:txBody>
          <a:bodyPr>
            <a:normAutofit/>
          </a:bodyPr>
          <a:lstStyle/>
          <a:p>
            <a:r>
              <a:rPr kumimoji="1" lang="zh-CN" altLang="en-US" sz="2400" dirty="0"/>
              <a:t>树莓派：上电后真正运行的第一行代码（没有</a:t>
            </a:r>
            <a:r>
              <a:rPr kumimoji="1" lang="en-US" altLang="zh-CN" sz="2400" dirty="0"/>
              <a:t>BIOS</a:t>
            </a:r>
            <a:r>
              <a:rPr kumimoji="1" lang="zh-CN" altLang="en-US" sz="2400" dirty="0"/>
              <a:t>）</a:t>
            </a:r>
            <a:endParaRPr lang="en-US" altLang="zh-CN" sz="2400" dirty="0"/>
          </a:p>
          <a:p>
            <a:pPr lvl="1"/>
            <a:r>
              <a:rPr lang="zh-CN" altLang="en-US" sz="2000" dirty="0"/>
              <a:t>板子上电后固定从</a:t>
            </a:r>
            <a:r>
              <a:rPr lang="en-US" altLang="zh-CN" sz="2000" dirty="0"/>
              <a:t>0x0</a:t>
            </a:r>
            <a:r>
              <a:rPr lang="zh-CN" altLang="en-US" sz="2000" dirty="0"/>
              <a:t>地址运行</a:t>
            </a:r>
            <a:r>
              <a:rPr lang="en" altLang="zh-CN" sz="2000" dirty="0"/>
              <a:t>firmware</a:t>
            </a:r>
            <a:r>
              <a:rPr lang="zh-CN" altLang="en-US" sz="2000" dirty="0"/>
              <a:t>（也称 </a:t>
            </a:r>
            <a:r>
              <a:rPr lang="en-US" altLang="zh-CN" sz="2000" dirty="0"/>
              <a:t>bootloader</a:t>
            </a:r>
            <a:r>
              <a:rPr lang="zh-CN" altLang="en-US" sz="2000" dirty="0"/>
              <a:t>）</a:t>
            </a:r>
            <a:endParaRPr lang="en" altLang="zh-CN" sz="2000" dirty="0"/>
          </a:p>
          <a:p>
            <a:pPr lvl="1"/>
            <a:r>
              <a:rPr lang="zh-CN" altLang="en-US" sz="2000" dirty="0"/>
              <a:t>然后再由这段代码去初始化</a:t>
            </a:r>
            <a:r>
              <a:rPr lang="en" altLang="zh-CN" sz="2000" dirty="0"/>
              <a:t>CPU</a:t>
            </a:r>
            <a:r>
              <a:rPr lang="zh-CN" altLang="en" sz="2000" dirty="0"/>
              <a:t>、</a:t>
            </a:r>
            <a:r>
              <a:rPr lang="en" altLang="zh-CN" sz="2000" dirty="0"/>
              <a:t>SDRAM</a:t>
            </a:r>
            <a:r>
              <a:rPr lang="zh-CN" altLang="en-US" sz="2000" dirty="0"/>
              <a:t>等</a:t>
            </a:r>
            <a:endParaRPr lang="en-US" altLang="zh-CN" sz="2000" dirty="0"/>
          </a:p>
          <a:p>
            <a:pPr lvl="1"/>
            <a:r>
              <a:rPr lang="zh-CN" altLang="en-US" sz="2000" dirty="0"/>
              <a:t>最后再加载内核、根文件系统到内存，实现系统启动</a:t>
            </a:r>
            <a:endParaRPr lang="en-US" altLang="zh-CN" sz="2000" dirty="0"/>
          </a:p>
          <a:p>
            <a:r>
              <a:rPr lang="zh-CN" altLang="en-US" sz="2400" dirty="0"/>
              <a:t>不同主板厂商的实现可以不同</a:t>
            </a:r>
            <a:endParaRPr lang="en-US" altLang="zh-CN" sz="2400" dirty="0"/>
          </a:p>
          <a:p>
            <a:pPr lvl="1"/>
            <a:r>
              <a:rPr lang="zh-CN" altLang="en-US" sz="2000" dirty="0"/>
              <a:t>这部分代码由主板厂商提供，使用人员通常不用关心</a:t>
            </a:r>
            <a:endParaRPr lang="en-US" altLang="zh-CN" sz="2000" dirty="0"/>
          </a:p>
          <a:p>
            <a:pPr lvl="1"/>
            <a:r>
              <a:rPr lang="zh-CN" altLang="en-US" sz="2000" dirty="0"/>
              <a:t>树莓派的启动比较特殊：第一行代码由</a:t>
            </a:r>
            <a:r>
              <a:rPr lang="en-US" altLang="zh-CN" sz="2000" dirty="0"/>
              <a:t>GPU</a:t>
            </a:r>
            <a:r>
              <a:rPr lang="zh-CN" altLang="en-US" sz="2000" dirty="0"/>
              <a:t>运行</a:t>
            </a:r>
            <a:endParaRPr kumimoji="1" lang="en-US" altLang="zh-CN" dirty="0"/>
          </a:p>
          <a:p>
            <a:pPr lvl="1"/>
            <a:r>
              <a:rPr kumimoji="1" lang="zh-CN" altLang="en-US" sz="2000" dirty="0"/>
              <a:t>不同版本的树莓派也可能不一样</a:t>
            </a:r>
            <a:endParaRPr lang="en-US" altLang="zh-CN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B5A469F-0C14-EB41-9548-D06E8401A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16142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E3FE34-58AD-4545-BFA6-3B38CB230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树莓派的启动</a:t>
            </a:r>
            <a:r>
              <a:rPr kumimoji="1" lang="en-US" altLang="zh-CN" dirty="0"/>
              <a:t>3</a:t>
            </a:r>
            <a:r>
              <a:rPr kumimoji="1" lang="zh-CN" altLang="en-US" dirty="0"/>
              <a:t>阶段（</a:t>
            </a:r>
            <a:r>
              <a:rPr kumimoji="1" lang="en-US" altLang="zh-CN" dirty="0"/>
              <a:t>by</a:t>
            </a:r>
            <a:r>
              <a:rPr kumimoji="1" lang="zh-CN" altLang="en-US" dirty="0"/>
              <a:t> </a:t>
            </a:r>
            <a:r>
              <a:rPr kumimoji="1" lang="en-US" altLang="zh-CN" dirty="0"/>
              <a:t>GPU</a:t>
            </a:r>
            <a:r>
              <a:rPr kumimoji="1"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484E5B9-65D3-C54F-96B4-CCEAE2328A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 sz="1800" dirty="0"/>
              <a:t>Step-1</a:t>
            </a:r>
          </a:p>
          <a:p>
            <a:pPr lvl="1"/>
            <a:r>
              <a:rPr kumimoji="1" lang="en-US" altLang="zh-CN" sz="1800" dirty="0"/>
              <a:t>GPU</a:t>
            </a:r>
            <a:r>
              <a:rPr kumimoji="1" lang="zh-CN" altLang="en-US" sz="1800" dirty="0"/>
              <a:t>：运行</a:t>
            </a:r>
            <a:r>
              <a:rPr kumimoji="1" lang="en-US" altLang="zh-CN" sz="1800" dirty="0"/>
              <a:t>0x0</a:t>
            </a:r>
            <a:r>
              <a:rPr kumimoji="1" lang="zh-CN" altLang="en-US" sz="1800" dirty="0"/>
              <a:t>地址的</a:t>
            </a:r>
            <a:r>
              <a:rPr kumimoji="1" lang="en-US" altLang="zh-CN" sz="1800" dirty="0"/>
              <a:t>firmware</a:t>
            </a:r>
            <a:r>
              <a:rPr kumimoji="1" lang="zh-CN" altLang="en-US" sz="1800" dirty="0"/>
              <a:t>，将</a:t>
            </a:r>
            <a:r>
              <a:rPr kumimoji="1" lang="en" altLang="zh-CN" sz="1800" dirty="0"/>
              <a:t>SD</a:t>
            </a:r>
            <a:r>
              <a:rPr kumimoji="1" lang="zh-CN" altLang="en-US" sz="1800" dirty="0"/>
              <a:t>卡根目录下的</a:t>
            </a:r>
            <a:r>
              <a:rPr kumimoji="1" lang="en-US" altLang="zh-CN" sz="1800" dirty="0" err="1"/>
              <a:t>bootcode.bin</a:t>
            </a:r>
            <a:r>
              <a:rPr kumimoji="1" lang="zh-CN" altLang="en-US" sz="1800" dirty="0"/>
              <a:t>加载到内存中</a:t>
            </a:r>
            <a:endParaRPr kumimoji="1" lang="en-US" altLang="zh-CN" sz="1800" dirty="0"/>
          </a:p>
          <a:p>
            <a:r>
              <a:rPr kumimoji="1" lang="en-US" altLang="zh-CN" sz="1800" dirty="0"/>
              <a:t>Step-2</a:t>
            </a:r>
          </a:p>
          <a:p>
            <a:pPr lvl="1"/>
            <a:r>
              <a:rPr kumimoji="1" lang="en-US" altLang="zh-CN" sz="1800" dirty="0"/>
              <a:t>GPU</a:t>
            </a:r>
            <a:r>
              <a:rPr kumimoji="1" lang="zh-CN" altLang="en-US" sz="1800" dirty="0"/>
              <a:t>：运行</a:t>
            </a:r>
            <a:r>
              <a:rPr kumimoji="1" lang="en-US" altLang="zh-CN" sz="1800" dirty="0" err="1"/>
              <a:t>bootcode.bin</a:t>
            </a:r>
            <a:r>
              <a:rPr kumimoji="1" lang="zh-CN" altLang="en-US" sz="1800" dirty="0"/>
              <a:t>，将</a:t>
            </a:r>
            <a:r>
              <a:rPr kumimoji="1" lang="en" altLang="zh-CN" sz="1800" dirty="0"/>
              <a:t>SD</a:t>
            </a:r>
            <a:r>
              <a:rPr kumimoji="1" lang="zh-CN" altLang="en-US" sz="1800" dirty="0"/>
              <a:t>卡根目录下的</a:t>
            </a:r>
            <a:r>
              <a:rPr kumimoji="1" lang="en-US" altLang="zh-CN" sz="1800" dirty="0" err="1"/>
              <a:t>start.elf</a:t>
            </a:r>
            <a:r>
              <a:rPr kumimoji="1" lang="zh-CN" altLang="en-US" sz="1800" dirty="0"/>
              <a:t>加载到内存中</a:t>
            </a:r>
            <a:endParaRPr kumimoji="1" lang="en-US" altLang="zh-CN" sz="1800" dirty="0"/>
          </a:p>
          <a:p>
            <a:r>
              <a:rPr kumimoji="1" lang="en-US" altLang="zh-CN" sz="1800" dirty="0"/>
              <a:t>Step-3</a:t>
            </a:r>
          </a:p>
          <a:p>
            <a:pPr lvl="1"/>
            <a:r>
              <a:rPr kumimoji="1" lang="en-US" altLang="zh-CN" sz="1800" dirty="0"/>
              <a:t>GPU</a:t>
            </a:r>
            <a:r>
              <a:rPr kumimoji="1" lang="zh-CN" altLang="en-US" sz="1800" dirty="0"/>
              <a:t>：运行</a:t>
            </a:r>
            <a:r>
              <a:rPr kumimoji="1" lang="en-US" altLang="zh-CN" sz="1800" dirty="0" err="1"/>
              <a:t>start.elf</a:t>
            </a:r>
            <a:r>
              <a:rPr kumimoji="1" lang="zh-CN" altLang="en-US" sz="1800" dirty="0"/>
              <a:t>，将</a:t>
            </a:r>
            <a:r>
              <a:rPr kumimoji="1" lang="en" altLang="zh-CN" sz="1800" dirty="0"/>
              <a:t>SD</a:t>
            </a:r>
            <a:r>
              <a:rPr kumimoji="1" lang="zh-CN" altLang="en-US" sz="1800" dirty="0"/>
              <a:t>卡根目录下的</a:t>
            </a:r>
            <a:r>
              <a:rPr kumimoji="1" lang="en-US" altLang="zh-CN" sz="1800" dirty="0" err="1"/>
              <a:t>kernel.img</a:t>
            </a:r>
            <a:r>
              <a:rPr kumimoji="1" lang="zh-CN" altLang="en-US" sz="1800" dirty="0"/>
              <a:t>加载到内存中</a:t>
            </a:r>
            <a:endParaRPr kumimoji="1" lang="en-US" altLang="zh-CN" sz="1800" dirty="0"/>
          </a:p>
          <a:p>
            <a:r>
              <a:rPr kumimoji="1" lang="zh-CN" altLang="en-US" sz="2000" dirty="0"/>
              <a:t>然后，</a:t>
            </a:r>
            <a:r>
              <a:rPr kumimoji="1" lang="en-US" altLang="zh-CN" sz="2000" dirty="0"/>
              <a:t>CPU</a:t>
            </a:r>
            <a:r>
              <a:rPr kumimoji="1" lang="zh-CN" altLang="en-US" sz="2000" dirty="0"/>
              <a:t> 跳转到 </a:t>
            </a:r>
            <a:r>
              <a:rPr kumimoji="1" lang="en-US" altLang="zh-CN" sz="2000" dirty="0" err="1"/>
              <a:t>kernel.img</a:t>
            </a:r>
            <a:r>
              <a:rPr kumimoji="1" lang="zh-CN" altLang="en-US" sz="2000" dirty="0"/>
              <a:t>，开始真正运行内核代码</a:t>
            </a:r>
            <a:endParaRPr kumimoji="1" lang="en-US" altLang="zh-CN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77EB846-7F2F-D748-96F2-7DDA3523F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85180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02340A11-EDAE-844C-A381-5A5BBF2A1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内核入口函数位置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DB0068F-CB99-AF43-9A02-34084C21ED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/>
              <a:t>CPU</a:t>
            </a:r>
            <a:r>
              <a:rPr lang="zh-CN" altLang="en-US" sz="2000" dirty="0"/>
              <a:t>从预定义的</a:t>
            </a:r>
            <a:r>
              <a:rPr lang="en-US" altLang="zh-CN" sz="2000" u="sng" dirty="0"/>
              <a:t>RAM</a:t>
            </a:r>
            <a:r>
              <a:rPr lang="zh-CN" altLang="en-US" sz="2000" u="sng" dirty="0"/>
              <a:t>地址</a:t>
            </a:r>
            <a:r>
              <a:rPr lang="zh-CN" altLang="en-US" sz="2000" dirty="0"/>
              <a:t>读取第一行代码，由硬件厂商决定</a:t>
            </a:r>
            <a:endParaRPr lang="en-US" altLang="zh-CN" sz="2000" dirty="0"/>
          </a:p>
          <a:p>
            <a:pPr lvl="1"/>
            <a:r>
              <a:rPr lang="zh-CN" altLang="en-US" sz="2000" dirty="0"/>
              <a:t>树莓派：</a:t>
            </a:r>
            <a:r>
              <a:rPr lang="en-US" altLang="zh-CN" sz="2000" dirty="0"/>
              <a:t>32</a:t>
            </a:r>
            <a:r>
              <a:rPr lang="zh-CN" altLang="en-US" sz="2000" dirty="0"/>
              <a:t>位为</a:t>
            </a:r>
            <a:r>
              <a:rPr lang="en-US" altLang="zh-CN" sz="2000" u="sng" dirty="0">
                <a:latin typeface="Consolas" panose="020B0609020204030204" pitchFamily="49" charset="0"/>
                <a:cs typeface="Consolas" panose="020B0609020204030204" pitchFamily="49" charset="0"/>
              </a:rPr>
              <a:t>0x8000</a:t>
            </a:r>
            <a:r>
              <a:rPr lang="zh-CN" altLang="en-US" sz="2000" dirty="0"/>
              <a:t>，</a:t>
            </a:r>
            <a:r>
              <a:rPr lang="en-US" altLang="zh-CN" sz="2000" dirty="0"/>
              <a:t>64</a:t>
            </a:r>
            <a:r>
              <a:rPr lang="zh-CN" altLang="en-US" sz="2000" dirty="0"/>
              <a:t>位为</a:t>
            </a:r>
            <a:r>
              <a:rPr lang="en-US" altLang="zh-CN" sz="2000" u="sng" dirty="0">
                <a:latin typeface="Consolas" panose="020B0609020204030204" pitchFamily="49" charset="0"/>
                <a:cs typeface="Consolas" panose="020B0609020204030204" pitchFamily="49" charset="0"/>
              </a:rPr>
              <a:t>0x80000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2922210-27B9-F646-A320-177E0AA82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AD41CCC-B4EF-CB48-A408-1B6E1186D38D}"/>
              </a:ext>
            </a:extLst>
          </p:cNvPr>
          <p:cNvSpPr/>
          <p:nvPr/>
        </p:nvSpPr>
        <p:spPr>
          <a:xfrm>
            <a:off x="1187624" y="5142011"/>
            <a:ext cx="676875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" altLang="zh-CN" sz="1400" dirty="0">
                <a:hlinkClick r:id="rId2"/>
              </a:rPr>
              <a:t>https://www.raspberrypi.org/documentation/configuration/config-txt/boot.m</a:t>
            </a:r>
            <a:r>
              <a:rPr lang="en-US" altLang="zh-CN" sz="1400" dirty="0">
                <a:hlinkClick r:id="rId2"/>
              </a:rPr>
              <a:t>d</a:t>
            </a:r>
            <a:r>
              <a:rPr lang="zh-CN" altLang="en-US" sz="1400" dirty="0"/>
              <a:t> 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63BBF31-F955-7344-92B1-331F6DEC16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7624" y="3091155"/>
            <a:ext cx="6768752" cy="1979434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28EBEAE0-3495-BB48-B3F8-34E07165980C}"/>
              </a:ext>
            </a:extLst>
          </p:cNvPr>
          <p:cNvSpPr txBox="1"/>
          <p:nvPr/>
        </p:nvSpPr>
        <p:spPr>
          <a:xfrm>
            <a:off x="6553200" y="2218785"/>
            <a:ext cx="2016224" cy="33855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Q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：这是什么地址？</a:t>
            </a:r>
          </a:p>
        </p:txBody>
      </p:sp>
      <p:cxnSp>
        <p:nvCxnSpPr>
          <p:cNvPr id="8" name="直线连接符 7">
            <a:extLst>
              <a:ext uri="{FF2B5EF4-FFF2-40B4-BE49-F238E27FC236}">
                <a16:creationId xmlns:a16="http://schemas.microsoft.com/office/drawing/2014/main" id="{E969A150-EDEF-BB4A-8533-03942B6B3E7C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6084168" y="2067340"/>
            <a:ext cx="469032" cy="320722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41451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C396A1-FAED-9F40-B989-BBC1F47D6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启动流程：从上电到等待用户输入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B626A4F-60DB-8847-A2D3-B623A0B2E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10</a:t>
            </a:fld>
            <a:endParaRPr lang="zh-CN" altLang="en-US"/>
          </a:p>
        </p:txBody>
      </p:sp>
      <p:cxnSp>
        <p:nvCxnSpPr>
          <p:cNvPr id="6" name="直线箭头连接符 5">
            <a:extLst>
              <a:ext uri="{FF2B5EF4-FFF2-40B4-BE49-F238E27FC236}">
                <a16:creationId xmlns:a16="http://schemas.microsoft.com/office/drawing/2014/main" id="{AAD4F2AC-85B2-FC41-93D1-06E36402BA37}"/>
              </a:ext>
            </a:extLst>
          </p:cNvPr>
          <p:cNvCxnSpPr>
            <a:cxnSpLocks/>
          </p:cNvCxnSpPr>
          <p:nvPr/>
        </p:nvCxnSpPr>
        <p:spPr>
          <a:xfrm>
            <a:off x="3398491" y="1444983"/>
            <a:ext cx="0" cy="3932797"/>
          </a:xfrm>
          <a:prstGeom prst="straightConnector1">
            <a:avLst/>
          </a:prstGeom>
          <a:ln w="381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80596111-A099-A646-8FBF-9BEF8C413E39}"/>
              </a:ext>
            </a:extLst>
          </p:cNvPr>
          <p:cNvSpPr/>
          <p:nvPr/>
        </p:nvSpPr>
        <p:spPr>
          <a:xfrm>
            <a:off x="2262907" y="1487604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kumimoji="1" lang="zh-CN" altLang="en-US" sz="1400" dirty="0"/>
              <a:t>按下开关</a:t>
            </a:r>
            <a:endParaRPr lang="zh-CN" altLang="en-US" sz="1400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20A3826-8315-CD43-A81A-7F2E25077D7B}"/>
              </a:ext>
            </a:extLst>
          </p:cNvPr>
          <p:cNvSpPr/>
          <p:nvPr/>
        </p:nvSpPr>
        <p:spPr>
          <a:xfrm>
            <a:off x="1544762" y="2313664"/>
            <a:ext cx="162095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kumimoji="1" lang="zh-CN" altLang="en-US" sz="1400" dirty="0"/>
              <a:t>内核的第一行代码</a:t>
            </a:r>
            <a:endParaRPr lang="zh-CN" altLang="en-US" sz="1400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3099803-4A77-5447-B794-69E6A9EDE172}"/>
              </a:ext>
            </a:extLst>
          </p:cNvPr>
          <p:cNvSpPr/>
          <p:nvPr/>
        </p:nvSpPr>
        <p:spPr>
          <a:xfrm>
            <a:off x="467544" y="3139724"/>
            <a:ext cx="269817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kumimoji="1" lang="zh-CN" altLang="en-US" sz="1400" dirty="0"/>
              <a:t>第一个用户态应用的第一行代码</a:t>
            </a:r>
            <a:endParaRPr lang="zh-CN" altLang="en-US" sz="14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D5E7FDE-2736-C24B-9142-1EE837606B50}"/>
              </a:ext>
            </a:extLst>
          </p:cNvPr>
          <p:cNvSpPr/>
          <p:nvPr/>
        </p:nvSpPr>
        <p:spPr>
          <a:xfrm>
            <a:off x="1535143" y="3965784"/>
            <a:ext cx="163057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kumimoji="1" lang="en-US" altLang="zh-CN" sz="1400" dirty="0"/>
              <a:t>shell</a:t>
            </a:r>
            <a:r>
              <a:rPr kumimoji="1" lang="zh-CN" altLang="en-US" sz="1400" dirty="0"/>
              <a:t>的第一行代码</a:t>
            </a:r>
            <a:endParaRPr lang="zh-CN" altLang="en-US" sz="1400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CDF2F5F-D6FF-F641-A708-40DD40FBF535}"/>
              </a:ext>
            </a:extLst>
          </p:cNvPr>
          <p:cNvSpPr/>
          <p:nvPr/>
        </p:nvSpPr>
        <p:spPr>
          <a:xfrm>
            <a:off x="1535143" y="4791843"/>
            <a:ext cx="163057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kumimoji="1" lang="en-US" altLang="zh-CN" sz="1400" dirty="0"/>
              <a:t>shell</a:t>
            </a:r>
            <a:r>
              <a:rPr kumimoji="1" lang="zh-CN" altLang="en-US" sz="1400" dirty="0"/>
              <a:t>等待用户输入</a:t>
            </a:r>
            <a:endParaRPr lang="zh-CN" altLang="en-US" sz="1400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EAF7EFB-45B4-BC45-B52A-90EB3BCDC6BF}"/>
              </a:ext>
            </a:extLst>
          </p:cNvPr>
          <p:cNvSpPr txBox="1"/>
          <p:nvPr/>
        </p:nvSpPr>
        <p:spPr>
          <a:xfrm>
            <a:off x="3608709" y="1735960"/>
            <a:ext cx="3534195" cy="624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/>
              <a:t>硬件环境（除</a:t>
            </a:r>
            <a:r>
              <a:rPr kumimoji="1" lang="en-US" altLang="zh-CN" sz="1400" dirty="0"/>
              <a:t>CPU</a:t>
            </a:r>
            <a:r>
              <a:rPr kumimoji="1" lang="zh-CN" altLang="en-US" sz="1400" dirty="0"/>
              <a:t>）初始化</a:t>
            </a:r>
            <a:endParaRPr kumimoji="1" lang="en-US" altLang="zh-CN" sz="1400" dirty="0"/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/>
              <a:t>加载内核代码到内存中</a:t>
            </a:r>
          </a:p>
        </p:txBody>
      </p:sp>
      <p:cxnSp>
        <p:nvCxnSpPr>
          <p:cNvPr id="5" name="直线连接符 4">
            <a:extLst>
              <a:ext uri="{FF2B5EF4-FFF2-40B4-BE49-F238E27FC236}">
                <a16:creationId xmlns:a16="http://schemas.microsoft.com/office/drawing/2014/main" id="{1E0456C8-A445-EE4E-8171-9BDEA71211DA}"/>
              </a:ext>
            </a:extLst>
          </p:cNvPr>
          <p:cNvCxnSpPr/>
          <p:nvPr/>
        </p:nvCxnSpPr>
        <p:spPr>
          <a:xfrm>
            <a:off x="3398491" y="1633364"/>
            <a:ext cx="3744413" cy="0"/>
          </a:xfrm>
          <a:prstGeom prst="line">
            <a:avLst/>
          </a:prstGeom>
          <a:ln w="6350">
            <a:solidFill>
              <a:schemeClr val="accent1"/>
            </a:solidFill>
            <a:head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线连接符 21">
            <a:extLst>
              <a:ext uri="{FF2B5EF4-FFF2-40B4-BE49-F238E27FC236}">
                <a16:creationId xmlns:a16="http://schemas.microsoft.com/office/drawing/2014/main" id="{E4F0EC48-D4E8-B44E-AFC8-7C31AAC5C055}"/>
              </a:ext>
            </a:extLst>
          </p:cNvPr>
          <p:cNvCxnSpPr/>
          <p:nvPr/>
        </p:nvCxnSpPr>
        <p:spPr>
          <a:xfrm>
            <a:off x="3398491" y="2461456"/>
            <a:ext cx="3744413" cy="0"/>
          </a:xfrm>
          <a:prstGeom prst="line">
            <a:avLst/>
          </a:prstGeom>
          <a:ln w="6350">
            <a:solidFill>
              <a:schemeClr val="accent1"/>
            </a:solidFill>
            <a:head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线连接符 22">
            <a:extLst>
              <a:ext uri="{FF2B5EF4-FFF2-40B4-BE49-F238E27FC236}">
                <a16:creationId xmlns:a16="http://schemas.microsoft.com/office/drawing/2014/main" id="{FBD8E2D1-753B-864B-BB05-7239F8CAD350}"/>
              </a:ext>
            </a:extLst>
          </p:cNvPr>
          <p:cNvCxnSpPr/>
          <p:nvPr/>
        </p:nvCxnSpPr>
        <p:spPr>
          <a:xfrm>
            <a:off x="3398491" y="3289548"/>
            <a:ext cx="3744413" cy="0"/>
          </a:xfrm>
          <a:prstGeom prst="line">
            <a:avLst/>
          </a:prstGeom>
          <a:ln w="6350">
            <a:solidFill>
              <a:schemeClr val="accent1"/>
            </a:solidFill>
            <a:head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线连接符 23">
            <a:extLst>
              <a:ext uri="{FF2B5EF4-FFF2-40B4-BE49-F238E27FC236}">
                <a16:creationId xmlns:a16="http://schemas.microsoft.com/office/drawing/2014/main" id="{4CC669C2-677B-9245-B183-4F9BA8DE5A45}"/>
              </a:ext>
            </a:extLst>
          </p:cNvPr>
          <p:cNvCxnSpPr/>
          <p:nvPr/>
        </p:nvCxnSpPr>
        <p:spPr>
          <a:xfrm>
            <a:off x="3398491" y="4117640"/>
            <a:ext cx="3744413" cy="0"/>
          </a:xfrm>
          <a:prstGeom prst="line">
            <a:avLst/>
          </a:prstGeom>
          <a:ln w="6350">
            <a:solidFill>
              <a:schemeClr val="accent1"/>
            </a:solidFill>
            <a:head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线连接符 24">
            <a:extLst>
              <a:ext uri="{FF2B5EF4-FFF2-40B4-BE49-F238E27FC236}">
                <a16:creationId xmlns:a16="http://schemas.microsoft.com/office/drawing/2014/main" id="{71E9F174-07B3-2043-9AAD-D462DA8654D8}"/>
              </a:ext>
            </a:extLst>
          </p:cNvPr>
          <p:cNvCxnSpPr/>
          <p:nvPr/>
        </p:nvCxnSpPr>
        <p:spPr>
          <a:xfrm>
            <a:off x="3398491" y="4945732"/>
            <a:ext cx="3744413" cy="0"/>
          </a:xfrm>
          <a:prstGeom prst="line">
            <a:avLst/>
          </a:prstGeom>
          <a:ln w="6350">
            <a:solidFill>
              <a:schemeClr val="accent1"/>
            </a:solidFill>
            <a:head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EAD7D499-FB1D-D041-BCAA-292FA449B138}"/>
              </a:ext>
            </a:extLst>
          </p:cNvPr>
          <p:cNvSpPr txBox="1"/>
          <p:nvPr/>
        </p:nvSpPr>
        <p:spPr>
          <a:xfrm>
            <a:off x="3608709" y="2564051"/>
            <a:ext cx="3534195" cy="624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/>
              <a:t>初始化</a:t>
            </a:r>
            <a:r>
              <a:rPr kumimoji="1" lang="en-US" altLang="zh-CN" sz="1400" dirty="0"/>
              <a:t>MMU</a:t>
            </a:r>
            <a:r>
              <a:rPr kumimoji="1" lang="zh-CN" altLang="en-US" sz="1400" dirty="0"/>
              <a:t>、外设（如网卡、硬盘）</a:t>
            </a:r>
            <a:endParaRPr kumimoji="1" lang="en-US" altLang="zh-CN" sz="1400" dirty="0"/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/>
              <a:t>若有多核，则初始化其他</a:t>
            </a:r>
            <a:r>
              <a:rPr kumimoji="1" lang="en-US" altLang="zh-CN" sz="1400" dirty="0"/>
              <a:t>CPU</a:t>
            </a:r>
            <a:r>
              <a:rPr kumimoji="1" lang="zh-CN" altLang="en-US" sz="1400" dirty="0"/>
              <a:t>核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10B0298-31FC-B64A-B854-8D252896DDEE}"/>
              </a:ext>
            </a:extLst>
          </p:cNvPr>
          <p:cNvSpPr txBox="1"/>
          <p:nvPr/>
        </p:nvSpPr>
        <p:spPr>
          <a:xfrm>
            <a:off x="3631264" y="3387453"/>
            <a:ext cx="3534195" cy="34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/>
              <a:t>加载</a:t>
            </a:r>
            <a:r>
              <a:rPr kumimoji="1" lang="en-US" altLang="zh-CN" sz="1400" dirty="0"/>
              <a:t>shell</a:t>
            </a:r>
            <a:r>
              <a:rPr kumimoji="1" lang="zh-CN" altLang="en-US" sz="1400" dirty="0"/>
              <a:t>的二进制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7052C279-1851-164C-A18D-0D98291C0D98}"/>
              </a:ext>
            </a:extLst>
          </p:cNvPr>
          <p:cNvSpPr txBox="1"/>
          <p:nvPr/>
        </p:nvSpPr>
        <p:spPr>
          <a:xfrm>
            <a:off x="3631264" y="4215544"/>
            <a:ext cx="3534195" cy="34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/>
              <a:t>等待键盘输入</a:t>
            </a:r>
          </a:p>
        </p:txBody>
      </p:sp>
      <p:sp>
        <p:nvSpPr>
          <p:cNvPr id="33" name="右大括号 32">
            <a:extLst>
              <a:ext uri="{FF2B5EF4-FFF2-40B4-BE49-F238E27FC236}">
                <a16:creationId xmlns:a16="http://schemas.microsoft.com/office/drawing/2014/main" id="{6813E226-AE60-0E42-8125-0F712A0428CF}"/>
              </a:ext>
            </a:extLst>
          </p:cNvPr>
          <p:cNvSpPr/>
          <p:nvPr/>
        </p:nvSpPr>
        <p:spPr>
          <a:xfrm>
            <a:off x="7253050" y="1728658"/>
            <a:ext cx="127262" cy="632088"/>
          </a:xfrm>
          <a:prstGeom prst="rightBrace">
            <a:avLst>
              <a:gd name="adj1" fmla="val 52426"/>
              <a:gd name="adj2" fmla="val 50000"/>
            </a:avLst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7" name="右大括号 36">
            <a:extLst>
              <a:ext uri="{FF2B5EF4-FFF2-40B4-BE49-F238E27FC236}">
                <a16:creationId xmlns:a16="http://schemas.microsoft.com/office/drawing/2014/main" id="{ACB44733-C2E8-DE4E-9831-E50F24E255EF}"/>
              </a:ext>
            </a:extLst>
          </p:cNvPr>
          <p:cNvSpPr/>
          <p:nvPr/>
        </p:nvSpPr>
        <p:spPr>
          <a:xfrm>
            <a:off x="7253050" y="2560400"/>
            <a:ext cx="127262" cy="632088"/>
          </a:xfrm>
          <a:prstGeom prst="rightBrace">
            <a:avLst>
              <a:gd name="adj1" fmla="val 52426"/>
              <a:gd name="adj2" fmla="val 50000"/>
            </a:avLst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8" name="右大括号 37">
            <a:extLst>
              <a:ext uri="{FF2B5EF4-FFF2-40B4-BE49-F238E27FC236}">
                <a16:creationId xmlns:a16="http://schemas.microsoft.com/office/drawing/2014/main" id="{0C5266E5-D4D9-A84B-B9BA-CC9C0154C703}"/>
              </a:ext>
            </a:extLst>
          </p:cNvPr>
          <p:cNvSpPr/>
          <p:nvPr/>
        </p:nvSpPr>
        <p:spPr>
          <a:xfrm>
            <a:off x="7253050" y="3387453"/>
            <a:ext cx="127262" cy="632088"/>
          </a:xfrm>
          <a:prstGeom prst="rightBrace">
            <a:avLst>
              <a:gd name="adj1" fmla="val 52426"/>
              <a:gd name="adj2" fmla="val 50000"/>
            </a:avLst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9" name="右大括号 38">
            <a:extLst>
              <a:ext uri="{FF2B5EF4-FFF2-40B4-BE49-F238E27FC236}">
                <a16:creationId xmlns:a16="http://schemas.microsoft.com/office/drawing/2014/main" id="{A62E0023-B689-864A-BECD-9E127B3FCA85}"/>
              </a:ext>
            </a:extLst>
          </p:cNvPr>
          <p:cNvSpPr/>
          <p:nvPr/>
        </p:nvSpPr>
        <p:spPr>
          <a:xfrm>
            <a:off x="7253050" y="4214506"/>
            <a:ext cx="127262" cy="632088"/>
          </a:xfrm>
          <a:prstGeom prst="rightBrace">
            <a:avLst>
              <a:gd name="adj1" fmla="val 52426"/>
              <a:gd name="adj2" fmla="val 50000"/>
            </a:avLst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758D83B-1251-F84E-8BB7-CD3E73326A62}"/>
              </a:ext>
            </a:extLst>
          </p:cNvPr>
          <p:cNvSpPr/>
          <p:nvPr/>
        </p:nvSpPr>
        <p:spPr>
          <a:xfrm>
            <a:off x="7464418" y="1890813"/>
            <a:ext cx="102944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 dirty="0"/>
              <a:t>bootloader</a:t>
            </a:r>
            <a:endParaRPr lang="zh-CN" altLang="en-US" sz="1400" dirty="0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B6703E84-ABA0-494B-A1F0-48A2F887E37E}"/>
              </a:ext>
            </a:extLst>
          </p:cNvPr>
          <p:cNvSpPr/>
          <p:nvPr/>
        </p:nvSpPr>
        <p:spPr>
          <a:xfrm>
            <a:off x="7464417" y="2703611"/>
            <a:ext cx="98135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 dirty="0"/>
              <a:t>OS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kernel</a:t>
            </a:r>
            <a:endParaRPr lang="zh-CN" altLang="en-US" sz="1400" dirty="0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30F1CD53-690F-2644-B59F-D74878163C1A}"/>
              </a:ext>
            </a:extLst>
          </p:cNvPr>
          <p:cNvSpPr/>
          <p:nvPr/>
        </p:nvSpPr>
        <p:spPr>
          <a:xfrm>
            <a:off x="7442875" y="3516409"/>
            <a:ext cx="131157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1400" dirty="0"/>
              <a:t>用户态</a:t>
            </a:r>
            <a:r>
              <a:rPr kumimoji="1" lang="en-US" altLang="zh-CN" sz="1400" dirty="0" err="1"/>
              <a:t>init</a:t>
            </a:r>
            <a:r>
              <a:rPr kumimoji="1" lang="zh-CN" altLang="en-US" sz="1400" dirty="0"/>
              <a:t>进程</a:t>
            </a:r>
            <a:endParaRPr lang="zh-CN" altLang="en-US" sz="1400" dirty="0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C5C6ED51-1CE6-7A40-B28E-8FF0DFF9D3F0}"/>
              </a:ext>
            </a:extLst>
          </p:cNvPr>
          <p:cNvSpPr/>
          <p:nvPr/>
        </p:nvSpPr>
        <p:spPr>
          <a:xfrm>
            <a:off x="7464418" y="4373311"/>
            <a:ext cx="55335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 dirty="0"/>
              <a:t>shell</a:t>
            </a:r>
            <a:endParaRPr lang="zh-CN" altLang="en-US" sz="1400" dirty="0"/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DE12F194-24FD-48C8-8D1B-EC7D380A9C57}"/>
              </a:ext>
            </a:extLst>
          </p:cNvPr>
          <p:cNvSpPr/>
          <p:nvPr/>
        </p:nvSpPr>
        <p:spPr>
          <a:xfrm>
            <a:off x="1403653" y="2344507"/>
            <a:ext cx="7042124" cy="844330"/>
          </a:xfrm>
          <a:prstGeom prst="round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292017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172BE1-5258-C14D-95B6-5D1560377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ARMv8</a:t>
            </a:r>
            <a:r>
              <a:rPr kumimoji="1" lang="zh-CN" altLang="en-US" dirty="0"/>
              <a:t>架构下内核启动的</a:t>
            </a:r>
            <a:r>
              <a:rPr kumimoji="1" lang="en-US" altLang="zh-CN" dirty="0"/>
              <a:t>3</a:t>
            </a:r>
            <a:r>
              <a:rPr kumimoji="1" lang="zh-CN" altLang="en-US" dirty="0"/>
              <a:t>个主要任务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BBC31D6-7F7A-1040-B2F4-17299072A5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40000"/>
              </a:lnSpc>
              <a:buFont typeface="+mj-lt"/>
              <a:buAutoNum type="arabicPeriod"/>
            </a:pPr>
            <a:r>
              <a:rPr kumimoji="1" lang="zh-CN" altLang="en-US" sz="1800" dirty="0"/>
              <a:t>设置</a:t>
            </a:r>
            <a:r>
              <a:rPr kumimoji="1" lang="en-US" altLang="zh-CN" sz="1800" dirty="0"/>
              <a:t>CPU</a:t>
            </a:r>
            <a:r>
              <a:rPr kumimoji="1" lang="zh-CN" altLang="en-US" sz="1800" dirty="0"/>
              <a:t>异常级别（特权级别）</a:t>
            </a:r>
            <a:endParaRPr kumimoji="1" lang="en-US" altLang="zh-CN" sz="1800" dirty="0"/>
          </a:p>
          <a:p>
            <a:pPr lvl="1">
              <a:lnSpc>
                <a:spcPct val="140000"/>
              </a:lnSpc>
            </a:pPr>
            <a:r>
              <a:rPr kumimoji="1" lang="zh-CN" altLang="en-US" sz="1600" dirty="0"/>
              <a:t>内核通常运行在</a:t>
            </a:r>
            <a:r>
              <a:rPr kumimoji="1" lang="en-US" altLang="zh-CN" sz="1600" dirty="0"/>
              <a:t>EL1</a:t>
            </a:r>
            <a:r>
              <a:rPr kumimoji="1" lang="zh-CN" altLang="en-US" sz="1600" dirty="0"/>
              <a:t>，</a:t>
            </a:r>
            <a:r>
              <a:rPr kumimoji="1" lang="en-US" altLang="zh-CN" sz="1600" dirty="0"/>
              <a:t>CPU</a:t>
            </a:r>
            <a:r>
              <a:rPr kumimoji="1" lang="zh-CN" altLang="en-US" sz="1600" dirty="0"/>
              <a:t>上电后的异常级别不一定是</a:t>
            </a:r>
            <a:r>
              <a:rPr kumimoji="1" lang="en-US" altLang="zh-CN" sz="1600" dirty="0"/>
              <a:t>EL1</a:t>
            </a:r>
            <a:r>
              <a:rPr kumimoji="1" lang="zh-CN" altLang="en-US" sz="1600" dirty="0"/>
              <a:t>，如何切换异常级别？</a:t>
            </a:r>
            <a:endParaRPr kumimoji="1" lang="en-US" altLang="zh-CN" sz="1600" dirty="0"/>
          </a:p>
          <a:p>
            <a:pPr>
              <a:lnSpc>
                <a:spcPct val="140000"/>
              </a:lnSpc>
              <a:buFont typeface="+mj-lt"/>
              <a:buAutoNum type="arabicPeriod"/>
            </a:pPr>
            <a:r>
              <a:rPr kumimoji="1" lang="zh-CN" altLang="en-US" sz="1800" dirty="0"/>
              <a:t>设置页表并开启虚拟内存机制</a:t>
            </a:r>
            <a:endParaRPr kumimoji="1" lang="en-US" altLang="zh-CN" sz="1800" dirty="0"/>
          </a:p>
          <a:p>
            <a:pPr lvl="1">
              <a:lnSpc>
                <a:spcPct val="140000"/>
              </a:lnSpc>
            </a:pPr>
            <a:r>
              <a:rPr kumimoji="1" lang="zh-CN" altLang="en-US" sz="1600" dirty="0"/>
              <a:t>页表究竟改如何具体配置？</a:t>
            </a:r>
            <a:endParaRPr kumimoji="1" lang="en-US" altLang="zh-CN" sz="1600" dirty="0"/>
          </a:p>
          <a:p>
            <a:pPr lvl="1">
              <a:lnSpc>
                <a:spcPct val="140000"/>
              </a:lnSpc>
            </a:pPr>
            <a:r>
              <a:rPr kumimoji="1" lang="zh-CN" altLang="en-US" sz="1600" dirty="0"/>
              <a:t>难点：开启地址翻译的前一行指令使用物理地址，开启后立即使用虚拟地址，前后如何衔接？</a:t>
            </a:r>
            <a:endParaRPr kumimoji="1" lang="en-US" altLang="zh-CN" sz="1600" dirty="0"/>
          </a:p>
          <a:p>
            <a:pPr>
              <a:lnSpc>
                <a:spcPct val="140000"/>
              </a:lnSpc>
              <a:buFont typeface="+mj-lt"/>
              <a:buAutoNum type="arabicPeriod"/>
            </a:pPr>
            <a:r>
              <a:rPr kumimoji="1" lang="zh-CN" altLang="en-US" sz="1800" dirty="0"/>
              <a:t>设置异常向量表并打开中断</a:t>
            </a:r>
            <a:endParaRPr kumimoji="1" lang="en-US" altLang="zh-CN" sz="1800" dirty="0"/>
          </a:p>
          <a:p>
            <a:pPr lvl="1">
              <a:lnSpc>
                <a:spcPct val="140000"/>
              </a:lnSpc>
            </a:pPr>
            <a:r>
              <a:rPr kumimoji="1" lang="zh-CN" altLang="en-US" sz="1600" dirty="0"/>
              <a:t>异常向量表如何配置？</a:t>
            </a:r>
            <a:endParaRPr kumimoji="1" lang="en-US" altLang="zh-CN" sz="1600" dirty="0"/>
          </a:p>
          <a:p>
            <a:pPr lvl="1">
              <a:lnSpc>
                <a:spcPct val="140000"/>
              </a:lnSpc>
            </a:pPr>
            <a:r>
              <a:rPr kumimoji="1" lang="zh-CN" altLang="en-US" sz="1600" dirty="0"/>
              <a:t>打开后，异常处理的指令流如何流动？</a:t>
            </a:r>
            <a:endParaRPr kumimoji="1" lang="en-US" altLang="zh-CN" sz="16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0AE4523-DF7F-C24D-B947-FC6257CD7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04277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AFAF7BE2-8815-9742-8C9D-002C7879F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物理地址空间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7198CA7B-2EE6-6A44-B456-643E29B34A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3B13AF-9945-A340-9C30-68FB0F08D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52219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B98D8D-BB6B-4C42-8D9B-B9CB07EA9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物理地址空间 </a:t>
            </a:r>
            <a:r>
              <a:rPr kumimoji="1" lang="en-US" altLang="zh-CN" dirty="0"/>
              <a:t>≠</a:t>
            </a:r>
            <a:r>
              <a:rPr kumimoji="1" lang="zh-CN" altLang="en-US" dirty="0"/>
              <a:t> 物理内存空间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A99A39F-24A1-7741-A8D9-95DBA8B975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579296" cy="3771636"/>
          </a:xfrm>
        </p:spPr>
        <p:txBody>
          <a:bodyPr>
            <a:normAutofit/>
          </a:bodyPr>
          <a:lstStyle/>
          <a:p>
            <a:r>
              <a:rPr kumimoji="1" lang="zh-CN" altLang="en-US" sz="2200" dirty="0"/>
              <a:t>物理地址空间通常指：系统总线地址空间</a:t>
            </a:r>
            <a:endParaRPr kumimoji="1" lang="en-US" altLang="zh-CN" sz="2200" dirty="0"/>
          </a:p>
          <a:p>
            <a:pPr lvl="1"/>
            <a:r>
              <a:rPr kumimoji="1" lang="zh-CN" altLang="en-US" sz="2000" dirty="0"/>
              <a:t>系统总线连接内存，也连接其他设备，每个设备都占一块地址空间</a:t>
            </a:r>
            <a:endParaRPr kumimoji="1" lang="en-US" altLang="zh-CN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F2666F0-CA04-B04C-8DBF-D37D7304E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13</a:t>
            </a:fld>
            <a:endParaRPr lang="zh-CN" altLang="en-US"/>
          </a:p>
        </p:txBody>
      </p:sp>
      <p:pic>
        <p:nvPicPr>
          <p:cNvPr id="7" name="Picture 4" descr="bus">
            <a:extLst>
              <a:ext uri="{FF2B5EF4-FFF2-40B4-BE49-F238E27FC236}">
                <a16:creationId xmlns:a16="http://schemas.microsoft.com/office/drawing/2014/main" id="{5FBC75E8-A30F-D642-B6D9-B5A394A36D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2481564"/>
            <a:ext cx="6624736" cy="26235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7A3DDDCD-EBF8-3547-828B-761D449793BC}"/>
              </a:ext>
            </a:extLst>
          </p:cNvPr>
          <p:cNvSpPr txBox="1"/>
          <p:nvPr/>
        </p:nvSpPr>
        <p:spPr>
          <a:xfrm>
            <a:off x="423074" y="5233764"/>
            <a:ext cx="82580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</a:rPr>
              <a:t>Figure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</a:rPr>
              <a:t>from: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" altLang="zh-CN" sz="1200" dirty="0">
                <a:solidFill>
                  <a:schemeClr val="bg1">
                    <a:lumMod val="50000"/>
                  </a:schemeClr>
                </a:solidFill>
              </a:rPr>
              <a:t>Principles of Computer System Design: An Introduction</a:t>
            </a:r>
          </a:p>
        </p:txBody>
      </p:sp>
    </p:spTree>
    <p:extLst>
      <p:ext uri="{BB962C8B-B14F-4D97-AF65-F5344CB8AC3E}">
        <p14:creationId xmlns:p14="http://schemas.microsoft.com/office/powerpoint/2010/main" val="34614853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Picture 4" descr="bu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206500"/>
            <a:ext cx="8204200" cy="3249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699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读内存示例</a:t>
            </a:r>
            <a:r>
              <a:rPr lang="en-US" altLang="zh-CN" dirty="0"/>
              <a:t>: LOAD 1742, R1</a:t>
            </a:r>
          </a:p>
        </p:txBody>
      </p:sp>
      <p:sp>
        <p:nvSpPr>
          <p:cNvPr id="29700" name="Content Placeholder 2"/>
          <p:cNvSpPr>
            <a:spLocks noGrp="1"/>
          </p:cNvSpPr>
          <p:nvPr>
            <p:ph idx="1"/>
          </p:nvPr>
        </p:nvSpPr>
        <p:spPr>
          <a:xfrm>
            <a:off x="611560" y="4318000"/>
            <a:ext cx="8456240" cy="889000"/>
          </a:xfrm>
        </p:spPr>
        <p:txBody>
          <a:bodyPr>
            <a:normAutofit fontScale="92500" lnSpcReduction="20000"/>
          </a:bodyPr>
          <a:lstStyle/>
          <a:p>
            <a:pPr>
              <a:buFontTx/>
              <a:buNone/>
            </a:pPr>
            <a:r>
              <a:rPr lang="zh-CN" altLang="en-US" sz="2200" dirty="0"/>
              <a:t>总线上的设备可以向总线发起请求，称为事务（</a:t>
            </a:r>
            <a:r>
              <a:rPr lang="en-US" altLang="zh-CN" sz="2200" dirty="0"/>
              <a:t>Transaction</a:t>
            </a:r>
            <a:r>
              <a:rPr lang="zh-CN" altLang="en-US" sz="2200" dirty="0"/>
              <a:t>）</a:t>
            </a:r>
            <a:endParaRPr lang="en-US" altLang="zh-CN" sz="2200" dirty="0"/>
          </a:p>
          <a:p>
            <a:pPr>
              <a:buFontTx/>
              <a:buNone/>
            </a:pPr>
            <a:r>
              <a:rPr lang="zh-CN" altLang="en-US" sz="2200" dirty="0"/>
              <a:t>处理器</a:t>
            </a:r>
            <a:r>
              <a:rPr lang="en-US" altLang="zh-CN" sz="2200" dirty="0"/>
              <a:t>-2</a:t>
            </a:r>
            <a:r>
              <a:rPr lang="zh-CN" altLang="en-US" sz="2200" dirty="0"/>
              <a:t>向总线发起事务</a:t>
            </a:r>
            <a:r>
              <a:rPr lang="en-US" altLang="zh-CN" sz="2200" dirty="0"/>
              <a:t> {1742, READ, 102}</a:t>
            </a:r>
            <a:r>
              <a:rPr lang="zh-CN" altLang="en-US" sz="2200" dirty="0"/>
              <a:t> ，总线上所有设备均可见</a:t>
            </a:r>
            <a:endParaRPr lang="en-US" altLang="zh-CN" sz="2200" dirty="0"/>
          </a:p>
        </p:txBody>
      </p:sp>
      <p:sp>
        <p:nvSpPr>
          <p:cNvPr id="29701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9pPr>
          </a:lstStyle>
          <a:p>
            <a:fld id="{2A25B8A8-15DF-194B-AC9C-F6D71756699E}" type="slidenum">
              <a:rPr lang="zh-CN" altLang="en-US" sz="1400" b="0">
                <a:latin typeface="Arial" panose="020B0604020202020204" pitchFamily="34" charset="0"/>
                <a:ea typeface="Adobe 楷体 Std R" charset="0"/>
                <a:cs typeface="Adobe 楷体 Std R" charset="0"/>
              </a:rPr>
              <a:pPr/>
              <a:t>14</a:t>
            </a:fld>
            <a:endParaRPr lang="en-US" altLang="zh-CN" sz="1400" b="0" dirty="0">
              <a:latin typeface="Arial" panose="020B0604020202020204" pitchFamily="34" charset="0"/>
              <a:ea typeface="Adobe 楷体 Std R" charset="0"/>
              <a:cs typeface="Adobe 楷体 Std R" charset="0"/>
            </a:endParaRPr>
          </a:p>
        </p:txBody>
      </p:sp>
      <p:cxnSp>
        <p:nvCxnSpPr>
          <p:cNvPr id="29702" name="Straight Connector 6"/>
          <p:cNvCxnSpPr>
            <a:cxnSpLocks noChangeShapeType="1"/>
          </p:cNvCxnSpPr>
          <p:nvPr/>
        </p:nvCxnSpPr>
        <p:spPr bwMode="auto">
          <a:xfrm>
            <a:off x="5410200" y="1841500"/>
            <a:ext cx="0" cy="254000"/>
          </a:xfrm>
          <a:prstGeom prst="line">
            <a:avLst/>
          </a:prstGeom>
          <a:noFill/>
          <a:ln w="101600">
            <a:solidFill>
              <a:srgbClr val="800000"/>
            </a:solidFill>
            <a:round/>
            <a:headEnd/>
            <a:tailEnd type="stealth" w="med" len="sm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9703" name="Straight Connector 7"/>
          <p:cNvCxnSpPr>
            <a:cxnSpLocks noChangeShapeType="1"/>
          </p:cNvCxnSpPr>
          <p:nvPr/>
        </p:nvCxnSpPr>
        <p:spPr bwMode="auto">
          <a:xfrm flipH="1">
            <a:off x="990600" y="2095500"/>
            <a:ext cx="7315200" cy="0"/>
          </a:xfrm>
          <a:prstGeom prst="line">
            <a:avLst/>
          </a:prstGeom>
          <a:noFill/>
          <a:ln w="101600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8515480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Picture 4" descr="bu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206500"/>
            <a:ext cx="8204200" cy="3249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23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读内存示例</a:t>
            </a:r>
            <a:r>
              <a:rPr lang="en-US" altLang="zh-CN" dirty="0"/>
              <a:t>: LOAD 1742, R1</a:t>
            </a:r>
          </a:p>
        </p:txBody>
      </p:sp>
      <p:sp>
        <p:nvSpPr>
          <p:cNvPr id="30724" name="Content Placeholder 2"/>
          <p:cNvSpPr>
            <a:spLocks noGrp="1"/>
          </p:cNvSpPr>
          <p:nvPr>
            <p:ph idx="1"/>
          </p:nvPr>
        </p:nvSpPr>
        <p:spPr>
          <a:xfrm>
            <a:off x="457200" y="4416772"/>
            <a:ext cx="8305800" cy="889000"/>
          </a:xfrm>
        </p:spPr>
        <p:txBody>
          <a:bodyPr>
            <a:noAutofit/>
          </a:bodyPr>
          <a:lstStyle/>
          <a:p>
            <a:r>
              <a:rPr lang="zh-CN" altLang="en-US" sz="2400" dirty="0"/>
              <a:t>内存</a:t>
            </a:r>
            <a:r>
              <a:rPr lang="en-US" altLang="zh-CN" sz="2400" dirty="0"/>
              <a:t>-1</a:t>
            </a:r>
            <a:r>
              <a:rPr lang="zh-CN" altLang="en-US" sz="2400" dirty="0"/>
              <a:t>发现地址在自己的范围（仅需检查地址高位即可）</a:t>
            </a:r>
            <a:endParaRPr lang="en-US" altLang="zh-CN" sz="2400" dirty="0"/>
          </a:p>
        </p:txBody>
      </p:sp>
      <p:sp>
        <p:nvSpPr>
          <p:cNvPr id="30725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9pPr>
          </a:lstStyle>
          <a:p>
            <a:fld id="{68064DD3-1284-054E-AE8B-47DB7962E9F1}" type="slidenum">
              <a:rPr lang="zh-CN" altLang="en-US" sz="1400" b="0">
                <a:latin typeface="Arial" panose="020B0604020202020204" pitchFamily="34" charset="0"/>
                <a:ea typeface="Adobe 楷体 Std R" charset="0"/>
                <a:cs typeface="Adobe 楷体 Std R" charset="0"/>
              </a:rPr>
              <a:pPr/>
              <a:t>15</a:t>
            </a:fld>
            <a:endParaRPr lang="en-US" altLang="zh-CN" sz="1400" b="0" dirty="0">
              <a:latin typeface="Arial" panose="020B0604020202020204" pitchFamily="34" charset="0"/>
              <a:ea typeface="Adobe 楷体 Std R" charset="0"/>
              <a:cs typeface="Adobe 楷体 Std R" charset="0"/>
            </a:endParaRPr>
          </a:p>
        </p:txBody>
      </p:sp>
      <p:cxnSp>
        <p:nvCxnSpPr>
          <p:cNvPr id="30726" name="Straight Connector 6"/>
          <p:cNvCxnSpPr>
            <a:cxnSpLocks noChangeShapeType="1"/>
          </p:cNvCxnSpPr>
          <p:nvPr/>
        </p:nvCxnSpPr>
        <p:spPr bwMode="auto">
          <a:xfrm>
            <a:off x="5410200" y="1841500"/>
            <a:ext cx="0" cy="254000"/>
          </a:xfrm>
          <a:prstGeom prst="line">
            <a:avLst/>
          </a:prstGeom>
          <a:noFill/>
          <a:ln w="101600">
            <a:solidFill>
              <a:srgbClr val="800000"/>
            </a:solidFill>
            <a:round/>
            <a:headEnd/>
            <a:tailEnd type="stealth" w="med" len="sm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30727" name="Straight Connector 7"/>
          <p:cNvCxnSpPr>
            <a:cxnSpLocks noChangeShapeType="1"/>
          </p:cNvCxnSpPr>
          <p:nvPr/>
        </p:nvCxnSpPr>
        <p:spPr bwMode="auto">
          <a:xfrm flipH="1">
            <a:off x="990600" y="2095500"/>
            <a:ext cx="7315200" cy="0"/>
          </a:xfrm>
          <a:prstGeom prst="line">
            <a:avLst/>
          </a:prstGeom>
          <a:noFill/>
          <a:ln w="101600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30728" name="Rectangle 5"/>
          <p:cNvSpPr>
            <a:spLocks noChangeArrowheads="1"/>
          </p:cNvSpPr>
          <p:nvPr/>
        </p:nvSpPr>
        <p:spPr bwMode="auto">
          <a:xfrm>
            <a:off x="2305050" y="2413000"/>
            <a:ext cx="952500" cy="508000"/>
          </a:xfrm>
          <a:prstGeom prst="rect">
            <a:avLst/>
          </a:prstGeom>
          <a:noFill/>
          <a:ln w="101600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eaLnBrk="0" hangingPunct="0"/>
            <a:endParaRPr lang="zh-CN" dirty="0">
              <a:latin typeface="Arial" panose="020B0604020202020204" pitchFamily="34" charset="0"/>
            </a:endParaRPr>
          </a:p>
        </p:txBody>
      </p:sp>
      <p:cxnSp>
        <p:nvCxnSpPr>
          <p:cNvPr id="30729" name="Straight Connector 8"/>
          <p:cNvCxnSpPr>
            <a:cxnSpLocks noChangeShapeType="1"/>
          </p:cNvCxnSpPr>
          <p:nvPr/>
        </p:nvCxnSpPr>
        <p:spPr bwMode="auto">
          <a:xfrm>
            <a:off x="2819400" y="2095500"/>
            <a:ext cx="0" cy="279136"/>
          </a:xfrm>
          <a:prstGeom prst="line">
            <a:avLst/>
          </a:prstGeom>
          <a:noFill/>
          <a:ln w="101600">
            <a:solidFill>
              <a:srgbClr val="800000"/>
            </a:solidFill>
            <a:round/>
            <a:headEnd/>
            <a:tailEnd type="stealth" w="med" len="sm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21553175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Picture 4" descr="bu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206500"/>
            <a:ext cx="8204200" cy="3249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47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读内存示例</a:t>
            </a:r>
            <a:r>
              <a:rPr lang="en-US" altLang="zh-CN" dirty="0"/>
              <a:t>: LOAD 1742, R1</a:t>
            </a:r>
          </a:p>
        </p:txBody>
      </p:sp>
      <p:sp>
        <p:nvSpPr>
          <p:cNvPr id="31748" name="Content Placeholder 2"/>
          <p:cNvSpPr>
            <a:spLocks noGrp="1"/>
          </p:cNvSpPr>
          <p:nvPr>
            <p:ph idx="1"/>
          </p:nvPr>
        </p:nvSpPr>
        <p:spPr>
          <a:xfrm>
            <a:off x="457200" y="4369668"/>
            <a:ext cx="8534400" cy="1292415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zh-CN" altLang="en-US" sz="2200" dirty="0"/>
              <a:t>内存</a:t>
            </a:r>
            <a:r>
              <a:rPr lang="en-US" altLang="zh-CN" sz="2200" dirty="0"/>
              <a:t>-1</a:t>
            </a:r>
            <a:r>
              <a:rPr lang="zh-CN" altLang="en-US" sz="2200" dirty="0"/>
              <a:t> </a:t>
            </a:r>
            <a:r>
              <a:rPr lang="en-US" altLang="zh-CN" sz="2200" dirty="0"/>
              <a:t>ACK</a:t>
            </a:r>
            <a:r>
              <a:rPr lang="zh-CN" altLang="en-US" sz="2200" dirty="0"/>
              <a:t>，处理器</a:t>
            </a:r>
            <a:r>
              <a:rPr lang="en-US" altLang="zh-CN" sz="2200" dirty="0"/>
              <a:t>-2</a:t>
            </a:r>
            <a:r>
              <a:rPr lang="zh-CN" altLang="en-US" sz="2200" dirty="0"/>
              <a:t>释放总线</a:t>
            </a:r>
            <a:endParaRPr lang="en-US" altLang="zh-CN" sz="2200" dirty="0"/>
          </a:p>
          <a:p>
            <a:pPr>
              <a:lnSpc>
                <a:spcPct val="100000"/>
              </a:lnSpc>
            </a:pPr>
            <a:r>
              <a:rPr lang="zh-CN" altLang="en-US" sz="2200" dirty="0"/>
              <a:t>内存</a:t>
            </a:r>
            <a:r>
              <a:rPr lang="en-US" altLang="zh-CN" sz="2200" dirty="0"/>
              <a:t>-1</a:t>
            </a:r>
            <a:r>
              <a:rPr lang="zh-CN" altLang="en-US" sz="2200" dirty="0"/>
              <a:t>在内部读取位于</a:t>
            </a:r>
            <a:r>
              <a:rPr lang="en-US" altLang="zh-CN" sz="2200" dirty="0"/>
              <a:t>1742</a:t>
            </a:r>
            <a:r>
              <a:rPr lang="zh-CN" altLang="en-US" sz="2200" dirty="0"/>
              <a:t>地址的数据</a:t>
            </a:r>
            <a:endParaRPr lang="en-US" altLang="zh-CN" sz="2200" dirty="0"/>
          </a:p>
        </p:txBody>
      </p:sp>
      <p:sp>
        <p:nvSpPr>
          <p:cNvPr id="31749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9pPr>
          </a:lstStyle>
          <a:p>
            <a:fld id="{B50519C9-3583-AB49-BA1B-1D3D335822BE}" type="slidenum">
              <a:rPr lang="zh-CN" altLang="en-US" sz="1400" b="0">
                <a:latin typeface="Arial" panose="020B0604020202020204" pitchFamily="34" charset="0"/>
                <a:ea typeface="Adobe 楷体 Std R" charset="0"/>
                <a:cs typeface="Adobe 楷体 Std R" charset="0"/>
              </a:rPr>
              <a:pPr/>
              <a:t>16</a:t>
            </a:fld>
            <a:endParaRPr lang="en-US" altLang="zh-CN" sz="1400" b="0" dirty="0">
              <a:latin typeface="Arial" panose="020B0604020202020204" pitchFamily="34" charset="0"/>
              <a:ea typeface="Adobe 楷体 Std R" charset="0"/>
              <a:cs typeface="Adobe 楷体 Std R" charset="0"/>
            </a:endParaRPr>
          </a:p>
        </p:txBody>
      </p:sp>
      <p:sp>
        <p:nvSpPr>
          <p:cNvPr id="31750" name="Rectangle 5"/>
          <p:cNvSpPr>
            <a:spLocks noChangeArrowheads="1"/>
          </p:cNvSpPr>
          <p:nvPr/>
        </p:nvSpPr>
        <p:spPr bwMode="auto">
          <a:xfrm>
            <a:off x="2305050" y="2413000"/>
            <a:ext cx="952500" cy="508000"/>
          </a:xfrm>
          <a:prstGeom prst="rect">
            <a:avLst/>
          </a:prstGeom>
          <a:noFill/>
          <a:ln w="101600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eaLnBrk="0" hangingPunct="0"/>
            <a:endParaRPr lang="zh-CN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18844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0" name="Picture 4" descr="bu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206500"/>
            <a:ext cx="8204200" cy="3249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71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读内存示例</a:t>
            </a:r>
            <a:r>
              <a:rPr lang="en-US" altLang="zh-CN" dirty="0"/>
              <a:t>: LOAD 1742, R1</a:t>
            </a:r>
          </a:p>
        </p:txBody>
      </p:sp>
      <p:sp>
        <p:nvSpPr>
          <p:cNvPr id="32772" name="Content Placeholder 2"/>
          <p:cNvSpPr>
            <a:spLocks noGrp="1"/>
          </p:cNvSpPr>
          <p:nvPr>
            <p:ph idx="1"/>
          </p:nvPr>
        </p:nvSpPr>
        <p:spPr>
          <a:xfrm>
            <a:off x="457200" y="4318000"/>
            <a:ext cx="8305800" cy="889000"/>
          </a:xfrm>
        </p:spPr>
        <p:txBody>
          <a:bodyPr>
            <a:normAutofit/>
          </a:bodyPr>
          <a:lstStyle/>
          <a:p>
            <a:r>
              <a:rPr lang="zh-CN" altLang="en-US" dirty="0"/>
              <a:t>内存</a:t>
            </a:r>
            <a:r>
              <a:rPr lang="en-US" altLang="zh-CN" dirty="0"/>
              <a:t>-1</a:t>
            </a:r>
            <a:r>
              <a:rPr lang="zh-CN" altLang="en-US" dirty="0"/>
              <a:t>向总线发起事务：</a:t>
            </a:r>
            <a:r>
              <a:rPr lang="en-US" altLang="zh-CN" dirty="0"/>
              <a:t> {102, value}</a:t>
            </a:r>
            <a:endParaRPr lang="en-US" altLang="zh-CN" sz="2400" dirty="0"/>
          </a:p>
        </p:txBody>
      </p:sp>
      <p:sp>
        <p:nvSpPr>
          <p:cNvPr id="32773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9pPr>
          </a:lstStyle>
          <a:p>
            <a:fld id="{3CF2FFC4-ADD4-3542-8FA4-55BE03301A71}" type="slidenum">
              <a:rPr lang="zh-CN" altLang="en-US" sz="1400" b="0">
                <a:latin typeface="Arial" panose="020B0604020202020204" pitchFamily="34" charset="0"/>
                <a:ea typeface="Adobe 楷体 Std R" charset="0"/>
                <a:cs typeface="Adobe 楷体 Std R" charset="0"/>
              </a:rPr>
              <a:pPr/>
              <a:t>17</a:t>
            </a:fld>
            <a:endParaRPr lang="en-US" altLang="zh-CN" sz="1400" b="0" dirty="0">
              <a:latin typeface="Arial" panose="020B0604020202020204" pitchFamily="34" charset="0"/>
              <a:ea typeface="Adobe 楷体 Std R" charset="0"/>
              <a:cs typeface="Adobe 楷体 Std R" charset="0"/>
            </a:endParaRPr>
          </a:p>
        </p:txBody>
      </p:sp>
      <p:cxnSp>
        <p:nvCxnSpPr>
          <p:cNvPr id="32774" name="Straight Connector 7"/>
          <p:cNvCxnSpPr>
            <a:cxnSpLocks noChangeShapeType="1"/>
          </p:cNvCxnSpPr>
          <p:nvPr/>
        </p:nvCxnSpPr>
        <p:spPr bwMode="auto">
          <a:xfrm flipH="1">
            <a:off x="990600" y="2095500"/>
            <a:ext cx="7315200" cy="0"/>
          </a:xfrm>
          <a:prstGeom prst="line">
            <a:avLst/>
          </a:prstGeom>
          <a:noFill/>
          <a:ln w="101600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32775" name="Rectangle 5"/>
          <p:cNvSpPr>
            <a:spLocks noChangeArrowheads="1"/>
          </p:cNvSpPr>
          <p:nvPr/>
        </p:nvSpPr>
        <p:spPr bwMode="auto">
          <a:xfrm>
            <a:off x="2305050" y="2413000"/>
            <a:ext cx="952500" cy="508000"/>
          </a:xfrm>
          <a:prstGeom prst="rect">
            <a:avLst/>
          </a:prstGeom>
          <a:noFill/>
          <a:ln w="101600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eaLnBrk="0" hangingPunct="0"/>
            <a:endParaRPr lang="zh-CN" dirty="0">
              <a:latin typeface="Arial" panose="020B0604020202020204" pitchFamily="34" charset="0"/>
            </a:endParaRPr>
          </a:p>
        </p:txBody>
      </p:sp>
      <p:cxnSp>
        <p:nvCxnSpPr>
          <p:cNvPr id="32776" name="Straight Connector 8"/>
          <p:cNvCxnSpPr>
            <a:cxnSpLocks noChangeShapeType="1"/>
          </p:cNvCxnSpPr>
          <p:nvPr/>
        </p:nvCxnSpPr>
        <p:spPr bwMode="auto">
          <a:xfrm>
            <a:off x="2819400" y="2095500"/>
            <a:ext cx="0" cy="279136"/>
          </a:xfrm>
          <a:prstGeom prst="line">
            <a:avLst/>
          </a:prstGeom>
          <a:noFill/>
          <a:ln w="101600">
            <a:solidFill>
              <a:srgbClr val="800000"/>
            </a:solidFill>
            <a:round/>
            <a:headEnd type="stealth" w="med" len="sm"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14473262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4" name="Picture 4" descr="bu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206500"/>
            <a:ext cx="8204200" cy="3249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795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读内存示例</a:t>
            </a:r>
            <a:r>
              <a:rPr lang="en-US" altLang="zh-CN" dirty="0"/>
              <a:t>: LOAD 1742, R1</a:t>
            </a:r>
          </a:p>
        </p:txBody>
      </p:sp>
      <p:sp>
        <p:nvSpPr>
          <p:cNvPr id="33796" name="Content Placeholder 2"/>
          <p:cNvSpPr>
            <a:spLocks noGrp="1"/>
          </p:cNvSpPr>
          <p:nvPr>
            <p:ph idx="1"/>
          </p:nvPr>
        </p:nvSpPr>
        <p:spPr>
          <a:xfrm>
            <a:off x="457200" y="4318000"/>
            <a:ext cx="8305800" cy="889000"/>
          </a:xfrm>
        </p:spPr>
        <p:txBody>
          <a:bodyPr>
            <a:normAutofit fontScale="92500"/>
          </a:bodyPr>
          <a:lstStyle/>
          <a:p>
            <a:r>
              <a:rPr lang="zh-CN" altLang="en-US" dirty="0"/>
              <a:t>处理器</a:t>
            </a:r>
            <a:r>
              <a:rPr lang="en-US" altLang="zh-CN" dirty="0"/>
              <a:t>-2</a:t>
            </a:r>
            <a:r>
              <a:rPr lang="zh-CN" altLang="en-US" dirty="0"/>
              <a:t>正在等待结果，将数据从总线复制到寄存器</a:t>
            </a:r>
            <a:r>
              <a:rPr lang="en-US" altLang="zh-CN" dirty="0"/>
              <a:t>R1</a:t>
            </a:r>
            <a:r>
              <a:rPr lang="zh-CN" altLang="en-US" dirty="0"/>
              <a:t>中</a:t>
            </a:r>
            <a:endParaRPr lang="en-US" altLang="zh-CN" sz="2400" dirty="0"/>
          </a:p>
        </p:txBody>
      </p:sp>
      <p:sp>
        <p:nvSpPr>
          <p:cNvPr id="33797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9pPr>
          </a:lstStyle>
          <a:p>
            <a:fld id="{AA2EFC4B-99C1-354E-B5F0-408C6FB9FEA7}" type="slidenum">
              <a:rPr lang="zh-CN" altLang="en-US" sz="1400" b="0">
                <a:latin typeface="Arial" panose="020B0604020202020204" pitchFamily="34" charset="0"/>
                <a:ea typeface="Adobe 楷体 Std R" charset="0"/>
                <a:cs typeface="Adobe 楷体 Std R" charset="0"/>
              </a:rPr>
              <a:pPr/>
              <a:t>18</a:t>
            </a:fld>
            <a:endParaRPr lang="en-US" altLang="zh-CN" sz="1400" b="0" dirty="0">
              <a:latin typeface="Arial" panose="020B0604020202020204" pitchFamily="34" charset="0"/>
              <a:ea typeface="Adobe 楷体 Std R" charset="0"/>
              <a:cs typeface="Adobe 楷体 Std R" charset="0"/>
            </a:endParaRPr>
          </a:p>
        </p:txBody>
      </p:sp>
      <p:cxnSp>
        <p:nvCxnSpPr>
          <p:cNvPr id="33798" name="Straight Connector 6"/>
          <p:cNvCxnSpPr>
            <a:cxnSpLocks noChangeShapeType="1"/>
          </p:cNvCxnSpPr>
          <p:nvPr/>
        </p:nvCxnSpPr>
        <p:spPr bwMode="auto">
          <a:xfrm>
            <a:off x="5410200" y="1841500"/>
            <a:ext cx="0" cy="254000"/>
          </a:xfrm>
          <a:prstGeom prst="line">
            <a:avLst/>
          </a:prstGeom>
          <a:noFill/>
          <a:ln w="101600">
            <a:solidFill>
              <a:srgbClr val="800000"/>
            </a:solidFill>
            <a:round/>
            <a:headEnd type="stealth" w="med" len="sm"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33799" name="Straight Connector 7"/>
          <p:cNvCxnSpPr>
            <a:cxnSpLocks noChangeShapeType="1"/>
          </p:cNvCxnSpPr>
          <p:nvPr/>
        </p:nvCxnSpPr>
        <p:spPr bwMode="auto">
          <a:xfrm flipH="1">
            <a:off x="990600" y="2095500"/>
            <a:ext cx="7315200" cy="0"/>
          </a:xfrm>
          <a:prstGeom prst="line">
            <a:avLst/>
          </a:prstGeom>
          <a:noFill/>
          <a:ln w="101600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33800" name="Rectangle 5"/>
          <p:cNvSpPr>
            <a:spLocks noChangeArrowheads="1"/>
          </p:cNvSpPr>
          <p:nvPr/>
        </p:nvSpPr>
        <p:spPr bwMode="auto">
          <a:xfrm>
            <a:off x="2305050" y="2413000"/>
            <a:ext cx="952500" cy="508000"/>
          </a:xfrm>
          <a:prstGeom prst="rect">
            <a:avLst/>
          </a:prstGeom>
          <a:noFill/>
          <a:ln w="101600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eaLnBrk="0" hangingPunct="0"/>
            <a:endParaRPr lang="zh-CN" dirty="0">
              <a:latin typeface="Arial" panose="020B0604020202020204" pitchFamily="34" charset="0"/>
            </a:endParaRPr>
          </a:p>
        </p:txBody>
      </p:sp>
      <p:cxnSp>
        <p:nvCxnSpPr>
          <p:cNvPr id="33801" name="Straight Connector 8"/>
          <p:cNvCxnSpPr>
            <a:cxnSpLocks noChangeShapeType="1"/>
          </p:cNvCxnSpPr>
          <p:nvPr/>
        </p:nvCxnSpPr>
        <p:spPr bwMode="auto">
          <a:xfrm>
            <a:off x="2819400" y="2095500"/>
            <a:ext cx="0" cy="279136"/>
          </a:xfrm>
          <a:prstGeom prst="line">
            <a:avLst/>
          </a:prstGeom>
          <a:noFill/>
          <a:ln w="101600">
            <a:solidFill>
              <a:srgbClr val="800000"/>
            </a:solidFill>
            <a:round/>
            <a:headEnd type="stealth" w="med" len="sm"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16163640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Picture 4" descr="bu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206500"/>
            <a:ext cx="8204200" cy="3249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819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读内存示例</a:t>
            </a:r>
            <a:r>
              <a:rPr lang="en-US" altLang="zh-CN" dirty="0"/>
              <a:t>: LOAD 1742, R1</a:t>
            </a:r>
          </a:p>
        </p:txBody>
      </p:sp>
      <p:sp>
        <p:nvSpPr>
          <p:cNvPr id="34820" name="Content Placeholder 2"/>
          <p:cNvSpPr>
            <a:spLocks noGrp="1"/>
          </p:cNvSpPr>
          <p:nvPr>
            <p:ph idx="1"/>
          </p:nvPr>
        </p:nvSpPr>
        <p:spPr>
          <a:xfrm>
            <a:off x="457200" y="4318000"/>
            <a:ext cx="8305800" cy="889000"/>
          </a:xfrm>
        </p:spPr>
        <p:txBody>
          <a:bodyPr>
            <a:normAutofit/>
          </a:bodyPr>
          <a:lstStyle/>
          <a:p>
            <a:r>
              <a:rPr lang="zh-CN" altLang="en-US" dirty="0"/>
              <a:t>处理器</a:t>
            </a:r>
            <a:r>
              <a:rPr lang="en-US" altLang="zh-CN" dirty="0"/>
              <a:t>-2</a:t>
            </a:r>
            <a:r>
              <a:rPr lang="zh-CN" altLang="en-US" dirty="0"/>
              <a:t> </a:t>
            </a:r>
            <a:r>
              <a:rPr lang="en-US" altLang="zh-CN" dirty="0"/>
              <a:t>ACK</a:t>
            </a:r>
            <a:r>
              <a:rPr lang="zh-CN" altLang="en-US" dirty="0"/>
              <a:t>，内存释放总线</a:t>
            </a:r>
            <a:endParaRPr lang="en-US" altLang="zh-CN" dirty="0"/>
          </a:p>
        </p:txBody>
      </p:sp>
      <p:sp>
        <p:nvSpPr>
          <p:cNvPr id="34821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9pPr>
          </a:lstStyle>
          <a:p>
            <a:fld id="{DE8FEA81-3295-5840-94F9-27A6917F632A}" type="slidenum">
              <a:rPr lang="zh-CN" altLang="en-US" sz="1400" b="0">
                <a:latin typeface="Arial" panose="020B0604020202020204" pitchFamily="34" charset="0"/>
                <a:ea typeface="Adobe 楷体 Std R" charset="0"/>
                <a:cs typeface="Adobe 楷体 Std R" charset="0"/>
              </a:rPr>
              <a:pPr/>
              <a:t>19</a:t>
            </a:fld>
            <a:endParaRPr lang="en-US" altLang="zh-CN" sz="1400" b="0" dirty="0">
              <a:latin typeface="Arial" panose="020B0604020202020204" pitchFamily="34" charset="0"/>
              <a:ea typeface="Adobe 楷体 Std R" charset="0"/>
              <a:cs typeface="Adobe 楷体 Std 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11763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69A444E1-8766-D64D-9C95-E8E2C3A52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200" dirty="0"/>
              <a:t>树莓派</a:t>
            </a:r>
            <a:r>
              <a:rPr lang="en-US" altLang="zh-CN" sz="3200" dirty="0"/>
              <a:t>3b+</a:t>
            </a:r>
            <a:r>
              <a:rPr lang="zh-CN" altLang="en-US" sz="3200" dirty="0"/>
              <a:t>地址布局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5D92C23-3AF2-C644-92B8-3542C53D9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20</a:t>
            </a:fld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10428F0-6C8C-9942-A546-AED2BEF65424}"/>
              </a:ext>
            </a:extLst>
          </p:cNvPr>
          <p:cNvSpPr/>
          <p:nvPr/>
        </p:nvSpPr>
        <p:spPr>
          <a:xfrm>
            <a:off x="6732215" y="4061463"/>
            <a:ext cx="2232273" cy="6624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</a:pPr>
            <a:r>
              <a:rPr lang="zh-CN" altLang="en-US" sz="1400" b="1" dirty="0">
                <a:solidFill>
                  <a:schemeClr val="accent1"/>
                </a:solidFill>
              </a:rPr>
              <a:t>物理内存</a:t>
            </a:r>
            <a:endParaRPr lang="en-US" altLang="zh-CN" sz="1400" b="1" dirty="0">
              <a:solidFill>
                <a:schemeClr val="accent1"/>
              </a:solidFill>
            </a:endParaRPr>
          </a:p>
          <a:p>
            <a:pPr algn="ctr">
              <a:lnSpc>
                <a:spcPct val="140000"/>
              </a:lnSpc>
            </a:pPr>
            <a:r>
              <a:rPr lang="zh-CN" altLang="en-US" sz="1400" b="1" dirty="0">
                <a:solidFill>
                  <a:schemeClr val="accent1"/>
                </a:solidFill>
              </a:rPr>
              <a:t>（</a:t>
            </a:r>
            <a:r>
              <a:rPr lang="en-US" altLang="zh-CN" sz="1400" b="1" dirty="0">
                <a:solidFill>
                  <a:schemeClr val="accent1"/>
                </a:solidFill>
              </a:rPr>
              <a:t>type:</a:t>
            </a:r>
            <a:r>
              <a:rPr lang="zh-CN" altLang="en-US" sz="1400" b="1" dirty="0">
                <a:solidFill>
                  <a:schemeClr val="accent1"/>
                </a:solidFill>
              </a:rPr>
              <a:t> </a:t>
            </a:r>
            <a:r>
              <a:rPr lang="en-US" altLang="zh-CN" sz="1400" b="1" dirty="0">
                <a:solidFill>
                  <a:schemeClr val="accent1"/>
                </a:solidFill>
              </a:rPr>
              <a:t>normal</a:t>
            </a:r>
            <a:r>
              <a:rPr lang="zh-CN" altLang="en-US" sz="1400" b="1" dirty="0">
                <a:solidFill>
                  <a:schemeClr val="accent1"/>
                </a:solidFill>
              </a:rPr>
              <a:t> </a:t>
            </a:r>
            <a:r>
              <a:rPr lang="en-US" altLang="zh-CN" sz="1400" b="1" dirty="0">
                <a:solidFill>
                  <a:schemeClr val="accent1"/>
                </a:solidFill>
              </a:rPr>
              <a:t>memory</a:t>
            </a:r>
            <a:r>
              <a:rPr lang="zh-CN" altLang="en-US" sz="1400" b="1" dirty="0">
                <a:solidFill>
                  <a:schemeClr val="accent1"/>
                </a:solidFill>
              </a:rPr>
              <a:t>）</a:t>
            </a:r>
            <a:endParaRPr lang="en-US" altLang="zh-CN" sz="1400" b="1" dirty="0">
              <a:solidFill>
                <a:schemeClr val="accent1"/>
              </a:solidFill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3BB1057-ABCC-59F6-6217-85FB43632C65}"/>
              </a:ext>
            </a:extLst>
          </p:cNvPr>
          <p:cNvSpPr/>
          <p:nvPr/>
        </p:nvSpPr>
        <p:spPr>
          <a:xfrm>
            <a:off x="4860032" y="620298"/>
            <a:ext cx="1656184" cy="482880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8" name="直线箭头连接符 7">
            <a:extLst>
              <a:ext uri="{FF2B5EF4-FFF2-40B4-BE49-F238E27FC236}">
                <a16:creationId xmlns:a16="http://schemas.microsoft.com/office/drawing/2014/main" id="{68E564A9-B211-672E-C699-5972DB6CE48B}"/>
              </a:ext>
            </a:extLst>
          </p:cNvPr>
          <p:cNvCxnSpPr>
            <a:cxnSpLocks/>
          </p:cNvCxnSpPr>
          <p:nvPr/>
        </p:nvCxnSpPr>
        <p:spPr>
          <a:xfrm>
            <a:off x="6732240" y="3034697"/>
            <a:ext cx="0" cy="24144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直线箭头连接符 10">
            <a:extLst>
              <a:ext uri="{FF2B5EF4-FFF2-40B4-BE49-F238E27FC236}">
                <a16:creationId xmlns:a16="http://schemas.microsoft.com/office/drawing/2014/main" id="{B33033D2-3442-7B52-465F-760FF9913580}"/>
              </a:ext>
            </a:extLst>
          </p:cNvPr>
          <p:cNvCxnSpPr>
            <a:cxnSpLocks/>
          </p:cNvCxnSpPr>
          <p:nvPr/>
        </p:nvCxnSpPr>
        <p:spPr>
          <a:xfrm>
            <a:off x="6732240" y="620297"/>
            <a:ext cx="0" cy="24144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CA33117F-7DB6-EE73-CA58-B9563F393221}"/>
              </a:ext>
            </a:extLst>
          </p:cNvPr>
          <p:cNvSpPr/>
          <p:nvPr/>
        </p:nvSpPr>
        <p:spPr>
          <a:xfrm>
            <a:off x="6732239" y="1643071"/>
            <a:ext cx="2133587" cy="6610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</a:pPr>
            <a:r>
              <a:rPr lang="zh-CN" altLang="en-US" sz="1400" b="1" dirty="0">
                <a:solidFill>
                  <a:schemeClr val="accent1"/>
                </a:solidFill>
              </a:rPr>
              <a:t>设备地址 </a:t>
            </a:r>
            <a:br>
              <a:rPr lang="en-US" altLang="zh-CN" sz="1400" b="1" dirty="0">
                <a:solidFill>
                  <a:schemeClr val="accent1"/>
                </a:solidFill>
              </a:rPr>
            </a:br>
            <a:r>
              <a:rPr lang="zh-CN" altLang="en-US" sz="1400" b="1" dirty="0">
                <a:solidFill>
                  <a:schemeClr val="accent1"/>
                </a:solidFill>
              </a:rPr>
              <a:t>（</a:t>
            </a:r>
            <a:r>
              <a:rPr lang="en-US" altLang="zh-CN" sz="1400" b="1" dirty="0">
                <a:solidFill>
                  <a:schemeClr val="accent1"/>
                </a:solidFill>
              </a:rPr>
              <a:t>type:</a:t>
            </a:r>
            <a:r>
              <a:rPr lang="zh-CN" altLang="en-US" sz="1400" b="1" dirty="0">
                <a:solidFill>
                  <a:schemeClr val="accent1"/>
                </a:solidFill>
              </a:rPr>
              <a:t> </a:t>
            </a:r>
            <a:r>
              <a:rPr lang="en-US" altLang="zh-CN" sz="1400" b="1" dirty="0">
                <a:solidFill>
                  <a:schemeClr val="accent1"/>
                </a:solidFill>
              </a:rPr>
              <a:t>device</a:t>
            </a:r>
            <a:r>
              <a:rPr lang="zh-CN" altLang="en-US" sz="1400" b="1" dirty="0">
                <a:solidFill>
                  <a:schemeClr val="accent1"/>
                </a:solidFill>
              </a:rPr>
              <a:t> </a:t>
            </a:r>
            <a:r>
              <a:rPr lang="en-US" altLang="zh-CN" sz="1400" b="1" dirty="0">
                <a:solidFill>
                  <a:schemeClr val="accent1"/>
                </a:solidFill>
              </a:rPr>
              <a:t>memory)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599FF30-27D5-D653-90CD-D0DBA8FE10BF}"/>
              </a:ext>
            </a:extLst>
          </p:cNvPr>
          <p:cNvSpPr txBox="1"/>
          <p:nvPr/>
        </p:nvSpPr>
        <p:spPr>
          <a:xfrm>
            <a:off x="4464775" y="5233764"/>
            <a:ext cx="2984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/>
              <a:t>0</a:t>
            </a:r>
            <a:endParaRPr kumimoji="1" lang="zh-CN" altLang="en-US" sz="1600" dirty="0"/>
          </a:p>
        </p:txBody>
      </p:sp>
      <p:cxnSp>
        <p:nvCxnSpPr>
          <p:cNvPr id="15" name="直线连接符 14">
            <a:extLst>
              <a:ext uri="{FF2B5EF4-FFF2-40B4-BE49-F238E27FC236}">
                <a16:creationId xmlns:a16="http://schemas.microsoft.com/office/drawing/2014/main" id="{601E75FE-6DCB-B700-0FE5-A3DD53843319}"/>
              </a:ext>
            </a:extLst>
          </p:cNvPr>
          <p:cNvCxnSpPr>
            <a:cxnSpLocks/>
          </p:cNvCxnSpPr>
          <p:nvPr/>
        </p:nvCxnSpPr>
        <p:spPr>
          <a:xfrm>
            <a:off x="4860032" y="2641476"/>
            <a:ext cx="1651357" cy="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F4A43796-DBB0-81C5-D967-308297BC58FA}"/>
              </a:ext>
            </a:extLst>
          </p:cNvPr>
          <p:cNvSpPr txBox="1"/>
          <p:nvPr/>
        </p:nvSpPr>
        <p:spPr>
          <a:xfrm>
            <a:off x="4325778" y="2456810"/>
            <a:ext cx="4587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/>
              <a:t>1G</a:t>
            </a:r>
            <a:endParaRPr kumimoji="1" lang="zh-CN" altLang="en-US" sz="1600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B513CCD-F267-1957-850E-418DD38D7862}"/>
              </a:ext>
            </a:extLst>
          </p:cNvPr>
          <p:cNvSpPr txBox="1"/>
          <p:nvPr/>
        </p:nvSpPr>
        <p:spPr>
          <a:xfrm>
            <a:off x="3766169" y="2857500"/>
            <a:ext cx="11192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/>
              <a:t>0x3f000000</a:t>
            </a:r>
            <a:endParaRPr kumimoji="1" lang="zh-CN" altLang="en-US" sz="1400" dirty="0"/>
          </a:p>
        </p:txBody>
      </p:sp>
      <p:cxnSp>
        <p:nvCxnSpPr>
          <p:cNvPr id="19" name="直线连接符 18">
            <a:extLst>
              <a:ext uri="{FF2B5EF4-FFF2-40B4-BE49-F238E27FC236}">
                <a16:creationId xmlns:a16="http://schemas.microsoft.com/office/drawing/2014/main" id="{5CDCA53F-84CF-FEDD-7439-4B5EA4B3BE38}"/>
              </a:ext>
            </a:extLst>
          </p:cNvPr>
          <p:cNvCxnSpPr>
            <a:cxnSpLocks/>
          </p:cNvCxnSpPr>
          <p:nvPr/>
        </p:nvCxnSpPr>
        <p:spPr>
          <a:xfrm>
            <a:off x="4860032" y="2995389"/>
            <a:ext cx="1651357" cy="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A99342AA-7821-5A68-7C3A-D0A91CDEED5B}"/>
              </a:ext>
            </a:extLst>
          </p:cNvPr>
          <p:cNvSpPr txBox="1"/>
          <p:nvPr/>
        </p:nvSpPr>
        <p:spPr>
          <a:xfrm>
            <a:off x="4384625" y="509810"/>
            <a:ext cx="4587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/>
              <a:t>4G</a:t>
            </a:r>
            <a:endParaRPr kumimoji="1"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8206475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AFAF7BE2-8815-9742-8C9D-002C7879F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课程实验内核启动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7198CA7B-2EE6-6A44-B456-643E29B34A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3B13AF-9945-A340-9C30-68FB0F08D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19134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C86B71-8B09-FE4E-ACBD-68DFE2FCF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/>
              <a:t>ChCore</a:t>
            </a:r>
            <a:r>
              <a:rPr kumimoji="1" lang="zh-CN" altLang="en-US" dirty="0"/>
              <a:t>启动代码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4A5CB3D-EE06-E94F-9B17-45DF7E657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22</a:t>
            </a:fld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F608E91-CF2B-E845-965D-63EC449C1FE3}"/>
              </a:ext>
            </a:extLst>
          </p:cNvPr>
          <p:cNvSpPr txBox="1"/>
          <p:nvPr/>
        </p:nvSpPr>
        <p:spPr>
          <a:xfrm>
            <a:off x="611560" y="1288834"/>
            <a:ext cx="842493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➜ chcore-lab </a:t>
            </a:r>
            <a:r>
              <a:rPr lang="en-US" altLang="zh-CN" dirty="0"/>
              <a:t>$</a:t>
            </a:r>
            <a:r>
              <a:rPr lang="zh-CN" altLang="en-US" dirty="0"/>
              <a:t> cd kernel</a:t>
            </a:r>
            <a:r>
              <a:rPr lang="en-US" altLang="zh-CN" dirty="0"/>
              <a:t>/arch/aarch64</a:t>
            </a:r>
            <a:endParaRPr lang="zh-CN" altLang="en-US" dirty="0"/>
          </a:p>
          <a:p>
            <a:r>
              <a:rPr lang="zh-CN" altLang="en-US" dirty="0"/>
              <a:t>➜  </a:t>
            </a:r>
            <a:r>
              <a:rPr lang="en-US" altLang="zh-CN" dirty="0"/>
              <a:t>aarch64</a:t>
            </a:r>
            <a:r>
              <a:rPr lang="zh-CN" altLang="en-US" dirty="0"/>
              <a:t> </a:t>
            </a:r>
            <a:r>
              <a:rPr lang="en-US" altLang="zh-CN" dirty="0"/>
              <a:t>$</a:t>
            </a:r>
            <a:r>
              <a:rPr lang="zh-CN" altLang="en-US" dirty="0"/>
              <a:t> ls</a:t>
            </a:r>
          </a:p>
          <a:p>
            <a:r>
              <a:rPr lang="en-US" altLang="zh-CN" dirty="0" err="1"/>
              <a:t>CMakeLists.txt</a:t>
            </a:r>
            <a:r>
              <a:rPr lang="en-US" altLang="zh-CN" dirty="0"/>
              <a:t> </a:t>
            </a:r>
            <a:r>
              <a:rPr lang="zh-CN" altLang="en-US" dirty="0"/>
              <a:t>     </a:t>
            </a:r>
            <a:r>
              <a:rPr lang="en-US" altLang="zh-CN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boot</a:t>
            </a:r>
            <a:r>
              <a:rPr lang="en-US" altLang="zh-CN" dirty="0"/>
              <a:t>     </a:t>
            </a:r>
            <a:r>
              <a:rPr lang="en-US" altLang="zh-CN" dirty="0" err="1"/>
              <a:t>head.S</a:t>
            </a:r>
            <a:r>
              <a:rPr lang="en-US" altLang="zh-CN" dirty="0"/>
              <a:t>     </a:t>
            </a:r>
            <a:r>
              <a:rPr lang="en-US" altLang="zh-CN" dirty="0" err="1"/>
              <a:t>main.c</a:t>
            </a:r>
            <a:r>
              <a:rPr lang="en-US" altLang="zh-CN" dirty="0"/>
              <a:t>      </a:t>
            </a:r>
            <a:r>
              <a:rPr lang="en-US" altLang="zh-CN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plat</a:t>
            </a:r>
            <a:r>
              <a:rPr lang="en-US" altLang="zh-CN" dirty="0"/>
              <a:t>       </a:t>
            </a:r>
            <a:r>
              <a:rPr lang="en-US" altLang="zh-CN" dirty="0" err="1"/>
              <a:t>tools.S</a:t>
            </a:r>
            <a:endParaRPr lang="en-US" altLang="zh-CN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endParaRPr lang="en-US" altLang="zh-CN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endParaRPr lang="en-US" altLang="zh-CN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r>
              <a:rPr lang="zh-CN" altLang="en-US" dirty="0"/>
              <a:t>➜  </a:t>
            </a:r>
            <a:r>
              <a:rPr lang="en-US" altLang="zh-CN" dirty="0"/>
              <a:t>kernel</a:t>
            </a:r>
            <a:r>
              <a:rPr lang="zh-CN" altLang="en-US" dirty="0"/>
              <a:t> </a:t>
            </a:r>
            <a:r>
              <a:rPr lang="en-US" altLang="zh-CN" dirty="0"/>
              <a:t>$</a:t>
            </a:r>
            <a:r>
              <a:rPr lang="zh-CN" altLang="en-US" dirty="0"/>
              <a:t>  cd </a:t>
            </a:r>
            <a:r>
              <a:rPr lang="en-US" altLang="zh-CN" dirty="0"/>
              <a:t>arch/aarch64/boot/raspi3</a:t>
            </a:r>
            <a:endParaRPr lang="zh-CN" altLang="en-US" dirty="0"/>
          </a:p>
          <a:p>
            <a:r>
              <a:rPr lang="zh-CN" altLang="en-US" dirty="0"/>
              <a:t>➜  </a:t>
            </a:r>
            <a:r>
              <a:rPr lang="en-US" altLang="zh-CN" dirty="0"/>
              <a:t>raspi3</a:t>
            </a:r>
            <a:r>
              <a:rPr lang="zh-CN" altLang="en-US" dirty="0"/>
              <a:t> </a:t>
            </a:r>
            <a:r>
              <a:rPr lang="en-US" altLang="zh-CN" dirty="0"/>
              <a:t>$</a:t>
            </a:r>
            <a:r>
              <a:rPr lang="zh-CN" altLang="en-US" dirty="0"/>
              <a:t> ls</a:t>
            </a:r>
            <a:endParaRPr lang="en-US" altLang="zh-CN" dirty="0"/>
          </a:p>
          <a:p>
            <a:r>
              <a:rPr lang="en-US" altLang="zh-CN" dirty="0" err="1"/>
              <a:t>CMakeLists.txt</a:t>
            </a:r>
            <a:r>
              <a:rPr lang="zh-CN" altLang="en-US" dirty="0"/>
              <a:t>      </a:t>
            </a:r>
            <a:r>
              <a:rPr lang="en-US" altLang="zh-CN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firmware       include        </a:t>
            </a:r>
            <a:r>
              <a:rPr lang="en-US" altLang="zh-CN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init</a:t>
            </a:r>
            <a:r>
              <a:rPr lang="en-US" altLang="zh-CN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       peripherals</a:t>
            </a:r>
            <a:endParaRPr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D8BCA0F-1EE4-2C45-8D80-F986C5273CAD}"/>
              </a:ext>
            </a:extLst>
          </p:cNvPr>
          <p:cNvSpPr/>
          <p:nvPr/>
        </p:nvSpPr>
        <p:spPr>
          <a:xfrm>
            <a:off x="539552" y="4033683"/>
            <a:ext cx="8424936" cy="11317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b="1" dirty="0">
                <a:solidFill>
                  <a:schemeClr val="accent1"/>
                </a:solidFill>
              </a:rPr>
              <a:t>两个涉及到的目录：</a:t>
            </a:r>
            <a:r>
              <a:rPr lang="en-US" altLang="zh-CN" b="1" dirty="0">
                <a:solidFill>
                  <a:schemeClr val="accent1"/>
                </a:solidFill>
              </a:rPr>
              <a:t>boot/raspi3</a:t>
            </a:r>
            <a:r>
              <a:rPr lang="zh-CN" altLang="en-US" b="1" dirty="0">
                <a:solidFill>
                  <a:schemeClr val="accent1"/>
                </a:solidFill>
              </a:rPr>
              <a:t> 和 </a:t>
            </a:r>
            <a:r>
              <a:rPr lang="en-US" altLang="zh-CN" b="1" dirty="0">
                <a:solidFill>
                  <a:schemeClr val="accent1"/>
                </a:solidFill>
              </a:rPr>
              <a:t>kernel</a:t>
            </a:r>
          </a:p>
          <a:p>
            <a:pPr marL="171450" indent="-1714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/>
              <a:t>boot/raspi3</a:t>
            </a:r>
            <a:r>
              <a:rPr lang="zh-CN" altLang="en-US" sz="1600" dirty="0"/>
              <a:t>目录：</a:t>
            </a:r>
            <a:r>
              <a:rPr lang="en-US" altLang="zh-CN" sz="1600" dirty="0"/>
              <a:t>firmware</a:t>
            </a:r>
            <a:r>
              <a:rPr lang="zh-CN" altLang="en-US" sz="1600" dirty="0"/>
              <a:t>（</a:t>
            </a:r>
            <a:r>
              <a:rPr lang="en-US" altLang="zh-CN" sz="1600" dirty="0"/>
              <a:t>bootloader</a:t>
            </a:r>
            <a:r>
              <a:rPr lang="zh-CN" altLang="en-US" sz="1600" dirty="0"/>
              <a:t>），其余编译后放在 </a:t>
            </a:r>
            <a:r>
              <a:rPr lang="en-US" altLang="zh-CN" sz="1600" dirty="0"/>
              <a:t>.</a:t>
            </a:r>
            <a:r>
              <a:rPr lang="en-US" altLang="zh-CN" sz="1600" dirty="0" err="1"/>
              <a:t>init</a:t>
            </a:r>
            <a:r>
              <a:rPr lang="zh-CN" altLang="en-US" sz="1600" dirty="0"/>
              <a:t> 段（低地址范围）</a:t>
            </a:r>
            <a:endParaRPr lang="en-US" altLang="zh-CN" sz="1600" dirty="0"/>
          </a:p>
          <a:p>
            <a:pPr marL="171450" indent="-1714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/>
              <a:t>kernel</a:t>
            </a:r>
            <a:r>
              <a:rPr lang="zh-CN" altLang="en-US" sz="1600" dirty="0"/>
              <a:t>目录：编译后放在 </a:t>
            </a:r>
            <a:r>
              <a:rPr lang="en-US" altLang="zh-CN" sz="1600" dirty="0"/>
              <a:t>.text</a:t>
            </a:r>
            <a:r>
              <a:rPr lang="zh-CN" altLang="en-US" sz="1600" dirty="0"/>
              <a:t> 段（高地址范围），</a:t>
            </a:r>
            <a:r>
              <a:rPr lang="en-US" altLang="zh-CN" sz="1600" dirty="0"/>
              <a:t>kernel</a:t>
            </a:r>
            <a:r>
              <a:rPr lang="zh-CN" altLang="en-US" sz="1600" dirty="0"/>
              <a:t>初始化代码入口在</a:t>
            </a:r>
            <a:r>
              <a:rPr lang="en-US" altLang="zh-CN" sz="1600" dirty="0"/>
              <a:t>arch/aarch64</a:t>
            </a:r>
          </a:p>
        </p:txBody>
      </p:sp>
    </p:spTree>
    <p:extLst>
      <p:ext uri="{BB962C8B-B14F-4D97-AF65-F5344CB8AC3E}">
        <p14:creationId xmlns:p14="http://schemas.microsoft.com/office/powerpoint/2010/main" val="1347468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D4FD71-A67A-F44C-9B62-5EC08598B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ChCore</a:t>
            </a:r>
            <a:r>
              <a:rPr kumimoji="1" lang="zh-CN" altLang="en-US" dirty="0"/>
              <a:t>内核的起始地址（编译脚本）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7E5E430-2F08-914C-A042-BF8AE799F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23</a:t>
            </a:fld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257EE8C-381C-2E44-AABE-15B245763B6F}"/>
              </a:ext>
            </a:extLst>
          </p:cNvPr>
          <p:cNvSpPr/>
          <p:nvPr/>
        </p:nvSpPr>
        <p:spPr>
          <a:xfrm>
            <a:off x="5330130" y="1279930"/>
            <a:ext cx="30861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solidFill>
                  <a:schemeClr val="accent1"/>
                </a:solidFill>
              </a:rPr>
              <a:t>kernel/arch/aarch64/boot/</a:t>
            </a:r>
            <a:r>
              <a:rPr lang="en-US" altLang="zh-CN" sz="1400" dirty="0" err="1">
                <a:solidFill>
                  <a:schemeClr val="accent1"/>
                </a:solidFill>
              </a:rPr>
              <a:t>linker.tpl.ld</a:t>
            </a:r>
            <a:endParaRPr lang="zh-CN" altLang="en-US" sz="1400" dirty="0">
              <a:solidFill>
                <a:schemeClr val="accent1"/>
              </a:solidFill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B1154B6-3E8C-9544-B90E-934D27859C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140" y="1659154"/>
            <a:ext cx="4279900" cy="17272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9EDF468A-0763-AB4C-BD94-B5B528E877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4088" y="1659154"/>
            <a:ext cx="3086100" cy="3048000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3B8E242F-D4AB-E84F-AD01-4935D248864C}"/>
              </a:ext>
            </a:extLst>
          </p:cNvPr>
          <p:cNvSpPr/>
          <p:nvPr/>
        </p:nvSpPr>
        <p:spPr>
          <a:xfrm>
            <a:off x="760698" y="1276432"/>
            <a:ext cx="402732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solidFill>
                  <a:schemeClr val="accent1"/>
                </a:solidFill>
              </a:rPr>
              <a:t>kernel/arch/aarch64/boot/raspi3/include/</a:t>
            </a:r>
            <a:r>
              <a:rPr lang="en-US" altLang="zh-CN" sz="1400" dirty="0" err="1">
                <a:solidFill>
                  <a:schemeClr val="accent1"/>
                </a:solidFill>
              </a:rPr>
              <a:t>image.h</a:t>
            </a:r>
            <a:endParaRPr lang="zh-CN" altLang="en-US" sz="1400" dirty="0">
              <a:solidFill>
                <a:schemeClr val="accent1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C387EBC-59EE-1444-80E8-CD6AF7C14788}"/>
              </a:ext>
            </a:extLst>
          </p:cNvPr>
          <p:cNvSpPr/>
          <p:nvPr/>
        </p:nvSpPr>
        <p:spPr>
          <a:xfrm>
            <a:off x="4535488" y="5083111"/>
            <a:ext cx="460851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solidFill>
                  <a:schemeClr val="accent1"/>
                </a:solidFill>
              </a:rPr>
              <a:t>kernel/arch/aarch64/boot/raspi3/</a:t>
            </a:r>
            <a:r>
              <a:rPr lang="en-US" altLang="zh-CN" sz="1400" dirty="0" err="1">
                <a:solidFill>
                  <a:schemeClr val="accent1"/>
                </a:solidFill>
              </a:rPr>
              <a:t>CMakeLists.txt</a:t>
            </a:r>
            <a:endParaRPr lang="zh-CN" altLang="en-US" sz="1400" dirty="0">
              <a:solidFill>
                <a:schemeClr val="accent1"/>
              </a:solidFill>
            </a:endParaRPr>
          </a:p>
        </p:txBody>
      </p:sp>
      <p:cxnSp>
        <p:nvCxnSpPr>
          <p:cNvPr id="5" name="直线连接符 4">
            <a:extLst>
              <a:ext uri="{FF2B5EF4-FFF2-40B4-BE49-F238E27FC236}">
                <a16:creationId xmlns:a16="http://schemas.microsoft.com/office/drawing/2014/main" id="{9ABCAD5A-E0C4-AE4C-9EFC-E5A01B5D7133}"/>
              </a:ext>
            </a:extLst>
          </p:cNvPr>
          <p:cNvCxnSpPr/>
          <p:nvPr/>
        </p:nvCxnSpPr>
        <p:spPr>
          <a:xfrm>
            <a:off x="6444208" y="3386354"/>
            <a:ext cx="1224136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>
            <a:extLst>
              <a:ext uri="{FF2B5EF4-FFF2-40B4-BE49-F238E27FC236}">
                <a16:creationId xmlns:a16="http://schemas.microsoft.com/office/drawing/2014/main" id="{DEC786DE-8943-7F82-7AC1-CE2240B5955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245" b="42026"/>
          <a:stretch/>
        </p:blipFill>
        <p:spPr>
          <a:xfrm>
            <a:off x="652140" y="3483548"/>
            <a:ext cx="4279900" cy="1501595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25EFEB13-7833-D93A-DEC2-9509BF1874D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72470" r="23244"/>
          <a:stretch/>
        </p:blipFill>
        <p:spPr>
          <a:xfrm>
            <a:off x="652140" y="4940438"/>
            <a:ext cx="4279900" cy="713048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8291E5B8-C045-7CF3-BE38-8FC9377EA9FC}"/>
              </a:ext>
            </a:extLst>
          </p:cNvPr>
          <p:cNvSpPr txBox="1"/>
          <p:nvPr/>
        </p:nvSpPr>
        <p:spPr>
          <a:xfrm>
            <a:off x="1979712" y="3995096"/>
            <a:ext cx="1107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>
                <a:solidFill>
                  <a:srgbClr val="FF0000"/>
                </a:solidFill>
              </a:rPr>
              <a:t>内核启动入口</a:t>
            </a:r>
          </a:p>
        </p:txBody>
      </p:sp>
      <p:cxnSp>
        <p:nvCxnSpPr>
          <p:cNvPr id="16" name="直线箭头连接符 15">
            <a:extLst>
              <a:ext uri="{FF2B5EF4-FFF2-40B4-BE49-F238E27FC236}">
                <a16:creationId xmlns:a16="http://schemas.microsoft.com/office/drawing/2014/main" id="{B7274DCC-DF4F-57BD-3E39-55C0309010C3}"/>
              </a:ext>
            </a:extLst>
          </p:cNvPr>
          <p:cNvCxnSpPr/>
          <p:nvPr/>
        </p:nvCxnSpPr>
        <p:spPr>
          <a:xfrm flipH="1">
            <a:off x="3087708" y="3183154"/>
            <a:ext cx="2996460" cy="95044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79245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55E8F4-C451-3C4D-A1EA-CBABE5E5F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内核运行的第一行代码：准备进入</a:t>
            </a:r>
            <a:r>
              <a:rPr kumimoji="1" lang="en-US" altLang="zh-CN" dirty="0"/>
              <a:t>EL1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93B268A-5686-9C44-960C-ADA1E50DB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24</a:t>
            </a:fld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1332BEE-2884-E545-AE0C-4097A5FA9594}"/>
              </a:ext>
            </a:extLst>
          </p:cNvPr>
          <p:cNvSpPr/>
          <p:nvPr/>
        </p:nvSpPr>
        <p:spPr>
          <a:xfrm>
            <a:off x="1114637" y="5407223"/>
            <a:ext cx="295232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solidFill>
                  <a:schemeClr val="accent1"/>
                </a:solidFill>
              </a:rPr>
              <a:t>boot/raspi3/</a:t>
            </a:r>
            <a:r>
              <a:rPr lang="en-US" altLang="zh-CN" sz="1400" dirty="0" err="1">
                <a:solidFill>
                  <a:schemeClr val="accent1"/>
                </a:solidFill>
              </a:rPr>
              <a:t>init</a:t>
            </a:r>
            <a:r>
              <a:rPr lang="en-US" altLang="zh-CN" sz="1400" dirty="0">
                <a:solidFill>
                  <a:schemeClr val="accent1"/>
                </a:solidFill>
              </a:rPr>
              <a:t>/</a:t>
            </a:r>
            <a:r>
              <a:rPr lang="en-US" altLang="zh-CN" sz="1400" dirty="0" err="1">
                <a:solidFill>
                  <a:schemeClr val="accent1"/>
                </a:solidFill>
              </a:rPr>
              <a:t>start.S</a:t>
            </a:r>
            <a:endParaRPr lang="zh-CN" altLang="en-US" sz="1400" dirty="0">
              <a:solidFill>
                <a:schemeClr val="accent1"/>
              </a:solidFill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B532131-A3D6-344D-8423-17E9381D882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64129"/>
          <a:stretch/>
        </p:blipFill>
        <p:spPr>
          <a:xfrm>
            <a:off x="611560" y="1158461"/>
            <a:ext cx="5291100" cy="1057427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CDC277F5-EB52-4745-8C49-ED0380A9D3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754" y="2354187"/>
            <a:ext cx="4465743" cy="3020944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56F9186D-95D8-3F48-9332-018F2D442152}"/>
              </a:ext>
            </a:extLst>
          </p:cNvPr>
          <p:cNvSpPr/>
          <p:nvPr/>
        </p:nvSpPr>
        <p:spPr>
          <a:xfrm>
            <a:off x="5292080" y="3036334"/>
            <a:ext cx="295232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chemeClr val="accent1"/>
                </a:solidFill>
              </a:rPr>
              <a:t>设置当前</a:t>
            </a:r>
            <a:r>
              <a:rPr lang="en-US" altLang="zh-CN" sz="1400" dirty="0">
                <a:solidFill>
                  <a:schemeClr val="accent1"/>
                </a:solidFill>
              </a:rPr>
              <a:t>EL</a:t>
            </a:r>
            <a:r>
              <a:rPr lang="zh-CN" altLang="en-US" sz="1400" dirty="0">
                <a:solidFill>
                  <a:schemeClr val="accent1"/>
                </a:solidFill>
              </a:rPr>
              <a:t>为</a:t>
            </a:r>
            <a:r>
              <a:rPr lang="en-US" altLang="zh-CN" sz="1400" dirty="0">
                <a:solidFill>
                  <a:schemeClr val="accent1"/>
                </a:solidFill>
              </a:rPr>
              <a:t>EL1</a:t>
            </a:r>
            <a:r>
              <a:rPr lang="zh-CN" altLang="en-US" sz="1400" dirty="0">
                <a:solidFill>
                  <a:schemeClr val="accent1"/>
                </a:solidFill>
              </a:rPr>
              <a:t>（内核的运行级）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07E9EA8-1297-3A42-A711-71516EFB272E}"/>
              </a:ext>
            </a:extLst>
          </p:cNvPr>
          <p:cNvSpPr/>
          <p:nvPr/>
        </p:nvSpPr>
        <p:spPr>
          <a:xfrm>
            <a:off x="5292080" y="3638358"/>
            <a:ext cx="324816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chemeClr val="accent1"/>
                </a:solidFill>
              </a:rPr>
              <a:t>设置启动时用的栈（用于</a:t>
            </a:r>
            <a:r>
              <a:rPr lang="en-US" altLang="zh-CN" sz="1400" dirty="0">
                <a:solidFill>
                  <a:schemeClr val="accent1"/>
                </a:solidFill>
              </a:rPr>
              <a:t>C</a:t>
            </a:r>
            <a:r>
              <a:rPr lang="zh-CN" altLang="en-US" sz="1400" dirty="0">
                <a:solidFill>
                  <a:schemeClr val="accent1"/>
                </a:solidFill>
              </a:rPr>
              <a:t>的函数调用）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7138DAD-3163-C34E-98EB-793E938B5C2E}"/>
              </a:ext>
            </a:extLst>
          </p:cNvPr>
          <p:cNvSpPr/>
          <p:nvPr/>
        </p:nvSpPr>
        <p:spPr>
          <a:xfrm>
            <a:off x="5292080" y="4248762"/>
            <a:ext cx="324816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chemeClr val="accent1"/>
                </a:solidFill>
              </a:rPr>
              <a:t>跳转到</a:t>
            </a:r>
            <a:r>
              <a:rPr lang="en-US" altLang="zh-CN" sz="1400" dirty="0">
                <a:solidFill>
                  <a:schemeClr val="accent1"/>
                </a:solidFill>
              </a:rPr>
              <a:t>C</a:t>
            </a:r>
            <a:r>
              <a:rPr lang="zh-CN" altLang="en-US" sz="1400" dirty="0">
                <a:solidFill>
                  <a:schemeClr val="accent1"/>
                </a:solidFill>
              </a:rPr>
              <a:t>代码（不再返回到</a:t>
            </a:r>
            <a:r>
              <a:rPr lang="en-US" altLang="zh-CN" sz="1400" dirty="0">
                <a:solidFill>
                  <a:schemeClr val="accent1"/>
                </a:solidFill>
              </a:rPr>
              <a:t>_start</a:t>
            </a:r>
            <a:r>
              <a:rPr lang="zh-CN" altLang="en-US" sz="1400" dirty="0">
                <a:solidFill>
                  <a:schemeClr val="accent1"/>
                </a:solidFill>
              </a:rPr>
              <a:t>函数）</a:t>
            </a:r>
          </a:p>
        </p:txBody>
      </p: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5F339B74-BBE0-E147-95AC-17A27AC841F3}"/>
              </a:ext>
            </a:extLst>
          </p:cNvPr>
          <p:cNvCxnSpPr/>
          <p:nvPr/>
        </p:nvCxnSpPr>
        <p:spPr>
          <a:xfrm flipH="1">
            <a:off x="1259632" y="2065412"/>
            <a:ext cx="792088" cy="432048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A2EA8170-5A92-504E-9C5F-074A49272DD9}"/>
              </a:ext>
            </a:extLst>
          </p:cNvPr>
          <p:cNvSpPr/>
          <p:nvPr/>
        </p:nvSpPr>
        <p:spPr>
          <a:xfrm>
            <a:off x="6143836" y="1426534"/>
            <a:ext cx="295232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chemeClr val="accent1"/>
                </a:solidFill>
              </a:rPr>
              <a:t>初始时</a:t>
            </a:r>
            <a:r>
              <a:rPr lang="en-US" altLang="zh-CN" sz="1400" dirty="0">
                <a:solidFill>
                  <a:schemeClr val="accent1"/>
                </a:solidFill>
              </a:rPr>
              <a:t>CPU</a:t>
            </a:r>
            <a:r>
              <a:rPr lang="zh-CN" altLang="en-US" sz="1400" dirty="0">
                <a:solidFill>
                  <a:schemeClr val="accent1"/>
                </a:solidFill>
              </a:rPr>
              <a:t>运行在</a:t>
            </a:r>
            <a:r>
              <a:rPr lang="en-US" altLang="zh-CN" sz="1400" dirty="0">
                <a:solidFill>
                  <a:schemeClr val="accent1"/>
                </a:solidFill>
              </a:rPr>
              <a:t>EL3</a:t>
            </a:r>
          </a:p>
          <a:p>
            <a:r>
              <a:rPr lang="zh-CN" altLang="en-US" sz="1400" dirty="0">
                <a:solidFill>
                  <a:schemeClr val="accent1"/>
                </a:solidFill>
              </a:rPr>
              <a:t>（由硬件厂商决定）</a:t>
            </a:r>
          </a:p>
        </p:txBody>
      </p:sp>
    </p:spTree>
    <p:extLst>
      <p:ext uri="{BB962C8B-B14F-4D97-AF65-F5344CB8AC3E}">
        <p14:creationId xmlns:p14="http://schemas.microsoft.com/office/powerpoint/2010/main" val="35032711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37A227D-CD0A-3549-827C-BF49AE87A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25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A788BAF-6DD0-4D4A-82FB-327944397F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712" y="481236"/>
            <a:ext cx="3988091" cy="3096344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76E8EE29-4AE4-7B49-88A5-3B9C741D92C2}"/>
              </a:ext>
            </a:extLst>
          </p:cNvPr>
          <p:cNvSpPr/>
          <p:nvPr/>
        </p:nvSpPr>
        <p:spPr>
          <a:xfrm>
            <a:off x="4716016" y="1241923"/>
            <a:ext cx="3608252" cy="6247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chemeClr val="accent1"/>
                </a:solidFill>
              </a:rPr>
              <a:t>树莓派启动后，</a:t>
            </a:r>
            <a:r>
              <a:rPr lang="en-US" altLang="zh-CN" sz="1400" dirty="0">
                <a:solidFill>
                  <a:schemeClr val="accent1"/>
                </a:solidFill>
              </a:rPr>
              <a:t>CPU</a:t>
            </a:r>
            <a:r>
              <a:rPr lang="zh-CN" altLang="en-US" sz="1400" dirty="0">
                <a:solidFill>
                  <a:schemeClr val="accent1"/>
                </a:solidFill>
              </a:rPr>
              <a:t>运行在</a:t>
            </a:r>
            <a:r>
              <a:rPr lang="en-US" altLang="zh-CN" sz="1400" dirty="0">
                <a:solidFill>
                  <a:schemeClr val="accent1"/>
                </a:solidFill>
              </a:rPr>
              <a:t>EL3</a:t>
            </a:r>
          </a:p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chemeClr val="accent1"/>
                </a:solidFill>
              </a:rPr>
              <a:t>（后面代码起作用的主要是</a:t>
            </a:r>
            <a:r>
              <a:rPr lang="en-US" altLang="zh-CN" sz="1400" dirty="0">
                <a:solidFill>
                  <a:schemeClr val="accent1"/>
                </a:solidFill>
              </a:rPr>
              <a:t>_el3</a:t>
            </a:r>
            <a:r>
              <a:rPr lang="zh-CN" altLang="en-US" sz="1400" dirty="0">
                <a:solidFill>
                  <a:schemeClr val="accent1"/>
                </a:solidFill>
              </a:rPr>
              <a:t>相关部分）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39B69D3-ACE0-3C4E-9838-B42AB7F4CBDE}"/>
              </a:ext>
            </a:extLst>
          </p:cNvPr>
          <p:cNvSpPr/>
          <p:nvPr/>
        </p:nvSpPr>
        <p:spPr>
          <a:xfrm>
            <a:off x="1369173" y="5296962"/>
            <a:ext cx="6152645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100" dirty="0">
                <a:hlinkClick r:id="rId4"/>
              </a:rPr>
              <a:t>https://github.com/s-matyukevich/raspberry-pi-os/blob/master/docs/lesson02/rpi-os.md</a:t>
            </a:r>
            <a:r>
              <a:rPr lang="zh-CN" altLang="en-US" sz="1100" dirty="0"/>
              <a:t> 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29C18354-71EE-0241-BCC3-0F457857F9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930" y="3601362"/>
            <a:ext cx="3995566" cy="1092684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FFB86EF7-F4CB-C644-8DD4-F0EB6F6A6CC4}"/>
              </a:ext>
            </a:extLst>
          </p:cNvPr>
          <p:cNvSpPr/>
          <p:nvPr/>
        </p:nvSpPr>
        <p:spPr>
          <a:xfrm>
            <a:off x="4716016" y="2029408"/>
            <a:ext cx="4427984" cy="3447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chemeClr val="accent1"/>
                </a:solidFill>
              </a:rPr>
              <a:t>设置</a:t>
            </a:r>
            <a:r>
              <a:rPr lang="en-US" altLang="zh-CN" sz="1400" dirty="0">
                <a:solidFill>
                  <a:schemeClr val="accent1"/>
                </a:solidFill>
              </a:rPr>
              <a:t>scr_el3</a:t>
            </a:r>
            <a:r>
              <a:rPr lang="zh-CN" altLang="en-US" sz="1400" dirty="0">
                <a:solidFill>
                  <a:schemeClr val="accent1"/>
                </a:solidFill>
              </a:rPr>
              <a:t>寄存器：</a:t>
            </a:r>
            <a:r>
              <a:rPr lang="en-US" altLang="zh-CN" sz="1400" dirty="0">
                <a:solidFill>
                  <a:schemeClr val="accent1"/>
                </a:solidFill>
              </a:rPr>
              <a:t>NS</a:t>
            </a:r>
            <a:r>
              <a:rPr lang="zh-CN" altLang="en-US" sz="1400" dirty="0">
                <a:solidFill>
                  <a:schemeClr val="accent1"/>
                </a:solidFill>
              </a:rPr>
              <a:t>、</a:t>
            </a:r>
            <a:r>
              <a:rPr lang="en-US" altLang="zh-CN" sz="1400" dirty="0">
                <a:solidFill>
                  <a:schemeClr val="accent1"/>
                </a:solidFill>
              </a:rPr>
              <a:t>HCE</a:t>
            </a:r>
            <a:r>
              <a:rPr lang="zh-CN" altLang="en-US" sz="1400" dirty="0">
                <a:solidFill>
                  <a:schemeClr val="accent1"/>
                </a:solidFill>
              </a:rPr>
              <a:t>、</a:t>
            </a:r>
            <a:r>
              <a:rPr lang="en-US" altLang="zh-CN" sz="1400" dirty="0">
                <a:solidFill>
                  <a:schemeClr val="accent1"/>
                </a:solidFill>
              </a:rPr>
              <a:t>RW</a:t>
            </a:r>
            <a:r>
              <a:rPr lang="zh-CN" altLang="en-US" sz="1400" dirty="0">
                <a:solidFill>
                  <a:schemeClr val="accent1"/>
                </a:solidFill>
              </a:rPr>
              <a:t>（语义见后一页）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F86EB73-8908-AD48-8661-A33C51574062}"/>
              </a:ext>
            </a:extLst>
          </p:cNvPr>
          <p:cNvSpPr/>
          <p:nvPr/>
        </p:nvSpPr>
        <p:spPr>
          <a:xfrm>
            <a:off x="4716016" y="2497460"/>
            <a:ext cx="3988090" cy="11849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chemeClr val="accent1"/>
                </a:solidFill>
              </a:rPr>
              <a:t>为</a:t>
            </a:r>
            <a:r>
              <a:rPr lang="en-US" altLang="zh-CN" sz="1400" dirty="0" err="1">
                <a:solidFill>
                  <a:schemeClr val="accent1"/>
                </a:solidFill>
              </a:rPr>
              <a:t>eret</a:t>
            </a:r>
            <a:r>
              <a:rPr lang="zh-CN" altLang="en-US" sz="1400" dirty="0">
                <a:solidFill>
                  <a:schemeClr val="accent1"/>
                </a:solidFill>
              </a:rPr>
              <a:t>做准备：</a:t>
            </a:r>
            <a:endParaRPr lang="en-US" altLang="zh-CN" sz="1400" dirty="0">
              <a:solidFill>
                <a:schemeClr val="accent1"/>
              </a:solidFill>
            </a:endParaRPr>
          </a:p>
          <a:p>
            <a:pPr>
              <a:lnSpc>
                <a:spcPct val="130000"/>
              </a:lnSpc>
            </a:pPr>
            <a:r>
              <a:rPr lang="en-US" altLang="zh-CN" sz="1400" dirty="0">
                <a:solidFill>
                  <a:schemeClr val="accent1"/>
                </a:solidFill>
              </a:rPr>
              <a:t>1.</a:t>
            </a:r>
            <a:r>
              <a:rPr lang="zh-CN" altLang="en-US" sz="1400" dirty="0">
                <a:solidFill>
                  <a:schemeClr val="accent1"/>
                </a:solidFill>
              </a:rPr>
              <a:t> 设置</a:t>
            </a:r>
            <a:r>
              <a:rPr lang="en-US" altLang="zh-CN" sz="1400" dirty="0">
                <a:solidFill>
                  <a:schemeClr val="accent1"/>
                </a:solidFill>
              </a:rPr>
              <a:t>EL3</a:t>
            </a:r>
            <a:r>
              <a:rPr lang="zh-CN" altLang="en-US" sz="1400" dirty="0">
                <a:solidFill>
                  <a:schemeClr val="accent1"/>
                </a:solidFill>
              </a:rPr>
              <a:t>的</a:t>
            </a:r>
            <a:r>
              <a:rPr lang="en-US" altLang="zh-CN" sz="1400" dirty="0">
                <a:solidFill>
                  <a:schemeClr val="accent1"/>
                </a:solidFill>
              </a:rPr>
              <a:t>exception</a:t>
            </a:r>
            <a:r>
              <a:rPr lang="zh-CN" altLang="en-US" sz="1400" dirty="0">
                <a:solidFill>
                  <a:schemeClr val="accent1"/>
                </a:solidFill>
              </a:rPr>
              <a:t> </a:t>
            </a:r>
            <a:r>
              <a:rPr lang="en-US" altLang="zh-CN" sz="1400" dirty="0">
                <a:solidFill>
                  <a:schemeClr val="accent1"/>
                </a:solidFill>
              </a:rPr>
              <a:t>link</a:t>
            </a:r>
            <a:r>
              <a:rPr lang="zh-CN" altLang="en-US" sz="1400" dirty="0">
                <a:solidFill>
                  <a:schemeClr val="accent1"/>
                </a:solidFill>
              </a:rPr>
              <a:t> </a:t>
            </a:r>
            <a:r>
              <a:rPr lang="en-US" altLang="zh-CN" sz="1400" dirty="0">
                <a:solidFill>
                  <a:schemeClr val="accent1"/>
                </a:solidFill>
              </a:rPr>
              <a:t>register</a:t>
            </a:r>
            <a:r>
              <a:rPr lang="zh-CN" altLang="en-US" sz="1400" dirty="0">
                <a:solidFill>
                  <a:schemeClr val="accent1"/>
                </a:solidFill>
              </a:rPr>
              <a:t>（返回地址）</a:t>
            </a:r>
            <a:endParaRPr lang="en-US" altLang="zh-CN" sz="1400" dirty="0">
              <a:solidFill>
                <a:schemeClr val="accent1"/>
              </a:solidFill>
            </a:endParaRPr>
          </a:p>
          <a:p>
            <a:pPr>
              <a:lnSpc>
                <a:spcPct val="130000"/>
              </a:lnSpc>
            </a:pPr>
            <a:r>
              <a:rPr lang="en-US" altLang="zh-CN" sz="1400" dirty="0">
                <a:solidFill>
                  <a:schemeClr val="accent1"/>
                </a:solidFill>
              </a:rPr>
              <a:t>2.</a:t>
            </a:r>
            <a:r>
              <a:rPr lang="zh-CN" altLang="en-US" sz="1400" dirty="0">
                <a:solidFill>
                  <a:schemeClr val="accent1"/>
                </a:solidFill>
              </a:rPr>
              <a:t> 设置</a:t>
            </a:r>
            <a:r>
              <a:rPr lang="en-US" altLang="zh-CN" sz="1400" dirty="0">
                <a:solidFill>
                  <a:schemeClr val="accent1"/>
                </a:solidFill>
              </a:rPr>
              <a:t>EL3</a:t>
            </a:r>
            <a:r>
              <a:rPr lang="zh-CN" altLang="en-US" sz="1400" dirty="0">
                <a:solidFill>
                  <a:schemeClr val="accent1"/>
                </a:solidFill>
              </a:rPr>
              <a:t>的状态寄存器</a:t>
            </a:r>
            <a:r>
              <a:rPr lang="en-US" altLang="zh-CN" sz="1400" dirty="0">
                <a:solidFill>
                  <a:schemeClr val="accent1"/>
                </a:solidFill>
              </a:rPr>
              <a:t>SPSR</a:t>
            </a:r>
          </a:p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chemeClr val="accent1"/>
                </a:solidFill>
              </a:rPr>
              <a:t>（</a:t>
            </a:r>
            <a:r>
              <a:rPr lang="en-US" altLang="zh-CN" sz="1400" dirty="0">
                <a:solidFill>
                  <a:schemeClr val="accent1"/>
                </a:solidFill>
              </a:rPr>
              <a:t>D:</a:t>
            </a:r>
            <a:r>
              <a:rPr lang="zh-CN" altLang="en-US" sz="1400" dirty="0">
                <a:solidFill>
                  <a:schemeClr val="accent1"/>
                </a:solidFill>
              </a:rPr>
              <a:t> </a:t>
            </a:r>
            <a:r>
              <a:rPr lang="en-US" altLang="zh-CN" sz="1400" dirty="0">
                <a:solidFill>
                  <a:schemeClr val="accent1"/>
                </a:solidFill>
              </a:rPr>
              <a:t>debug;</a:t>
            </a:r>
            <a:r>
              <a:rPr lang="zh-CN" altLang="en-US" sz="1400" dirty="0">
                <a:solidFill>
                  <a:schemeClr val="accent1"/>
                </a:solidFill>
              </a:rPr>
              <a:t> </a:t>
            </a:r>
            <a:r>
              <a:rPr lang="en-US" altLang="zh-CN" sz="1400" dirty="0">
                <a:solidFill>
                  <a:schemeClr val="accent1"/>
                </a:solidFill>
              </a:rPr>
              <a:t>A:</a:t>
            </a:r>
            <a:r>
              <a:rPr lang="zh-CN" altLang="en-US" sz="1400" dirty="0">
                <a:solidFill>
                  <a:schemeClr val="accent1"/>
                </a:solidFill>
              </a:rPr>
              <a:t> </a:t>
            </a:r>
            <a:r>
              <a:rPr lang="en-US" altLang="zh-CN" sz="1400" dirty="0">
                <a:solidFill>
                  <a:schemeClr val="accent1"/>
                </a:solidFill>
              </a:rPr>
              <a:t>error;</a:t>
            </a:r>
            <a:r>
              <a:rPr lang="zh-CN" altLang="en-US" sz="1400" dirty="0">
                <a:solidFill>
                  <a:schemeClr val="accent1"/>
                </a:solidFill>
              </a:rPr>
              <a:t> </a:t>
            </a:r>
            <a:r>
              <a:rPr lang="en-US" altLang="zh-CN" sz="1400" dirty="0">
                <a:solidFill>
                  <a:schemeClr val="accent1"/>
                </a:solidFill>
              </a:rPr>
              <a:t>I:</a:t>
            </a:r>
            <a:r>
              <a:rPr lang="zh-CN" altLang="en-US" sz="1400" dirty="0">
                <a:solidFill>
                  <a:schemeClr val="accent1"/>
                </a:solidFill>
              </a:rPr>
              <a:t> </a:t>
            </a:r>
            <a:r>
              <a:rPr lang="en-US" altLang="zh-CN" sz="1400" dirty="0">
                <a:solidFill>
                  <a:schemeClr val="accent1"/>
                </a:solidFill>
              </a:rPr>
              <a:t>interrupt;</a:t>
            </a:r>
            <a:r>
              <a:rPr lang="zh-CN" altLang="en-US" sz="1400" dirty="0">
                <a:solidFill>
                  <a:schemeClr val="accent1"/>
                </a:solidFill>
              </a:rPr>
              <a:t> </a:t>
            </a:r>
            <a:r>
              <a:rPr lang="en-US" altLang="zh-CN" sz="1400" dirty="0">
                <a:solidFill>
                  <a:schemeClr val="accent1"/>
                </a:solidFill>
              </a:rPr>
              <a:t>F:</a:t>
            </a:r>
            <a:r>
              <a:rPr lang="zh-CN" altLang="en-US" sz="1400" dirty="0">
                <a:solidFill>
                  <a:schemeClr val="accent1"/>
                </a:solidFill>
              </a:rPr>
              <a:t> </a:t>
            </a:r>
            <a:r>
              <a:rPr lang="en-US" altLang="zh-CN" sz="1400" dirty="0">
                <a:solidFill>
                  <a:schemeClr val="accent1"/>
                </a:solidFill>
              </a:rPr>
              <a:t>fast</a:t>
            </a:r>
            <a:r>
              <a:rPr lang="zh-CN" altLang="en-US" sz="1400" dirty="0">
                <a:solidFill>
                  <a:schemeClr val="accent1"/>
                </a:solidFill>
              </a:rPr>
              <a:t> </a:t>
            </a:r>
            <a:r>
              <a:rPr lang="en-US" altLang="zh-CN" sz="1400" dirty="0">
                <a:solidFill>
                  <a:schemeClr val="accent1"/>
                </a:solidFill>
              </a:rPr>
              <a:t>interrupt</a:t>
            </a:r>
            <a:r>
              <a:rPr lang="zh-CN" altLang="en-US" sz="1400" dirty="0">
                <a:solidFill>
                  <a:schemeClr val="accent1"/>
                </a:solidFill>
              </a:rPr>
              <a:t>）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DD45E4B-F2BB-0A44-BD45-7C5971A42AE1}"/>
              </a:ext>
            </a:extLst>
          </p:cNvPr>
          <p:cNvSpPr/>
          <p:nvPr/>
        </p:nvSpPr>
        <p:spPr>
          <a:xfrm>
            <a:off x="4734439" y="3746356"/>
            <a:ext cx="3988090" cy="623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 dirty="0" err="1">
                <a:solidFill>
                  <a:schemeClr val="accent1"/>
                </a:solidFill>
              </a:rPr>
              <a:t>isb</a:t>
            </a:r>
            <a:r>
              <a:rPr lang="en-US" altLang="zh-CN" sz="1400" dirty="0">
                <a:solidFill>
                  <a:schemeClr val="accent1"/>
                </a:solidFill>
              </a:rPr>
              <a:t>:</a:t>
            </a:r>
            <a:r>
              <a:rPr lang="zh-CN" altLang="en-US" sz="1400" dirty="0">
                <a:solidFill>
                  <a:schemeClr val="accent1"/>
                </a:solidFill>
              </a:rPr>
              <a:t> </a:t>
            </a:r>
            <a:r>
              <a:rPr lang="en-US" altLang="zh-CN" sz="1400" dirty="0">
                <a:solidFill>
                  <a:schemeClr val="accent1"/>
                </a:solidFill>
              </a:rPr>
              <a:t>memory</a:t>
            </a:r>
            <a:r>
              <a:rPr lang="zh-CN" altLang="en-US" sz="1400" dirty="0">
                <a:solidFill>
                  <a:schemeClr val="accent1"/>
                </a:solidFill>
              </a:rPr>
              <a:t> </a:t>
            </a:r>
            <a:r>
              <a:rPr lang="en-US" altLang="zh-CN" sz="1400" dirty="0">
                <a:solidFill>
                  <a:schemeClr val="accent1"/>
                </a:solidFill>
              </a:rPr>
              <a:t>barrier</a:t>
            </a:r>
            <a:r>
              <a:rPr lang="zh-CN" altLang="en-US" sz="1400" dirty="0">
                <a:solidFill>
                  <a:schemeClr val="accent1"/>
                </a:solidFill>
              </a:rPr>
              <a:t>，保证顺序执行</a:t>
            </a:r>
            <a:endParaRPr lang="en-US" altLang="zh-CN" sz="1400" dirty="0">
              <a:solidFill>
                <a:schemeClr val="accent1"/>
              </a:solidFill>
            </a:endParaRPr>
          </a:p>
          <a:p>
            <a:pPr>
              <a:lnSpc>
                <a:spcPct val="130000"/>
              </a:lnSpc>
            </a:pPr>
            <a:r>
              <a:rPr lang="en-US" altLang="zh-CN" sz="1400" dirty="0" err="1">
                <a:solidFill>
                  <a:schemeClr val="accent1"/>
                </a:solidFill>
              </a:rPr>
              <a:t>eret</a:t>
            </a:r>
            <a:r>
              <a:rPr lang="zh-CN" altLang="en-US" sz="1400" dirty="0">
                <a:solidFill>
                  <a:schemeClr val="accent1"/>
                </a:solidFill>
              </a:rPr>
              <a:t>，跳到 </a:t>
            </a:r>
            <a:r>
              <a:rPr lang="en-US" altLang="zh-CN" sz="1400" dirty="0">
                <a:solidFill>
                  <a:schemeClr val="accent1"/>
                </a:solidFill>
              </a:rPr>
              <a:t>.</a:t>
            </a:r>
            <a:r>
              <a:rPr lang="en-US" altLang="zh-CN" sz="1400" dirty="0" err="1">
                <a:solidFill>
                  <a:schemeClr val="accent1"/>
                </a:solidFill>
              </a:rPr>
              <a:t>Ltarget</a:t>
            </a:r>
            <a:r>
              <a:rPr lang="zh-CN" altLang="en-US" sz="1400" dirty="0">
                <a:solidFill>
                  <a:schemeClr val="accent1"/>
                </a:solidFill>
              </a:rPr>
              <a:t>，同时进入</a:t>
            </a:r>
            <a:r>
              <a:rPr lang="en-US" altLang="zh-CN" sz="1400" dirty="0">
                <a:solidFill>
                  <a:schemeClr val="accent1"/>
                </a:solidFill>
              </a:rPr>
              <a:t>EL1</a:t>
            </a:r>
            <a:endParaRPr lang="zh-CN" altLang="en-US" sz="1400" dirty="0">
              <a:solidFill>
                <a:schemeClr val="accent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FDD62A6-3027-3B41-B973-E1BB0719FAE1}"/>
              </a:ext>
            </a:extLst>
          </p:cNvPr>
          <p:cNvSpPr/>
          <p:nvPr/>
        </p:nvSpPr>
        <p:spPr>
          <a:xfrm>
            <a:off x="4734439" y="4433387"/>
            <a:ext cx="3988090" cy="3432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 dirty="0">
                <a:solidFill>
                  <a:schemeClr val="accent1"/>
                </a:solidFill>
              </a:rPr>
              <a:t>ret:</a:t>
            </a:r>
            <a:r>
              <a:rPr lang="zh-CN" altLang="en-US" sz="1400" dirty="0">
                <a:solidFill>
                  <a:schemeClr val="accent1"/>
                </a:solidFill>
              </a:rPr>
              <a:t> 返回到</a:t>
            </a:r>
            <a:r>
              <a:rPr lang="en-US" altLang="zh-CN" sz="1400" dirty="0" err="1">
                <a:solidFill>
                  <a:schemeClr val="accent1"/>
                </a:solidFill>
              </a:rPr>
              <a:t>start.S</a:t>
            </a:r>
            <a:r>
              <a:rPr lang="zh-CN" altLang="en-US" sz="1400" dirty="0">
                <a:solidFill>
                  <a:schemeClr val="accent1"/>
                </a:solidFill>
              </a:rPr>
              <a:t>的</a:t>
            </a:r>
            <a:r>
              <a:rPr lang="en-US" altLang="zh-CN" sz="1400" dirty="0">
                <a:solidFill>
                  <a:schemeClr val="accent1"/>
                </a:solidFill>
              </a:rPr>
              <a:t>50</a:t>
            </a:r>
            <a:r>
              <a:rPr lang="zh-CN" altLang="en-US" sz="1400" dirty="0">
                <a:solidFill>
                  <a:schemeClr val="accent1"/>
                </a:solidFill>
              </a:rPr>
              <a:t>行</a:t>
            </a:r>
          </a:p>
        </p:txBody>
      </p:sp>
    </p:spTree>
    <p:extLst>
      <p:ext uri="{BB962C8B-B14F-4D97-AF65-F5344CB8AC3E}">
        <p14:creationId xmlns:p14="http://schemas.microsoft.com/office/powerpoint/2010/main" val="22283003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F1C9EE9-6A6D-1B46-8F2D-C7C372F0B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26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C2A9935-1D8F-3143-8AF3-D3026C85F4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409228"/>
            <a:ext cx="7064352" cy="457381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17B8B97D-5CF5-524C-B4B9-2695DB98631D}"/>
              </a:ext>
            </a:extLst>
          </p:cNvPr>
          <p:cNvSpPr/>
          <p:nvPr/>
        </p:nvSpPr>
        <p:spPr>
          <a:xfrm>
            <a:off x="152400" y="5291916"/>
            <a:ext cx="8839199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zh-CN" sz="1100" dirty="0">
                <a:hlinkClick r:id="rId3"/>
              </a:rPr>
              <a:t>https://developer.arm.com/documentation/ddi0500/j/System-Control/AArch64-register-descriptions/Secure-Configuration-Registe</a:t>
            </a:r>
            <a:r>
              <a:rPr lang="en-US" altLang="zh-CN" sz="1100" dirty="0">
                <a:hlinkClick r:id="rId3"/>
              </a:rPr>
              <a:t>r</a:t>
            </a:r>
            <a:r>
              <a:rPr lang="zh-CN" altLang="en-US" sz="11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801436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3337DBE-68EA-8145-A711-37E18EA09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27</a:t>
            </a:fld>
            <a:endParaRPr lang="zh-CN" altLang="en-US"/>
          </a:p>
        </p:txBody>
      </p:sp>
      <p:graphicFrame>
        <p:nvGraphicFramePr>
          <p:cNvPr id="8" name="表格 8">
            <a:extLst>
              <a:ext uri="{FF2B5EF4-FFF2-40B4-BE49-F238E27FC236}">
                <a16:creationId xmlns:a16="http://schemas.microsoft.com/office/drawing/2014/main" id="{E9620880-07B0-1D40-8F85-469EF4EE4E8A}"/>
              </a:ext>
            </a:extLst>
          </p:cNvPr>
          <p:cNvGraphicFramePr>
            <a:graphicFrameLocks noGrp="1"/>
          </p:cNvGraphicFramePr>
          <p:nvPr/>
        </p:nvGraphicFramePr>
        <p:xfrm>
          <a:off x="457400" y="1345332"/>
          <a:ext cx="8358100" cy="361188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043591">
                  <a:extLst>
                    <a:ext uri="{9D8B030D-6E8A-4147-A177-3AD203B41FA5}">
                      <a16:colId xmlns:a16="http://schemas.microsoft.com/office/drawing/2014/main" val="2234072043"/>
                    </a:ext>
                  </a:extLst>
                </a:gridCol>
                <a:gridCol w="377838">
                  <a:extLst>
                    <a:ext uri="{9D8B030D-6E8A-4147-A177-3AD203B41FA5}">
                      <a16:colId xmlns:a16="http://schemas.microsoft.com/office/drawing/2014/main" val="74071782"/>
                    </a:ext>
                  </a:extLst>
                </a:gridCol>
                <a:gridCol w="6936671">
                  <a:extLst>
                    <a:ext uri="{9D8B030D-6E8A-4147-A177-3AD203B41FA5}">
                      <a16:colId xmlns:a16="http://schemas.microsoft.com/office/drawing/2014/main" val="38763075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Bit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V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Semantic</a:t>
                      </a:r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6100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[10]</a:t>
                      </a:r>
                      <a:r>
                        <a:rPr lang="zh-CN" altLang="en-US" sz="1400" dirty="0"/>
                        <a:t> </a:t>
                      </a:r>
                      <a:r>
                        <a:rPr lang="en-US" altLang="zh-CN" sz="1400" dirty="0"/>
                        <a:t>RW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Register </a:t>
                      </a: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</a:t>
                      </a:r>
                      <a:r>
                        <a:rPr lang="en" altLang="zh-CN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idth</a:t>
                      </a:r>
                      <a:r>
                        <a:rPr lang="en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control for lower exception levels. The possible values are:</a:t>
                      </a:r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10856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0:</a:t>
                      </a:r>
                    </a:p>
                    <a:p>
                      <a:r>
                        <a:rPr lang="en-US" altLang="zh-CN" sz="1400" dirty="0"/>
                        <a:t>1: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Lower levels are all AArch32. This is the reset value.</a:t>
                      </a:r>
                    </a:p>
                    <a:p>
                      <a:r>
                        <a:rPr lang="en" altLang="zh-CN" sz="1400" b="0" i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The next lower level is AArch64.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65025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[8]</a:t>
                      </a:r>
                      <a:r>
                        <a:rPr lang="zh-CN" altLang="en-US" sz="1400" dirty="0"/>
                        <a:t> </a:t>
                      </a:r>
                      <a:r>
                        <a:rPr lang="en-US" altLang="zh-CN" sz="1400" dirty="0"/>
                        <a:t>HCE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zh-CN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Hyp</a:t>
                      </a:r>
                      <a:r>
                        <a:rPr lang="en-US" altLang="zh-CN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ervisor</a:t>
                      </a:r>
                      <a:r>
                        <a:rPr lang="en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Call </a:t>
                      </a: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lang="en" altLang="zh-CN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nable</a:t>
                      </a:r>
                      <a:r>
                        <a:rPr lang="en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This bit enables the use of HVC instructions. The possible values are:</a:t>
                      </a:r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16004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0:</a:t>
                      </a:r>
                    </a:p>
                    <a:p>
                      <a:r>
                        <a:rPr lang="en-US" altLang="zh-CN" sz="1400" dirty="0"/>
                        <a:t>1: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zh-CN" sz="14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 HVC instruction is undefined at all exception levels. This is the reset value.</a:t>
                      </a:r>
                    </a:p>
                    <a:p>
                      <a:r>
                        <a:rPr lang="en" altLang="zh-CN" sz="1400" b="0" i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The HVC instruction is enabled at EL1, EL2 or EL3.</a:t>
                      </a:r>
                      <a:endParaRPr lang="zh-CN" altLang="en-US" sz="1400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72791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b="0" kern="1200" dirty="0">
                          <a:solidFill>
                            <a:schemeClr val="dk1"/>
                          </a:solidFill>
                          <a:effectLst/>
                        </a:rPr>
                        <a:t>[0]</a:t>
                      </a:r>
                      <a:r>
                        <a:rPr lang="zh-CN" altLang="en-US" sz="1400" b="0" kern="1200" dirty="0">
                          <a:solidFill>
                            <a:schemeClr val="dk1"/>
                          </a:solidFill>
                          <a:effectLst/>
                        </a:rPr>
                        <a:t> </a:t>
                      </a:r>
                      <a:r>
                        <a:rPr lang="en" altLang="zh-CN" sz="1400" b="0" kern="1200" dirty="0">
                          <a:solidFill>
                            <a:schemeClr val="dk1"/>
                          </a:solidFill>
                          <a:effectLst/>
                        </a:rPr>
                        <a:t>NS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Non-Secure bit. The possible values are. The possible values are:</a:t>
                      </a:r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7689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0:</a:t>
                      </a:r>
                    </a:p>
                    <a:p>
                      <a:endParaRPr lang="en-US" altLang="zh-CN" sz="1400" dirty="0"/>
                    </a:p>
                    <a:p>
                      <a:r>
                        <a:rPr lang="en-US" altLang="zh-CN" sz="1400" dirty="0"/>
                        <a:t>1: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EL0 and EL1 are in Secure state, memory accesses from those exception levels can access Secure memory. This is the reset value.</a:t>
                      </a:r>
                    </a:p>
                    <a:p>
                      <a:r>
                        <a:rPr lang="en" altLang="zh-CN" sz="1400" b="0" i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EL0 and EL1 are in Non-secure state, memory accesses from those exception levels cannot access Secure memory.</a:t>
                      </a:r>
                      <a:endParaRPr lang="zh-CN" altLang="en-US" sz="1400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3653910"/>
                  </a:ext>
                </a:extLst>
              </a:tr>
            </a:tbl>
          </a:graphicData>
        </a:graphic>
      </p:graphicFrame>
      <p:sp>
        <p:nvSpPr>
          <p:cNvPr id="5" name="标题 1">
            <a:extLst>
              <a:ext uri="{FF2B5EF4-FFF2-40B4-BE49-F238E27FC236}">
                <a16:creationId xmlns:a16="http://schemas.microsoft.com/office/drawing/2014/main" id="{C587F889-D544-514A-8C92-08F9877BA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kumimoji="1" lang="zh-CN" altLang="en-US" dirty="0"/>
              <a:t>小知识</a:t>
            </a:r>
          </a:p>
        </p:txBody>
      </p:sp>
    </p:spTree>
    <p:extLst>
      <p:ext uri="{BB962C8B-B14F-4D97-AF65-F5344CB8AC3E}">
        <p14:creationId xmlns:p14="http://schemas.microsoft.com/office/powerpoint/2010/main" val="39947022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A38FF88-4046-9A47-8392-A9C20AD8C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28</a:t>
            </a:fld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8E2F0DFD-2F0C-9747-8EC0-51037A908B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9992" y="593361"/>
            <a:ext cx="3816424" cy="115212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80E7705D-EE0E-B649-B48B-CBE79AE330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59" y="593361"/>
            <a:ext cx="3684191" cy="2520280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2F328D39-9BE5-274B-9B93-4F5EC06EE124}"/>
              </a:ext>
            </a:extLst>
          </p:cNvPr>
          <p:cNvSpPr/>
          <p:nvPr/>
        </p:nvSpPr>
        <p:spPr>
          <a:xfrm>
            <a:off x="4883695" y="213234"/>
            <a:ext cx="295232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solidFill>
                  <a:schemeClr val="accent1"/>
                </a:solidFill>
              </a:rPr>
              <a:t>boot/raspi3/</a:t>
            </a:r>
            <a:r>
              <a:rPr lang="en-US" altLang="zh-CN" sz="1400" dirty="0" err="1">
                <a:solidFill>
                  <a:schemeClr val="accent1"/>
                </a:solidFill>
              </a:rPr>
              <a:t>init</a:t>
            </a:r>
            <a:r>
              <a:rPr lang="en-US" altLang="zh-CN" sz="1400" dirty="0">
                <a:solidFill>
                  <a:schemeClr val="accent1"/>
                </a:solidFill>
              </a:rPr>
              <a:t>/</a:t>
            </a:r>
            <a:r>
              <a:rPr lang="en-US" altLang="zh-CN" sz="1400" dirty="0" err="1">
                <a:solidFill>
                  <a:schemeClr val="accent1"/>
                </a:solidFill>
              </a:rPr>
              <a:t>init_c.c</a:t>
            </a:r>
            <a:endParaRPr lang="zh-CN" altLang="en-US" sz="1400" dirty="0">
              <a:solidFill>
                <a:schemeClr val="accent1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99FCF5C-E030-8046-9EA1-9FB44D9B7CD5}"/>
              </a:ext>
            </a:extLst>
          </p:cNvPr>
          <p:cNvSpPr/>
          <p:nvPr/>
        </p:nvSpPr>
        <p:spPr>
          <a:xfrm>
            <a:off x="755575" y="213233"/>
            <a:ext cx="295232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solidFill>
                  <a:schemeClr val="accent1"/>
                </a:solidFill>
              </a:rPr>
              <a:t>boot/raspi3/</a:t>
            </a:r>
            <a:r>
              <a:rPr lang="en-US" altLang="zh-CN" sz="1400" dirty="0" err="1">
                <a:solidFill>
                  <a:schemeClr val="accent1"/>
                </a:solidFill>
              </a:rPr>
              <a:t>init</a:t>
            </a:r>
            <a:r>
              <a:rPr lang="en-US" altLang="zh-CN" sz="1400" dirty="0">
                <a:solidFill>
                  <a:schemeClr val="accent1"/>
                </a:solidFill>
              </a:rPr>
              <a:t>/</a:t>
            </a:r>
            <a:r>
              <a:rPr lang="en-US" altLang="zh-CN" sz="1400" dirty="0" err="1">
                <a:solidFill>
                  <a:schemeClr val="accent1"/>
                </a:solidFill>
              </a:rPr>
              <a:t>start.S</a:t>
            </a:r>
            <a:endParaRPr lang="zh-CN" altLang="en-US" sz="1400" dirty="0">
              <a:solidFill>
                <a:schemeClr val="accent1"/>
              </a:solidFill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95942792-90D3-CF44-9B9C-1F4CD5E58C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9992" y="1817839"/>
            <a:ext cx="3816424" cy="3683927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997BEC87-D5A4-A247-8AC5-F09E7AEF3361}"/>
              </a:ext>
            </a:extLst>
          </p:cNvPr>
          <p:cNvSpPr/>
          <p:nvPr/>
        </p:nvSpPr>
        <p:spPr>
          <a:xfrm>
            <a:off x="459609" y="3577580"/>
            <a:ext cx="3988090" cy="964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sz="1400" dirty="0">
                <a:solidFill>
                  <a:schemeClr val="accent1"/>
                </a:solidFill>
              </a:rPr>
              <a:t>设置栈为</a:t>
            </a:r>
            <a:r>
              <a:rPr lang="en-US" altLang="zh-CN" sz="1400" dirty="0" err="1">
                <a:solidFill>
                  <a:schemeClr val="accent1"/>
                </a:solidFill>
              </a:rPr>
              <a:t>boot_cpu_stack</a:t>
            </a:r>
            <a:r>
              <a:rPr lang="zh-CN" altLang="en-US" sz="1400" dirty="0">
                <a:solidFill>
                  <a:schemeClr val="accent1"/>
                </a:solidFill>
              </a:rPr>
              <a:t>，之后就可以调</a:t>
            </a:r>
            <a:r>
              <a:rPr lang="en-US" altLang="zh-CN" sz="1400" dirty="0">
                <a:solidFill>
                  <a:schemeClr val="accent1"/>
                </a:solidFill>
              </a:rPr>
              <a:t>C</a:t>
            </a:r>
            <a:r>
              <a:rPr lang="zh-CN" altLang="en-US" sz="1400" dirty="0">
                <a:solidFill>
                  <a:schemeClr val="accent1"/>
                </a:solidFill>
              </a:rPr>
              <a:t>函数</a:t>
            </a:r>
            <a:endParaRPr lang="en-US" altLang="zh-CN" sz="1400" dirty="0">
              <a:solidFill>
                <a:schemeClr val="accent1"/>
              </a:solidFill>
            </a:endParaRP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accent1"/>
                </a:solidFill>
              </a:rPr>
              <a:t>问：为什么调</a:t>
            </a:r>
            <a:r>
              <a:rPr lang="en-US" altLang="zh-CN" sz="1400" dirty="0">
                <a:solidFill>
                  <a:schemeClr val="accent1"/>
                </a:solidFill>
              </a:rPr>
              <a:t>C</a:t>
            </a:r>
            <a:r>
              <a:rPr lang="zh-CN" altLang="en-US" sz="1400" dirty="0">
                <a:solidFill>
                  <a:schemeClr val="accent1"/>
                </a:solidFill>
              </a:rPr>
              <a:t>函数之前要设置栈？</a:t>
            </a:r>
            <a:endParaRPr lang="en-US" altLang="zh-CN" sz="1400" dirty="0">
              <a:solidFill>
                <a:schemeClr val="accent1"/>
              </a:solidFill>
            </a:endParaRP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accent1"/>
                </a:solidFill>
              </a:rPr>
              <a:t>问：栈的大小是多少？为什么够？</a:t>
            </a:r>
            <a:endParaRPr lang="en-US" altLang="zh-CN" sz="1400" dirty="0">
              <a:solidFill>
                <a:schemeClr val="accent1"/>
              </a:solidFill>
            </a:endParaRPr>
          </a:p>
        </p:txBody>
      </p:sp>
      <p:cxnSp>
        <p:nvCxnSpPr>
          <p:cNvPr id="14" name="直线箭头连接符 13">
            <a:extLst>
              <a:ext uri="{FF2B5EF4-FFF2-40B4-BE49-F238E27FC236}">
                <a16:creationId xmlns:a16="http://schemas.microsoft.com/office/drawing/2014/main" id="{60733B21-C060-5244-9303-9984497E266D}"/>
              </a:ext>
            </a:extLst>
          </p:cNvPr>
          <p:cNvCxnSpPr>
            <a:cxnSpLocks/>
          </p:cNvCxnSpPr>
          <p:nvPr/>
        </p:nvCxnSpPr>
        <p:spPr>
          <a:xfrm flipV="1">
            <a:off x="1835696" y="2065412"/>
            <a:ext cx="2880320" cy="360040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70669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708F2EC-F6AE-0F49-B2B5-00AF85856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29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8547D3B-D173-C646-AA1C-73A90B7D9D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70324"/>
            <a:ext cx="4454872" cy="2671352"/>
          </a:xfrm>
          <a:prstGeom prst="rect">
            <a:avLst/>
          </a:prstGeom>
        </p:spPr>
      </p:pic>
      <p:sp>
        <p:nvSpPr>
          <p:cNvPr id="6" name="标题 1">
            <a:extLst>
              <a:ext uri="{FF2B5EF4-FFF2-40B4-BE49-F238E27FC236}">
                <a16:creationId xmlns:a16="http://schemas.microsoft.com/office/drawing/2014/main" id="{5A59DF98-19D6-9344-9186-229A60523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kumimoji="1" lang="zh-CN" altLang="en-US" dirty="0"/>
              <a:t>从启动代码到初始化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65D34C7-45F4-6F45-9F71-1F7D92D844D5}"/>
              </a:ext>
            </a:extLst>
          </p:cNvPr>
          <p:cNvSpPr/>
          <p:nvPr/>
        </p:nvSpPr>
        <p:spPr>
          <a:xfrm>
            <a:off x="822412" y="4560948"/>
            <a:ext cx="7499176" cy="4203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dirty="0" err="1">
                <a:solidFill>
                  <a:schemeClr val="accent1"/>
                </a:solidFill>
              </a:rPr>
              <a:t>start_kernel</a:t>
            </a:r>
            <a:r>
              <a:rPr lang="zh-CN" altLang="en-US" dirty="0">
                <a:solidFill>
                  <a:schemeClr val="accent1"/>
                </a:solidFill>
              </a:rPr>
              <a:t>位于高虚拟地址：</a:t>
            </a:r>
            <a:r>
              <a:rPr lang="en" altLang="zh-CN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0xffffff0000000000</a:t>
            </a:r>
            <a:r>
              <a:rPr lang="zh-CN" altLang="en-US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</a:t>
            </a:r>
            <a:r>
              <a:rPr lang="zh-CN" altLang="en-US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 err="1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init_end</a:t>
            </a:r>
            <a:endParaRPr lang="zh-CN" altLang="en-US" dirty="0">
              <a:solidFill>
                <a:schemeClr val="accent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487BE6FD-9883-2342-A38B-57463ECF1C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948" y="1770323"/>
            <a:ext cx="3373884" cy="2671353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323557F5-FB9F-3149-A4DA-479152F1F550}"/>
              </a:ext>
            </a:extLst>
          </p:cNvPr>
          <p:cNvSpPr/>
          <p:nvPr/>
        </p:nvSpPr>
        <p:spPr>
          <a:xfrm>
            <a:off x="5473079" y="1409516"/>
            <a:ext cx="305935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solidFill>
                  <a:schemeClr val="accent1"/>
                </a:solidFill>
              </a:rPr>
              <a:t>kernel/arch/aarch64/boot/</a:t>
            </a:r>
            <a:r>
              <a:rPr lang="en-US" altLang="zh-CN" sz="1400" dirty="0" err="1">
                <a:solidFill>
                  <a:schemeClr val="accent1"/>
                </a:solidFill>
              </a:rPr>
              <a:t>linker.tpl.ld</a:t>
            </a:r>
            <a:endParaRPr lang="zh-CN" altLang="en-US" sz="1400" dirty="0">
              <a:solidFill>
                <a:schemeClr val="accent1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08A6818-E05B-5C4C-ACA7-C14BEA3B8F4B}"/>
              </a:ext>
            </a:extLst>
          </p:cNvPr>
          <p:cNvSpPr/>
          <p:nvPr/>
        </p:nvSpPr>
        <p:spPr>
          <a:xfrm>
            <a:off x="971600" y="1409517"/>
            <a:ext cx="295232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solidFill>
                  <a:schemeClr val="accent1"/>
                </a:solidFill>
              </a:rPr>
              <a:t>kernel/arch/aarch64/</a:t>
            </a:r>
            <a:r>
              <a:rPr lang="en-US" altLang="zh-CN" sz="1400" dirty="0" err="1">
                <a:solidFill>
                  <a:schemeClr val="accent1"/>
                </a:solidFill>
              </a:rPr>
              <a:t>head.S</a:t>
            </a:r>
            <a:endParaRPr lang="zh-CN" altLang="en-US" sz="1400" dirty="0">
              <a:solidFill>
                <a:schemeClr val="accent1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0FFC413-2C5E-1E42-927A-444D09082FD2}"/>
              </a:ext>
            </a:extLst>
          </p:cNvPr>
          <p:cNvSpPr/>
          <p:nvPr/>
        </p:nvSpPr>
        <p:spPr>
          <a:xfrm>
            <a:off x="499245" y="4934081"/>
            <a:ext cx="8164288" cy="7809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dirty="0">
                <a:solidFill>
                  <a:schemeClr val="accent1"/>
                </a:solidFill>
                <a:highlight>
                  <a:srgbClr val="FFFF00"/>
                </a:highlight>
              </a:rPr>
              <a:t>问：</a:t>
            </a:r>
            <a:r>
              <a:rPr lang="en-US" altLang="zh-CN" dirty="0" err="1">
                <a:solidFill>
                  <a:schemeClr val="accent1"/>
                </a:solidFill>
                <a:highlight>
                  <a:srgbClr val="FFFF00"/>
                </a:highlight>
              </a:rPr>
              <a:t>start_kernel</a:t>
            </a:r>
            <a:r>
              <a:rPr lang="zh-CN" altLang="en-US" dirty="0">
                <a:solidFill>
                  <a:schemeClr val="accent1"/>
                </a:solidFill>
                <a:highlight>
                  <a:srgbClr val="FFFF00"/>
                </a:highlight>
              </a:rPr>
              <a:t>函数在物理内存中实际上紧邻着</a:t>
            </a:r>
            <a:r>
              <a:rPr lang="en-US" altLang="zh-CN" dirty="0" err="1">
                <a:solidFill>
                  <a:schemeClr val="accent1"/>
                </a:solidFill>
                <a:highlight>
                  <a:srgbClr val="FFFF00"/>
                </a:highlight>
              </a:rPr>
              <a:t>init</a:t>
            </a:r>
            <a:r>
              <a:rPr lang="zh-CN" altLang="en-US" dirty="0">
                <a:solidFill>
                  <a:schemeClr val="accent1"/>
                </a:solidFill>
                <a:highlight>
                  <a:srgbClr val="FFFF00"/>
                </a:highlight>
              </a:rPr>
              <a:t>（在低地址），为什么可以跳到高地址段执行它？</a:t>
            </a:r>
            <a:endParaRPr lang="zh-CN" altLang="en-US" dirty="0">
              <a:solidFill>
                <a:schemeClr val="accent1"/>
              </a:solidFill>
              <a:highlight>
                <a:srgbClr val="FFFF00"/>
              </a:highlight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11" name="直线箭头连接符 10">
            <a:extLst>
              <a:ext uri="{FF2B5EF4-FFF2-40B4-BE49-F238E27FC236}">
                <a16:creationId xmlns:a16="http://schemas.microsoft.com/office/drawing/2014/main" id="{B86BBF25-4491-9647-8DBB-C0401E4A7F25}"/>
              </a:ext>
            </a:extLst>
          </p:cNvPr>
          <p:cNvCxnSpPr>
            <a:cxnSpLocks/>
          </p:cNvCxnSpPr>
          <p:nvPr/>
        </p:nvCxnSpPr>
        <p:spPr>
          <a:xfrm flipH="1">
            <a:off x="5940152" y="4153644"/>
            <a:ext cx="2499450" cy="0"/>
          </a:xfrm>
          <a:prstGeom prst="straightConnector1">
            <a:avLst/>
          </a:prstGeom>
          <a:ln>
            <a:solidFill>
              <a:srgbClr val="FFFF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线箭头连接符 13">
            <a:extLst>
              <a:ext uri="{FF2B5EF4-FFF2-40B4-BE49-F238E27FC236}">
                <a16:creationId xmlns:a16="http://schemas.microsoft.com/office/drawing/2014/main" id="{A52DBC07-1B33-3D45-8084-02A0D5D90A7E}"/>
              </a:ext>
            </a:extLst>
          </p:cNvPr>
          <p:cNvCxnSpPr>
            <a:cxnSpLocks/>
          </p:cNvCxnSpPr>
          <p:nvPr/>
        </p:nvCxnSpPr>
        <p:spPr>
          <a:xfrm>
            <a:off x="6949244" y="4153643"/>
            <a:ext cx="0" cy="461197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片 15">
            <a:extLst>
              <a:ext uri="{FF2B5EF4-FFF2-40B4-BE49-F238E27FC236}">
                <a16:creationId xmlns:a16="http://schemas.microsoft.com/office/drawing/2014/main" id="{70010295-17BC-5F49-9076-D8AAFCC011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4208" y="219022"/>
            <a:ext cx="2492135" cy="1005728"/>
          </a:xfrm>
          <a:prstGeom prst="rect">
            <a:avLst/>
          </a:prstGeom>
        </p:spPr>
      </p:pic>
      <p:cxnSp>
        <p:nvCxnSpPr>
          <p:cNvPr id="17" name="直线箭头连接符 16">
            <a:extLst>
              <a:ext uri="{FF2B5EF4-FFF2-40B4-BE49-F238E27FC236}">
                <a16:creationId xmlns:a16="http://schemas.microsoft.com/office/drawing/2014/main" id="{FDEDAAAB-2908-484D-90D0-261BF51316F8}"/>
              </a:ext>
            </a:extLst>
          </p:cNvPr>
          <p:cNvCxnSpPr>
            <a:cxnSpLocks/>
          </p:cNvCxnSpPr>
          <p:nvPr/>
        </p:nvCxnSpPr>
        <p:spPr>
          <a:xfrm flipH="1">
            <a:off x="6920649" y="955704"/>
            <a:ext cx="1877874" cy="0"/>
          </a:xfrm>
          <a:prstGeom prst="straightConnector1">
            <a:avLst/>
          </a:prstGeom>
          <a:ln>
            <a:solidFill>
              <a:srgbClr val="FFFF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线箭头连接符 14">
            <a:extLst>
              <a:ext uri="{FF2B5EF4-FFF2-40B4-BE49-F238E27FC236}">
                <a16:creationId xmlns:a16="http://schemas.microsoft.com/office/drawing/2014/main" id="{ECDCE9F3-7CB8-C546-9622-006A8ACAC204}"/>
              </a:ext>
            </a:extLst>
          </p:cNvPr>
          <p:cNvCxnSpPr>
            <a:cxnSpLocks/>
          </p:cNvCxnSpPr>
          <p:nvPr/>
        </p:nvCxnSpPr>
        <p:spPr>
          <a:xfrm flipH="1">
            <a:off x="899592" y="3793604"/>
            <a:ext cx="2567565" cy="0"/>
          </a:xfrm>
          <a:prstGeom prst="straightConnector1">
            <a:avLst/>
          </a:prstGeom>
          <a:ln>
            <a:solidFill>
              <a:srgbClr val="FFFF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D2C5D8A3-6095-6545-9ABB-BF8FE25ED49E}"/>
              </a:ext>
            </a:extLst>
          </p:cNvPr>
          <p:cNvSpPr txBox="1"/>
          <p:nvPr/>
        </p:nvSpPr>
        <p:spPr>
          <a:xfrm>
            <a:off x="3491881" y="3562771"/>
            <a:ext cx="158417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rgbClr val="FFFF00"/>
                </a:solidFill>
              </a:rPr>
              <a:t>换栈：高地址区域</a:t>
            </a:r>
          </a:p>
        </p:txBody>
      </p:sp>
    </p:spTree>
    <p:extLst>
      <p:ext uri="{BB962C8B-B14F-4D97-AF65-F5344CB8AC3E}">
        <p14:creationId xmlns:p14="http://schemas.microsoft.com/office/powerpoint/2010/main" val="2394768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AFAF7BE2-8815-9742-8C9D-002C7879F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页表初始化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7198CA7B-2EE6-6A44-B456-643E29B34A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3B13AF-9945-A340-9C30-68FB0F08D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626803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D3D0C4E0-4592-554D-B5AF-F448BEE301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1345332"/>
            <a:ext cx="3919062" cy="400634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8FADA577-4119-3145-B8FE-D6D7C682DC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8590" y="1345332"/>
            <a:ext cx="4710038" cy="4006347"/>
          </a:xfrm>
          <a:prstGeom prst="rect">
            <a:avLst/>
          </a:prstGeom>
        </p:spPr>
      </p:pic>
      <p:sp>
        <p:nvSpPr>
          <p:cNvPr id="4" name="标题 1">
            <a:extLst>
              <a:ext uri="{FF2B5EF4-FFF2-40B4-BE49-F238E27FC236}">
                <a16:creationId xmlns:a16="http://schemas.microsoft.com/office/drawing/2014/main" id="{DC68961D-59A8-5440-935D-5723DD26E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kumimoji="1" lang="zh-CN" altLang="en-US" dirty="0"/>
              <a:t>回到 </a:t>
            </a:r>
            <a:r>
              <a:rPr kumimoji="1" lang="en-US" altLang="zh-CN" dirty="0" err="1"/>
              <a:t>init_c</a:t>
            </a:r>
            <a:r>
              <a:rPr kumimoji="1" lang="zh-CN" altLang="en-US" dirty="0"/>
              <a:t>：页表初始化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5707BD6C-7CBE-494B-98EB-CFAC25275ED6}"/>
              </a:ext>
            </a:extLst>
          </p:cNvPr>
          <p:cNvSpPr/>
          <p:nvPr/>
        </p:nvSpPr>
        <p:spPr>
          <a:xfrm>
            <a:off x="6660232" y="3382846"/>
            <a:ext cx="936104" cy="410758"/>
          </a:xfrm>
          <a:prstGeom prst="ellipse">
            <a:avLst/>
          </a:prstGeom>
          <a:noFill/>
          <a:ln w="127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8A7B0CA-A680-3A4A-AA86-8183EDF0D42D}"/>
              </a:ext>
            </a:extLst>
          </p:cNvPr>
          <p:cNvSpPr txBox="1"/>
          <p:nvPr/>
        </p:nvSpPr>
        <p:spPr>
          <a:xfrm>
            <a:off x="7595241" y="3434336"/>
            <a:ext cx="115322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rgbClr val="FFFF00"/>
                </a:solidFill>
              </a:rPr>
              <a:t>为什么是</a:t>
            </a:r>
            <a:r>
              <a:rPr lang="en-US" altLang="zh-CN" sz="1200" dirty="0">
                <a:solidFill>
                  <a:srgbClr val="FFFF00"/>
                </a:solidFill>
              </a:rPr>
              <a:t>2M</a:t>
            </a:r>
            <a:r>
              <a:rPr lang="zh-CN" altLang="en-US" sz="1200" dirty="0">
                <a:solidFill>
                  <a:srgbClr val="FFFF00"/>
                </a:solidFill>
              </a:rPr>
              <a:t>？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00128970-6040-1E48-B489-186F4D919F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9809" y="228866"/>
            <a:ext cx="2810863" cy="1335410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FC2213BD-5FE9-7245-91DC-B08577955233}"/>
              </a:ext>
            </a:extLst>
          </p:cNvPr>
          <p:cNvSpPr txBox="1"/>
          <p:nvPr/>
        </p:nvSpPr>
        <p:spPr>
          <a:xfrm>
            <a:off x="6588224" y="4988085"/>
            <a:ext cx="244936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rgbClr val="FFFF00"/>
                </a:solidFill>
              </a:rPr>
              <a:t>设置</a:t>
            </a:r>
            <a:r>
              <a:rPr lang="en-US" altLang="zh-CN" sz="1200" dirty="0">
                <a:solidFill>
                  <a:srgbClr val="FFFF00"/>
                </a:solidFill>
              </a:rPr>
              <a:t>TTBR0</a:t>
            </a:r>
            <a:r>
              <a:rPr lang="zh-CN" altLang="en-US" sz="1200" dirty="0">
                <a:solidFill>
                  <a:srgbClr val="FFFF00"/>
                </a:solidFill>
              </a:rPr>
              <a:t>页表（低地址使用）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28CF1486-6CA0-254C-B757-9378B92ABD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9809" y="1790253"/>
            <a:ext cx="2810863" cy="702716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60A6BB93-FB12-2FD0-4AFD-C8C7D2F63E93}"/>
              </a:ext>
            </a:extLst>
          </p:cNvPr>
          <p:cNvSpPr/>
          <p:nvPr/>
        </p:nvSpPr>
        <p:spPr>
          <a:xfrm>
            <a:off x="5112060" y="5389477"/>
            <a:ext cx="295232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solidFill>
                  <a:schemeClr val="accent1"/>
                </a:solidFill>
              </a:rPr>
              <a:t>boot/raspi3/</a:t>
            </a:r>
            <a:r>
              <a:rPr lang="en-US" altLang="zh-CN" sz="1400" dirty="0" err="1">
                <a:solidFill>
                  <a:schemeClr val="accent1"/>
                </a:solidFill>
              </a:rPr>
              <a:t>init</a:t>
            </a:r>
            <a:r>
              <a:rPr lang="en-US" altLang="zh-CN" sz="1400" dirty="0">
                <a:solidFill>
                  <a:schemeClr val="accent1"/>
                </a:solidFill>
              </a:rPr>
              <a:t>/</a:t>
            </a:r>
            <a:r>
              <a:rPr lang="en-US" altLang="zh-CN" sz="1400" dirty="0" err="1">
                <a:solidFill>
                  <a:schemeClr val="accent1"/>
                </a:solidFill>
              </a:rPr>
              <a:t>mmu.c</a:t>
            </a:r>
            <a:endParaRPr lang="zh-CN" altLang="en-US" sz="14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4766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/>
      <p:bldP spid="9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29" name="灯片编号占位符 5">
            <a:extLst>
              <a:ext uri="{FF2B5EF4-FFF2-40B4-BE49-F238E27FC236}">
                <a16:creationId xmlns:a16="http://schemas.microsoft.com/office/drawing/2014/main" id="{152D79CE-51BE-044A-8D9D-AF1B015A2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333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619100" indent="-23811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952462" indent="-190492">
              <a:spcBef>
                <a:spcPct val="20000"/>
              </a:spcBef>
              <a:buChar char="•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333447" indent="-190492">
              <a:spcBef>
                <a:spcPct val="20000"/>
              </a:spcBef>
              <a:buChar char="–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1714431" indent="-190492">
              <a:spcBef>
                <a:spcPct val="20000"/>
              </a:spcBef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09541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476401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285738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238370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6D5873A-672E-6E40-BA99-B250F1FC384E}" type="slidenum">
              <a:rPr lang="zh-CN" altLang="en-US" sz="1167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32</a:t>
            </a:fld>
            <a:endParaRPr lang="en-US" altLang="zh-CN" sz="1167">
              <a:latin typeface="Times New Roman" panose="02020603050405020304" pitchFamily="18" charset="0"/>
            </a:endParaRPr>
          </a:p>
        </p:txBody>
      </p:sp>
      <p:sp>
        <p:nvSpPr>
          <p:cNvPr id="201731" name="Rectangle 33">
            <a:extLst>
              <a:ext uri="{FF2B5EF4-FFF2-40B4-BE49-F238E27FC236}">
                <a16:creationId xmlns:a16="http://schemas.microsoft.com/office/drawing/2014/main" id="{16E84EAE-1619-994E-BB61-9FB74696DB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回顾：</a:t>
            </a:r>
            <a:r>
              <a:rPr kumimoji="1" lang="en-US" altLang="zh-CN" dirty="0"/>
              <a:t>2M</a:t>
            </a:r>
            <a:r>
              <a:rPr kumimoji="1" lang="zh-CN" altLang="en-US" dirty="0"/>
              <a:t>大页与</a:t>
            </a:r>
            <a:r>
              <a:rPr kumimoji="1" lang="en-US" altLang="zh-CN" dirty="0"/>
              <a:t>L2</a:t>
            </a:r>
            <a:r>
              <a:rPr kumimoji="1" lang="zh-CN" altLang="en-US" dirty="0"/>
              <a:t>页表项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pic>
        <p:nvPicPr>
          <p:cNvPr id="2" name="内容占位符 5">
            <a:extLst>
              <a:ext uri="{FF2B5EF4-FFF2-40B4-BE49-F238E27FC236}">
                <a16:creationId xmlns:a16="http://schemas.microsoft.com/office/drawing/2014/main" id="{DD781980-012A-18D2-743C-42D13DB34F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768" b="35956"/>
          <a:stretch/>
        </p:blipFill>
        <p:spPr>
          <a:xfrm>
            <a:off x="1259631" y="4279539"/>
            <a:ext cx="6624737" cy="1011296"/>
          </a:xfrm>
        </p:spPr>
      </p:pic>
      <p:pic>
        <p:nvPicPr>
          <p:cNvPr id="5" name="内容占位符 5">
            <a:extLst>
              <a:ext uri="{FF2B5EF4-FFF2-40B4-BE49-F238E27FC236}">
                <a16:creationId xmlns:a16="http://schemas.microsoft.com/office/drawing/2014/main" id="{93652B4E-3AA6-6963-6F66-89DB21F7D9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624" y="1286832"/>
            <a:ext cx="6624736" cy="2574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7131891"/>
      </p:ext>
    </p:extLst>
  </p:cSld>
  <p:clrMapOvr>
    <a:masterClrMapping/>
  </p:clrMapOvr>
  <p:transition spd="slow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2C3A223-5653-CF4D-974C-E5300F2C6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33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DE524C5-AB15-C344-B50F-FA96AD0F53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0032" y="1489348"/>
            <a:ext cx="3951243" cy="223224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B0B56016-9238-2542-A2CA-ADE3E76D02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725" y="1489348"/>
            <a:ext cx="4372227" cy="3719006"/>
          </a:xfrm>
          <a:prstGeom prst="rect">
            <a:avLst/>
          </a:prstGeom>
        </p:spPr>
      </p:pic>
      <p:cxnSp>
        <p:nvCxnSpPr>
          <p:cNvPr id="7" name="直线箭头连接符 6">
            <a:extLst>
              <a:ext uri="{FF2B5EF4-FFF2-40B4-BE49-F238E27FC236}">
                <a16:creationId xmlns:a16="http://schemas.microsoft.com/office/drawing/2014/main" id="{5C810A32-C898-2C4D-AC1B-6A3F63E9BE32}"/>
              </a:ext>
            </a:extLst>
          </p:cNvPr>
          <p:cNvCxnSpPr>
            <a:cxnSpLocks/>
          </p:cNvCxnSpPr>
          <p:nvPr/>
        </p:nvCxnSpPr>
        <p:spPr>
          <a:xfrm flipH="1">
            <a:off x="5862478" y="3433564"/>
            <a:ext cx="2824322" cy="0"/>
          </a:xfrm>
          <a:prstGeom prst="straightConnector1">
            <a:avLst/>
          </a:prstGeom>
          <a:ln>
            <a:solidFill>
              <a:srgbClr val="FFFF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线箭头连接符 8">
            <a:extLst>
              <a:ext uri="{FF2B5EF4-FFF2-40B4-BE49-F238E27FC236}">
                <a16:creationId xmlns:a16="http://schemas.microsoft.com/office/drawing/2014/main" id="{F23FEF9E-9168-774F-ABCA-6DA1D59F772C}"/>
              </a:ext>
            </a:extLst>
          </p:cNvPr>
          <p:cNvCxnSpPr>
            <a:cxnSpLocks/>
          </p:cNvCxnSpPr>
          <p:nvPr/>
        </p:nvCxnSpPr>
        <p:spPr>
          <a:xfrm flipH="1">
            <a:off x="1331640" y="4873724"/>
            <a:ext cx="2304256" cy="0"/>
          </a:xfrm>
          <a:prstGeom prst="straightConnector1">
            <a:avLst/>
          </a:prstGeom>
          <a:ln>
            <a:solidFill>
              <a:srgbClr val="FFFF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标题 1">
            <a:extLst>
              <a:ext uri="{FF2B5EF4-FFF2-40B4-BE49-F238E27FC236}">
                <a16:creationId xmlns:a16="http://schemas.microsoft.com/office/drawing/2014/main" id="{01CAD359-FC0D-FE4D-A5B9-9692BCB2B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kumimoji="1" lang="zh-CN" altLang="en-US" dirty="0"/>
              <a:t>页表初始化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CE569C4-FE35-EC43-8D3A-6EA74D6DF4A8}"/>
              </a:ext>
            </a:extLst>
          </p:cNvPr>
          <p:cNvSpPr/>
          <p:nvPr/>
        </p:nvSpPr>
        <p:spPr>
          <a:xfrm>
            <a:off x="4860032" y="3875152"/>
            <a:ext cx="3988090" cy="6624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sz="1400" dirty="0">
                <a:solidFill>
                  <a:schemeClr val="accent1"/>
                </a:solidFill>
              </a:rPr>
              <a:t>映射完内存地址（左）后，映射设备地址（右）</a:t>
            </a:r>
            <a:endParaRPr lang="en-US" altLang="zh-CN" sz="1400" dirty="0">
              <a:solidFill>
                <a:schemeClr val="accent1"/>
              </a:solidFill>
            </a:endParaRP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accent1"/>
                </a:solidFill>
              </a:rPr>
              <a:t>问：设备内存与物理内存有什么区别？</a:t>
            </a:r>
            <a:endParaRPr lang="en-US" altLang="zh-CN" sz="1400" dirty="0">
              <a:solidFill>
                <a:schemeClr val="accent1"/>
              </a:solidFill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B6DC76C7-5268-C84D-8AEE-5BAE68BF17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08012" y="945183"/>
            <a:ext cx="3533254" cy="630630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5004418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69A444E1-8766-D64D-9C95-E8E2C3A52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树莓派</a:t>
            </a:r>
            <a:r>
              <a:rPr lang="en-US" altLang="zh-CN" dirty="0"/>
              <a:t>3b+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5D92C23-3AF2-C644-92B8-3542C53D9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34</a:t>
            </a:fld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10428F0-6C8C-9942-A546-AED2BEF65424}"/>
              </a:ext>
            </a:extLst>
          </p:cNvPr>
          <p:cNvSpPr/>
          <p:nvPr/>
        </p:nvSpPr>
        <p:spPr>
          <a:xfrm>
            <a:off x="6732215" y="4061463"/>
            <a:ext cx="2232273" cy="6624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</a:pPr>
            <a:r>
              <a:rPr lang="zh-CN" altLang="en-US" sz="1400" b="1" dirty="0">
                <a:solidFill>
                  <a:schemeClr val="accent1"/>
                </a:solidFill>
              </a:rPr>
              <a:t>物理内存</a:t>
            </a:r>
            <a:endParaRPr lang="en-US" altLang="zh-CN" sz="1400" b="1" dirty="0">
              <a:solidFill>
                <a:schemeClr val="accent1"/>
              </a:solidFill>
            </a:endParaRPr>
          </a:p>
          <a:p>
            <a:pPr algn="ctr">
              <a:lnSpc>
                <a:spcPct val="140000"/>
              </a:lnSpc>
            </a:pPr>
            <a:r>
              <a:rPr lang="zh-CN" altLang="en-US" sz="1400" b="1" dirty="0">
                <a:solidFill>
                  <a:schemeClr val="accent1"/>
                </a:solidFill>
              </a:rPr>
              <a:t>（</a:t>
            </a:r>
            <a:r>
              <a:rPr lang="en-US" altLang="zh-CN" sz="1400" b="1" dirty="0">
                <a:solidFill>
                  <a:schemeClr val="accent1"/>
                </a:solidFill>
              </a:rPr>
              <a:t>type:</a:t>
            </a:r>
            <a:r>
              <a:rPr lang="zh-CN" altLang="en-US" sz="1400" b="1" dirty="0">
                <a:solidFill>
                  <a:schemeClr val="accent1"/>
                </a:solidFill>
              </a:rPr>
              <a:t> </a:t>
            </a:r>
            <a:r>
              <a:rPr lang="en-US" altLang="zh-CN" sz="1400" b="1" dirty="0">
                <a:solidFill>
                  <a:schemeClr val="accent1"/>
                </a:solidFill>
              </a:rPr>
              <a:t>normal</a:t>
            </a:r>
            <a:r>
              <a:rPr lang="zh-CN" altLang="en-US" sz="1400" b="1" dirty="0">
                <a:solidFill>
                  <a:schemeClr val="accent1"/>
                </a:solidFill>
              </a:rPr>
              <a:t> </a:t>
            </a:r>
            <a:r>
              <a:rPr lang="en-US" altLang="zh-CN" sz="1400" b="1" dirty="0">
                <a:solidFill>
                  <a:schemeClr val="accent1"/>
                </a:solidFill>
              </a:rPr>
              <a:t>memory</a:t>
            </a:r>
            <a:r>
              <a:rPr lang="zh-CN" altLang="en-US" sz="1400" b="1" dirty="0">
                <a:solidFill>
                  <a:schemeClr val="accent1"/>
                </a:solidFill>
              </a:rPr>
              <a:t>）</a:t>
            </a:r>
            <a:endParaRPr lang="en-US" altLang="zh-CN" sz="1400" b="1" dirty="0">
              <a:solidFill>
                <a:schemeClr val="accent1"/>
              </a:solidFill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3BB1057-ABCC-59F6-6217-85FB43632C65}"/>
              </a:ext>
            </a:extLst>
          </p:cNvPr>
          <p:cNvSpPr/>
          <p:nvPr/>
        </p:nvSpPr>
        <p:spPr>
          <a:xfrm>
            <a:off x="4860032" y="620298"/>
            <a:ext cx="1656184" cy="482880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8" name="直线箭头连接符 7">
            <a:extLst>
              <a:ext uri="{FF2B5EF4-FFF2-40B4-BE49-F238E27FC236}">
                <a16:creationId xmlns:a16="http://schemas.microsoft.com/office/drawing/2014/main" id="{68E564A9-B211-672E-C699-5972DB6CE48B}"/>
              </a:ext>
            </a:extLst>
          </p:cNvPr>
          <p:cNvCxnSpPr>
            <a:cxnSpLocks/>
          </p:cNvCxnSpPr>
          <p:nvPr/>
        </p:nvCxnSpPr>
        <p:spPr>
          <a:xfrm>
            <a:off x="6732240" y="3034697"/>
            <a:ext cx="0" cy="24144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直线箭头连接符 10">
            <a:extLst>
              <a:ext uri="{FF2B5EF4-FFF2-40B4-BE49-F238E27FC236}">
                <a16:creationId xmlns:a16="http://schemas.microsoft.com/office/drawing/2014/main" id="{B33033D2-3442-7B52-465F-760FF9913580}"/>
              </a:ext>
            </a:extLst>
          </p:cNvPr>
          <p:cNvCxnSpPr>
            <a:cxnSpLocks/>
          </p:cNvCxnSpPr>
          <p:nvPr/>
        </p:nvCxnSpPr>
        <p:spPr>
          <a:xfrm>
            <a:off x="6732240" y="620297"/>
            <a:ext cx="0" cy="24144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CA33117F-7DB6-EE73-CA58-B9563F393221}"/>
              </a:ext>
            </a:extLst>
          </p:cNvPr>
          <p:cNvSpPr/>
          <p:nvPr/>
        </p:nvSpPr>
        <p:spPr>
          <a:xfrm>
            <a:off x="6732239" y="1643071"/>
            <a:ext cx="2133587" cy="6610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</a:pPr>
            <a:r>
              <a:rPr lang="zh-CN" altLang="en-US" sz="1400" b="1" dirty="0">
                <a:solidFill>
                  <a:schemeClr val="accent1"/>
                </a:solidFill>
              </a:rPr>
              <a:t>设备地址 </a:t>
            </a:r>
            <a:br>
              <a:rPr lang="en-US" altLang="zh-CN" sz="1400" b="1" dirty="0">
                <a:solidFill>
                  <a:schemeClr val="accent1"/>
                </a:solidFill>
              </a:rPr>
            </a:br>
            <a:r>
              <a:rPr lang="zh-CN" altLang="en-US" sz="1400" b="1" dirty="0">
                <a:solidFill>
                  <a:schemeClr val="accent1"/>
                </a:solidFill>
              </a:rPr>
              <a:t>（</a:t>
            </a:r>
            <a:r>
              <a:rPr lang="en-US" altLang="zh-CN" sz="1400" b="1" dirty="0">
                <a:solidFill>
                  <a:schemeClr val="accent1"/>
                </a:solidFill>
              </a:rPr>
              <a:t>type:</a:t>
            </a:r>
            <a:r>
              <a:rPr lang="zh-CN" altLang="en-US" sz="1400" b="1" dirty="0">
                <a:solidFill>
                  <a:schemeClr val="accent1"/>
                </a:solidFill>
              </a:rPr>
              <a:t> </a:t>
            </a:r>
            <a:r>
              <a:rPr lang="en-US" altLang="zh-CN" sz="1400" b="1" dirty="0">
                <a:solidFill>
                  <a:schemeClr val="accent1"/>
                </a:solidFill>
              </a:rPr>
              <a:t>device</a:t>
            </a:r>
            <a:r>
              <a:rPr lang="zh-CN" altLang="en-US" sz="1400" b="1" dirty="0">
                <a:solidFill>
                  <a:schemeClr val="accent1"/>
                </a:solidFill>
              </a:rPr>
              <a:t> </a:t>
            </a:r>
            <a:r>
              <a:rPr lang="en-US" altLang="zh-CN" sz="1400" b="1" dirty="0">
                <a:solidFill>
                  <a:schemeClr val="accent1"/>
                </a:solidFill>
              </a:rPr>
              <a:t>memory)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599FF30-27D5-D653-90CD-D0DBA8FE10BF}"/>
              </a:ext>
            </a:extLst>
          </p:cNvPr>
          <p:cNvSpPr txBox="1"/>
          <p:nvPr/>
        </p:nvSpPr>
        <p:spPr>
          <a:xfrm>
            <a:off x="4464775" y="5233764"/>
            <a:ext cx="2984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/>
              <a:t>0</a:t>
            </a:r>
            <a:endParaRPr kumimoji="1" lang="zh-CN" altLang="en-US" sz="1600" dirty="0"/>
          </a:p>
        </p:txBody>
      </p:sp>
      <p:cxnSp>
        <p:nvCxnSpPr>
          <p:cNvPr id="15" name="直线连接符 14">
            <a:extLst>
              <a:ext uri="{FF2B5EF4-FFF2-40B4-BE49-F238E27FC236}">
                <a16:creationId xmlns:a16="http://schemas.microsoft.com/office/drawing/2014/main" id="{601E75FE-6DCB-B700-0FE5-A3DD53843319}"/>
              </a:ext>
            </a:extLst>
          </p:cNvPr>
          <p:cNvCxnSpPr>
            <a:cxnSpLocks/>
          </p:cNvCxnSpPr>
          <p:nvPr/>
        </p:nvCxnSpPr>
        <p:spPr>
          <a:xfrm>
            <a:off x="4860032" y="2641476"/>
            <a:ext cx="1651357" cy="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F4A43796-DBB0-81C5-D967-308297BC58FA}"/>
              </a:ext>
            </a:extLst>
          </p:cNvPr>
          <p:cNvSpPr txBox="1"/>
          <p:nvPr/>
        </p:nvSpPr>
        <p:spPr>
          <a:xfrm>
            <a:off x="4325778" y="2456810"/>
            <a:ext cx="4587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/>
              <a:t>1G</a:t>
            </a:r>
            <a:endParaRPr kumimoji="1" lang="zh-CN" altLang="en-US" sz="1600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B513CCD-F267-1957-850E-418DD38D7862}"/>
              </a:ext>
            </a:extLst>
          </p:cNvPr>
          <p:cNvSpPr txBox="1"/>
          <p:nvPr/>
        </p:nvSpPr>
        <p:spPr>
          <a:xfrm>
            <a:off x="3766169" y="2857500"/>
            <a:ext cx="11192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/>
              <a:t>0x3f000000</a:t>
            </a:r>
            <a:endParaRPr kumimoji="1" lang="zh-CN" altLang="en-US" sz="1400" dirty="0"/>
          </a:p>
        </p:txBody>
      </p:sp>
      <p:cxnSp>
        <p:nvCxnSpPr>
          <p:cNvPr id="19" name="直线连接符 18">
            <a:extLst>
              <a:ext uri="{FF2B5EF4-FFF2-40B4-BE49-F238E27FC236}">
                <a16:creationId xmlns:a16="http://schemas.microsoft.com/office/drawing/2014/main" id="{5CDCA53F-84CF-FEDD-7439-4B5EA4B3BE38}"/>
              </a:ext>
            </a:extLst>
          </p:cNvPr>
          <p:cNvCxnSpPr>
            <a:cxnSpLocks/>
          </p:cNvCxnSpPr>
          <p:nvPr/>
        </p:nvCxnSpPr>
        <p:spPr>
          <a:xfrm>
            <a:off x="4860032" y="2995389"/>
            <a:ext cx="1651357" cy="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A99342AA-7821-5A68-7C3A-D0A91CDEED5B}"/>
              </a:ext>
            </a:extLst>
          </p:cNvPr>
          <p:cNvSpPr txBox="1"/>
          <p:nvPr/>
        </p:nvSpPr>
        <p:spPr>
          <a:xfrm>
            <a:off x="4384625" y="509810"/>
            <a:ext cx="4587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/>
              <a:t>4G</a:t>
            </a:r>
            <a:endParaRPr kumimoji="1"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20533937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72B6ADF-37E2-C94B-9A2E-BA3C6E9BE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35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5C8CEA9-56D3-DC43-82ED-67F9D7A008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050" y="1164799"/>
            <a:ext cx="5053566" cy="4336812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15EC42C8-47AF-934D-A681-6E839D8803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200" y="113767"/>
            <a:ext cx="2492135" cy="1005728"/>
          </a:xfrm>
          <a:prstGeom prst="rect">
            <a:avLst/>
          </a:prstGeom>
        </p:spPr>
      </p:pic>
      <p:cxnSp>
        <p:nvCxnSpPr>
          <p:cNvPr id="7" name="直线箭头连接符 6">
            <a:extLst>
              <a:ext uri="{FF2B5EF4-FFF2-40B4-BE49-F238E27FC236}">
                <a16:creationId xmlns:a16="http://schemas.microsoft.com/office/drawing/2014/main" id="{6C9E085D-4B91-424D-BAA9-31FBC7B8EA3D}"/>
              </a:ext>
            </a:extLst>
          </p:cNvPr>
          <p:cNvCxnSpPr>
            <a:cxnSpLocks/>
          </p:cNvCxnSpPr>
          <p:nvPr/>
        </p:nvCxnSpPr>
        <p:spPr>
          <a:xfrm flipH="1">
            <a:off x="7029641" y="850449"/>
            <a:ext cx="1877874" cy="0"/>
          </a:xfrm>
          <a:prstGeom prst="straightConnector1">
            <a:avLst/>
          </a:prstGeom>
          <a:ln>
            <a:solidFill>
              <a:srgbClr val="FFFF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2B848CFE-C099-B342-AF91-52C37760C64A}"/>
              </a:ext>
            </a:extLst>
          </p:cNvPr>
          <p:cNvSpPr txBox="1"/>
          <p:nvPr/>
        </p:nvSpPr>
        <p:spPr>
          <a:xfrm>
            <a:off x="3059832" y="1273324"/>
            <a:ext cx="244827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rgbClr val="FFFF00"/>
                </a:solidFill>
              </a:rPr>
              <a:t>设置</a:t>
            </a:r>
            <a:r>
              <a:rPr lang="en-US" altLang="zh-CN" sz="1200" dirty="0">
                <a:solidFill>
                  <a:srgbClr val="FFFF00"/>
                </a:solidFill>
              </a:rPr>
              <a:t>TTBR1</a:t>
            </a:r>
            <a:r>
              <a:rPr lang="zh-CN" altLang="en-US" sz="1200" dirty="0">
                <a:solidFill>
                  <a:srgbClr val="FFFF00"/>
                </a:solidFill>
              </a:rPr>
              <a:t>页表（高地址使用）</a:t>
            </a:r>
          </a:p>
        </p:txBody>
      </p:sp>
      <p:sp>
        <p:nvSpPr>
          <p:cNvPr id="9" name="标题 1">
            <a:extLst>
              <a:ext uri="{FF2B5EF4-FFF2-40B4-BE49-F238E27FC236}">
                <a16:creationId xmlns:a16="http://schemas.microsoft.com/office/drawing/2014/main" id="{933C4770-1DA6-0E46-8922-33C21CC431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kumimoji="1" lang="zh-CN" altLang="en-US" dirty="0"/>
              <a:t>页表初始化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FDC726F-47D2-014F-8751-5DE8BE7C51D4}"/>
              </a:ext>
            </a:extLst>
          </p:cNvPr>
          <p:cNvSpPr/>
          <p:nvPr/>
        </p:nvSpPr>
        <p:spPr>
          <a:xfrm>
            <a:off x="5552462" y="3716629"/>
            <a:ext cx="3988090" cy="3593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sz="1400" dirty="0">
                <a:solidFill>
                  <a:schemeClr val="accent1"/>
                </a:solidFill>
              </a:rPr>
              <a:t>对比设置 </a:t>
            </a:r>
            <a:r>
              <a:rPr lang="en-US" altLang="zh-CN" sz="1400" dirty="0">
                <a:solidFill>
                  <a:schemeClr val="accent1"/>
                </a:solidFill>
              </a:rPr>
              <a:t>TTBR0</a:t>
            </a:r>
            <a:r>
              <a:rPr lang="zh-CN" altLang="en-US" sz="1400" dirty="0">
                <a:solidFill>
                  <a:schemeClr val="accent1"/>
                </a:solidFill>
              </a:rPr>
              <a:t>：方式相同，虚拟地址不同</a:t>
            </a:r>
            <a:endParaRPr lang="en-US" altLang="zh-CN" sz="1400" dirty="0">
              <a:solidFill>
                <a:schemeClr val="accent1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D0CC9B3-1433-B249-9A7E-41C751F62F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5132" y="1942682"/>
            <a:ext cx="4128581" cy="426217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EBD0C067-162C-CD4E-850F-2A4AB0EF75BE}"/>
              </a:ext>
            </a:extLst>
          </p:cNvPr>
          <p:cNvSpPr/>
          <p:nvPr/>
        </p:nvSpPr>
        <p:spPr>
          <a:xfrm>
            <a:off x="5779909" y="2368899"/>
            <a:ext cx="3988090" cy="3593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sz="1400" dirty="0">
                <a:solidFill>
                  <a:schemeClr val="accent1"/>
                </a:solidFill>
              </a:rPr>
              <a:t>问：</a:t>
            </a:r>
            <a:r>
              <a:rPr lang="en-US" altLang="zh-CN" sz="1400" dirty="0">
                <a:solidFill>
                  <a:schemeClr val="accent1"/>
                </a:solidFill>
              </a:rPr>
              <a:t>GET_L0_INDEX</a:t>
            </a:r>
            <a:r>
              <a:rPr lang="zh-CN" altLang="en-US" sz="1400" dirty="0">
                <a:solidFill>
                  <a:schemeClr val="accent1"/>
                </a:solidFill>
              </a:rPr>
              <a:t> 等宏的作用？</a:t>
            </a:r>
            <a:endParaRPr lang="en-US" altLang="zh-CN" sz="1400" dirty="0">
              <a:solidFill>
                <a:schemeClr val="accent1"/>
              </a:solidFill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DC4111AE-42F0-A54C-B901-0855F1C9B2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5556" y="4272348"/>
            <a:ext cx="4218157" cy="1321456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497516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F1FF2B-8D60-6C40-89D5-FCEC246FA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sz="3200" dirty="0"/>
              <a:t>页表设置完，开启翻译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579127F-B296-9049-8C18-5B2D926BD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36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7C23C3D-A7AF-534E-B15F-FC858B82EA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1341016"/>
            <a:ext cx="4557937" cy="437398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862B3FB9-8D9B-D642-826C-703DA37AFC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2040" y="0"/>
            <a:ext cx="4098783" cy="57150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6D04FE92-B0BD-4643-907C-525AD01C612C}"/>
              </a:ext>
            </a:extLst>
          </p:cNvPr>
          <p:cNvSpPr/>
          <p:nvPr/>
        </p:nvSpPr>
        <p:spPr>
          <a:xfrm>
            <a:off x="6714587" y="2863606"/>
            <a:ext cx="2448272" cy="4810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dirty="0">
                <a:solidFill>
                  <a:srgbClr val="FFFF00"/>
                </a:solidFill>
              </a:rPr>
              <a:t>将页表的物理地址，</a:t>
            </a:r>
            <a:endParaRPr lang="en-US" altLang="zh-CN" sz="1100" dirty="0">
              <a:solidFill>
                <a:srgbClr val="FFFF00"/>
              </a:solidFill>
            </a:endParaRPr>
          </a:p>
          <a:p>
            <a:pPr>
              <a:lnSpc>
                <a:spcPct val="120000"/>
              </a:lnSpc>
            </a:pPr>
            <a:r>
              <a:rPr lang="zh-CN" altLang="en-US" sz="1100" dirty="0">
                <a:solidFill>
                  <a:srgbClr val="FFFF00"/>
                </a:solidFill>
              </a:rPr>
              <a:t>写入 </a:t>
            </a:r>
            <a:r>
              <a:rPr lang="en-US" altLang="zh-CN" sz="1100" dirty="0">
                <a:solidFill>
                  <a:srgbClr val="FFFF00"/>
                </a:solidFill>
              </a:rPr>
              <a:t>TTBR0</a:t>
            </a:r>
            <a:r>
              <a:rPr lang="zh-CN" altLang="en-US" sz="1100" dirty="0">
                <a:solidFill>
                  <a:srgbClr val="FFFF00"/>
                </a:solidFill>
              </a:rPr>
              <a:t> 和 </a:t>
            </a:r>
            <a:r>
              <a:rPr lang="en-US" altLang="zh-CN" sz="1100" dirty="0">
                <a:solidFill>
                  <a:srgbClr val="FFFF00"/>
                </a:solidFill>
              </a:rPr>
              <a:t>TTBR1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9586D6B-6E0F-9942-AABB-7F6A6A93B5D8}"/>
              </a:ext>
            </a:extLst>
          </p:cNvPr>
          <p:cNvSpPr/>
          <p:nvPr/>
        </p:nvSpPr>
        <p:spPr>
          <a:xfrm>
            <a:off x="6968815" y="4153644"/>
            <a:ext cx="2448272" cy="6842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120000"/>
              </a:lnSpc>
              <a:buFont typeface="+mj-lt"/>
              <a:buAutoNum type="arabicPeriod"/>
            </a:pPr>
            <a:r>
              <a:rPr lang="zh-CN" altLang="en-US" sz="1100" dirty="0">
                <a:solidFill>
                  <a:srgbClr val="FFFF00"/>
                </a:solidFill>
              </a:rPr>
              <a:t>将</a:t>
            </a:r>
            <a:r>
              <a:rPr lang="en-US" altLang="zh-CN" sz="1100" dirty="0">
                <a:solidFill>
                  <a:srgbClr val="FFFF00"/>
                </a:solidFill>
              </a:rPr>
              <a:t>sctlr_el1</a:t>
            </a:r>
            <a:r>
              <a:rPr lang="zh-CN" altLang="en-US" sz="1100" dirty="0">
                <a:solidFill>
                  <a:srgbClr val="FFFF00"/>
                </a:solidFill>
              </a:rPr>
              <a:t>寄存器写入</a:t>
            </a:r>
            <a:r>
              <a:rPr lang="en-US" altLang="zh-CN" sz="1100" dirty="0">
                <a:solidFill>
                  <a:srgbClr val="FFFF00"/>
                </a:solidFill>
              </a:rPr>
              <a:t>x8</a:t>
            </a:r>
          </a:p>
          <a:p>
            <a:pPr marL="228600" indent="-228600">
              <a:lnSpc>
                <a:spcPct val="120000"/>
              </a:lnSpc>
              <a:buFont typeface="+mj-lt"/>
              <a:buAutoNum type="arabicPeriod"/>
            </a:pPr>
            <a:r>
              <a:rPr lang="zh-CN" altLang="en-US" sz="1100" dirty="0">
                <a:solidFill>
                  <a:srgbClr val="FFFF00"/>
                </a:solidFill>
              </a:rPr>
              <a:t>设置</a:t>
            </a:r>
            <a:r>
              <a:rPr lang="en-US" altLang="zh-CN" sz="1100" dirty="0">
                <a:solidFill>
                  <a:srgbClr val="FFFF00"/>
                </a:solidFill>
              </a:rPr>
              <a:t>x8</a:t>
            </a:r>
            <a:r>
              <a:rPr lang="zh-CN" altLang="en-US" sz="1100" dirty="0">
                <a:solidFill>
                  <a:srgbClr val="FFFF00"/>
                </a:solidFill>
              </a:rPr>
              <a:t>某些</a:t>
            </a:r>
            <a:r>
              <a:rPr lang="en-US" altLang="zh-CN" sz="1100" dirty="0">
                <a:solidFill>
                  <a:srgbClr val="FFFF00"/>
                </a:solidFill>
              </a:rPr>
              <a:t>bit</a:t>
            </a:r>
            <a:r>
              <a:rPr lang="zh-CN" altLang="en-US" sz="1100" dirty="0">
                <a:solidFill>
                  <a:srgbClr val="FFFF00"/>
                </a:solidFill>
              </a:rPr>
              <a:t>为</a:t>
            </a:r>
            <a:r>
              <a:rPr lang="en-US" altLang="zh-CN" sz="1100" dirty="0">
                <a:solidFill>
                  <a:srgbClr val="FFFF00"/>
                </a:solidFill>
              </a:rPr>
              <a:t>1</a:t>
            </a:r>
            <a:r>
              <a:rPr lang="zh-CN" altLang="en-US" sz="1100" dirty="0">
                <a:solidFill>
                  <a:srgbClr val="FFFF00"/>
                </a:solidFill>
              </a:rPr>
              <a:t>（开关）</a:t>
            </a:r>
            <a:endParaRPr lang="en-US" altLang="zh-CN" sz="1100" dirty="0">
              <a:solidFill>
                <a:srgbClr val="FFFF00"/>
              </a:solidFill>
            </a:endParaRPr>
          </a:p>
          <a:p>
            <a:pPr marL="228600" indent="-228600">
              <a:lnSpc>
                <a:spcPct val="120000"/>
              </a:lnSpc>
              <a:buFont typeface="+mj-lt"/>
              <a:buAutoNum type="arabicPeriod"/>
            </a:pPr>
            <a:r>
              <a:rPr lang="zh-CN" altLang="en-US" sz="1100" dirty="0">
                <a:solidFill>
                  <a:srgbClr val="FFFF00"/>
                </a:solidFill>
              </a:rPr>
              <a:t>将</a:t>
            </a:r>
            <a:r>
              <a:rPr lang="en-US" altLang="zh-CN" sz="1100" dirty="0">
                <a:solidFill>
                  <a:srgbClr val="FFFF00"/>
                </a:solidFill>
              </a:rPr>
              <a:t>x8</a:t>
            </a:r>
            <a:r>
              <a:rPr lang="zh-CN" altLang="en-US" sz="1100" dirty="0">
                <a:solidFill>
                  <a:srgbClr val="FFFF00"/>
                </a:solidFill>
              </a:rPr>
              <a:t>写回</a:t>
            </a:r>
            <a:r>
              <a:rPr lang="en-US" altLang="zh-CN" sz="1100" dirty="0">
                <a:solidFill>
                  <a:srgbClr val="FFFF00"/>
                </a:solidFill>
              </a:rPr>
              <a:t>sctlr_el1</a:t>
            </a:r>
            <a:r>
              <a:rPr lang="zh-CN" altLang="en-US" sz="1100" dirty="0">
                <a:solidFill>
                  <a:srgbClr val="FFFF00"/>
                </a:solidFill>
              </a:rPr>
              <a:t>寄存器</a:t>
            </a:r>
            <a:endParaRPr lang="en-US" altLang="zh-CN" sz="11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722500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AE1AB71C-A4D2-A641-AC32-5AF3886F91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929" y="260277"/>
            <a:ext cx="6624141" cy="5477326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F747D06D-0457-904F-BD52-7AEBCD793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此时的内存布局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08B521F-0025-BC41-837C-52120DA80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37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B3321F5-4E46-B40D-9946-DA1787B1E789}"/>
              </a:ext>
            </a:extLst>
          </p:cNvPr>
          <p:cNvSpPr txBox="1"/>
          <p:nvPr/>
        </p:nvSpPr>
        <p:spPr>
          <a:xfrm>
            <a:off x="2267744" y="5310597"/>
            <a:ext cx="800219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物理地址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B7AF28E-E58D-69DC-7A1F-EEFDB878DC85}"/>
              </a:ext>
            </a:extLst>
          </p:cNvPr>
          <p:cNvSpPr txBox="1"/>
          <p:nvPr/>
        </p:nvSpPr>
        <p:spPr>
          <a:xfrm>
            <a:off x="4410472" y="5310597"/>
            <a:ext cx="800219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虚拟地址</a:t>
            </a:r>
          </a:p>
        </p:txBody>
      </p:sp>
    </p:spTree>
    <p:extLst>
      <p:ext uri="{BB962C8B-B14F-4D97-AF65-F5344CB8AC3E}">
        <p14:creationId xmlns:p14="http://schemas.microsoft.com/office/powerpoint/2010/main" val="324131285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7471BB-6A5E-4545-BDB8-7B4F3776A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开启页表前后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40F6483-0993-564E-81C0-BBABC25D252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1340"/>
          <a:stretch/>
        </p:blipFill>
        <p:spPr>
          <a:xfrm>
            <a:off x="539552" y="1752786"/>
            <a:ext cx="4098783" cy="2209428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16C773C3-9903-384B-8019-AF1A86A333F7}"/>
              </a:ext>
            </a:extLst>
          </p:cNvPr>
          <p:cNvSpPr/>
          <p:nvPr/>
        </p:nvSpPr>
        <p:spPr>
          <a:xfrm>
            <a:off x="2915816" y="3246648"/>
            <a:ext cx="1722519" cy="3033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zh-CN" sz="1100" dirty="0">
                <a:solidFill>
                  <a:srgbClr val="FFFF00"/>
                </a:solidFill>
              </a:rPr>
              <a:t>265</a:t>
            </a:r>
            <a:r>
              <a:rPr lang="zh-CN" altLang="en-US" sz="1100" dirty="0">
                <a:solidFill>
                  <a:srgbClr val="FFFF00"/>
                </a:solidFill>
              </a:rPr>
              <a:t>时：尚未使用页表</a:t>
            </a:r>
            <a:endParaRPr lang="en-US" altLang="zh-CN" sz="1100" dirty="0">
              <a:solidFill>
                <a:srgbClr val="FFFF00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BDE1781-11DA-084C-9F29-B440AFD4D5C8}"/>
              </a:ext>
            </a:extLst>
          </p:cNvPr>
          <p:cNvSpPr/>
          <p:nvPr/>
        </p:nvSpPr>
        <p:spPr>
          <a:xfrm>
            <a:off x="2123728" y="3637397"/>
            <a:ext cx="2376264" cy="3033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zh-CN" sz="1100" dirty="0">
                <a:solidFill>
                  <a:srgbClr val="FFFF00"/>
                </a:solidFill>
              </a:rPr>
              <a:t>267</a:t>
            </a:r>
            <a:r>
              <a:rPr lang="zh-CN" altLang="en-US" sz="1100" dirty="0">
                <a:solidFill>
                  <a:srgbClr val="FFFF00"/>
                </a:solidFill>
              </a:rPr>
              <a:t>时：</a:t>
            </a:r>
            <a:r>
              <a:rPr lang="en-US" altLang="zh-CN" sz="1100" dirty="0">
                <a:solidFill>
                  <a:srgbClr val="FFFF00"/>
                </a:solidFill>
              </a:rPr>
              <a:t>PC</a:t>
            </a:r>
            <a:r>
              <a:rPr lang="zh-CN" altLang="en-US" sz="1100" dirty="0">
                <a:solidFill>
                  <a:srgbClr val="FFFF00"/>
                </a:solidFill>
              </a:rPr>
              <a:t>等地址已经过</a:t>
            </a:r>
            <a:r>
              <a:rPr lang="en-US" altLang="zh-CN" sz="1100" dirty="0">
                <a:solidFill>
                  <a:srgbClr val="FFFF00"/>
                </a:solidFill>
              </a:rPr>
              <a:t>MMU</a:t>
            </a:r>
            <a:r>
              <a:rPr lang="zh-CN" altLang="en-US" sz="1100" dirty="0">
                <a:solidFill>
                  <a:srgbClr val="FFFF00"/>
                </a:solidFill>
              </a:rPr>
              <a:t>翻译</a:t>
            </a:r>
            <a:endParaRPr lang="en-US" altLang="zh-CN" sz="1100" dirty="0">
              <a:solidFill>
                <a:srgbClr val="FFFF00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F67EECF-974F-F043-837F-97E84B4244EA}"/>
              </a:ext>
            </a:extLst>
          </p:cNvPr>
          <p:cNvSpPr/>
          <p:nvPr/>
        </p:nvSpPr>
        <p:spPr>
          <a:xfrm>
            <a:off x="539552" y="4091402"/>
            <a:ext cx="3988090" cy="11412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sz="1400" b="1" dirty="0"/>
              <a:t>执行</a:t>
            </a:r>
            <a:r>
              <a:rPr lang="en-US" altLang="zh-CN" sz="1400" b="1" dirty="0"/>
              <a:t>267</a:t>
            </a:r>
            <a:r>
              <a:rPr lang="zh-CN" altLang="en-US" sz="1400" b="1" dirty="0"/>
              <a:t>行，为何能顺利执行？</a:t>
            </a:r>
            <a:endParaRPr lang="en-US" altLang="zh-CN" sz="1400" b="1" dirty="0"/>
          </a:p>
          <a:p>
            <a:pPr marL="171450" indent="-1714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/>
              <a:t>页表不是在低地址区域（</a:t>
            </a:r>
            <a:r>
              <a:rPr lang="en-US" altLang="zh-CN" sz="1200" dirty="0"/>
              <a:t>0-1G</a:t>
            </a:r>
            <a:r>
              <a:rPr lang="zh-CN" altLang="en-US" sz="1200" dirty="0"/>
              <a:t>）么？</a:t>
            </a:r>
            <a:endParaRPr lang="en-US" altLang="zh-CN" sz="1200" dirty="0"/>
          </a:p>
          <a:p>
            <a:pPr marL="171450" indent="-1714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/>
              <a:t>虚拟地址和物理地址完全相同</a:t>
            </a:r>
            <a:endParaRPr lang="en-US" altLang="zh-CN" sz="1200" dirty="0"/>
          </a:p>
          <a:p>
            <a:pPr marL="171450" indent="-1714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/>
              <a:t>回想下页表中的映射（</a:t>
            </a:r>
            <a:r>
              <a:rPr lang="en-US" altLang="zh-CN" sz="1200" dirty="0"/>
              <a:t>TTBR1</a:t>
            </a:r>
            <a:r>
              <a:rPr lang="zh-CN" altLang="en-US" sz="1200" dirty="0"/>
              <a:t>）</a:t>
            </a:r>
            <a:endParaRPr lang="en-US" altLang="zh-CN" sz="1200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0B073B9-F66C-7A46-A0CA-6BA2AEEDE3B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92065"/>
          <a:stretch/>
        </p:blipFill>
        <p:spPr>
          <a:xfrm>
            <a:off x="539552" y="1296905"/>
            <a:ext cx="4098783" cy="453508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56E2CA1A-FF34-1D45-9A2A-303ACE4B13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8044" y="281874"/>
            <a:ext cx="3816424" cy="3683927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6E473C00-59EE-D546-9CEF-DBD99FB6DBEE}"/>
              </a:ext>
            </a:extLst>
          </p:cNvPr>
          <p:cNvSpPr/>
          <p:nvPr/>
        </p:nvSpPr>
        <p:spPr>
          <a:xfrm>
            <a:off x="4998328" y="4090272"/>
            <a:ext cx="3786140" cy="1656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zh-CN" sz="1400" b="1" dirty="0" err="1"/>
              <a:t>start_kernel</a:t>
            </a:r>
            <a:r>
              <a:rPr lang="zh-CN" altLang="en-US" sz="1400" b="1" dirty="0"/>
              <a:t>位于高地址段：</a:t>
            </a:r>
            <a:endParaRPr lang="en-US" altLang="zh-CN" sz="1400" b="1" dirty="0"/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" altLang="zh-CN" sz="1200" dirty="0"/>
              <a:t>0xffffff0000000000</a:t>
            </a:r>
            <a:r>
              <a:rPr lang="zh-CN" altLang="en-US" sz="1200" dirty="0"/>
              <a:t> </a:t>
            </a:r>
            <a:r>
              <a:rPr lang="en-US" altLang="zh-CN" sz="1200" dirty="0"/>
              <a:t>+</a:t>
            </a:r>
            <a:r>
              <a:rPr lang="zh-CN" altLang="en-US" sz="1200" dirty="0"/>
              <a:t> </a:t>
            </a:r>
            <a:r>
              <a:rPr lang="en-US" altLang="zh-CN" sz="1200" dirty="0" err="1"/>
              <a:t>init_end</a:t>
            </a:r>
            <a:endParaRPr lang="en-US" altLang="zh-CN" sz="1200" dirty="0"/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/>
              <a:t>从 </a:t>
            </a:r>
            <a:r>
              <a:rPr lang="en-US" altLang="zh-CN" sz="1200" dirty="0" err="1"/>
              <a:t>init_c</a:t>
            </a:r>
            <a:r>
              <a:rPr lang="zh-CN" altLang="en-US" sz="1200" dirty="0"/>
              <a:t> （低地址范围）跳过去后</a:t>
            </a:r>
            <a:endParaRPr lang="en-US" altLang="zh-CN" sz="1200" dirty="0"/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/>
              <a:t>高地址范围的地址已经被映射</a:t>
            </a:r>
            <a:endParaRPr lang="en-US" altLang="zh-CN" sz="1200" dirty="0"/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/>
              <a:t>栈在 </a:t>
            </a:r>
            <a:r>
              <a:rPr lang="en-US" altLang="zh-CN" sz="1200" dirty="0" err="1"/>
              <a:t>start_kernel</a:t>
            </a:r>
            <a:r>
              <a:rPr lang="zh-CN" altLang="en-US" sz="1200" dirty="0"/>
              <a:t> 已经换成了高地址</a:t>
            </a:r>
            <a:endParaRPr lang="en-US" altLang="zh-CN" sz="1200" dirty="0"/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09835329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AFAF7BE2-8815-9742-8C9D-002C7879F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异常向量表初始化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7198CA7B-2EE6-6A44-B456-643E29B34A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3B13AF-9945-A340-9C30-68FB0F08D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334817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A30618-F432-174F-BBCE-B4DF4E51F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异常向量表初始化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F7FCCC3-2D1E-6F49-AF28-2E11E3749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40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DC0D7F4-BC66-A543-AD77-F9DF1BCE83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0386" y="3860704"/>
            <a:ext cx="3129408" cy="1436258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D896B057-9E19-02E5-AF90-1C80D2E1FD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0256" y="1131590"/>
            <a:ext cx="4369668" cy="2270733"/>
          </a:xfrm>
          <a:prstGeom prst="rect">
            <a:avLst/>
          </a:prstGeom>
        </p:spPr>
      </p:pic>
      <p:pic>
        <p:nvPicPr>
          <p:cNvPr id="15" name="内容占位符 14">
            <a:extLst>
              <a:ext uri="{FF2B5EF4-FFF2-40B4-BE49-F238E27FC236}">
                <a16:creationId xmlns:a16="http://schemas.microsoft.com/office/drawing/2014/main" id="{ABA12651-1699-8745-F366-A0547A4CA6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482" y="1129308"/>
            <a:ext cx="3888432" cy="4472049"/>
          </a:xfrm>
        </p:spPr>
      </p:pic>
      <p:cxnSp>
        <p:nvCxnSpPr>
          <p:cNvPr id="17" name="直线箭头连接符 16">
            <a:extLst>
              <a:ext uri="{FF2B5EF4-FFF2-40B4-BE49-F238E27FC236}">
                <a16:creationId xmlns:a16="http://schemas.microsoft.com/office/drawing/2014/main" id="{17F5DF44-8776-87E2-9561-5295D1D7A59F}"/>
              </a:ext>
            </a:extLst>
          </p:cNvPr>
          <p:cNvCxnSpPr>
            <a:cxnSpLocks/>
          </p:cNvCxnSpPr>
          <p:nvPr/>
        </p:nvCxnSpPr>
        <p:spPr>
          <a:xfrm flipV="1">
            <a:off x="2399698" y="2713484"/>
            <a:ext cx="2400390" cy="277265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线连接符 21">
            <a:extLst>
              <a:ext uri="{FF2B5EF4-FFF2-40B4-BE49-F238E27FC236}">
                <a16:creationId xmlns:a16="http://schemas.microsoft.com/office/drawing/2014/main" id="{9A2770EF-DC6A-5166-2651-4910479C2601}"/>
              </a:ext>
            </a:extLst>
          </p:cNvPr>
          <p:cNvCxnSpPr/>
          <p:nvPr/>
        </p:nvCxnSpPr>
        <p:spPr>
          <a:xfrm>
            <a:off x="6876256" y="1993404"/>
            <a:ext cx="115212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线箭头连接符 23">
            <a:extLst>
              <a:ext uri="{FF2B5EF4-FFF2-40B4-BE49-F238E27FC236}">
                <a16:creationId xmlns:a16="http://schemas.microsoft.com/office/drawing/2014/main" id="{A4DFD885-D8BD-FDF5-D632-4C3A4BF85793}"/>
              </a:ext>
            </a:extLst>
          </p:cNvPr>
          <p:cNvCxnSpPr/>
          <p:nvPr/>
        </p:nvCxnSpPr>
        <p:spPr>
          <a:xfrm>
            <a:off x="8028384" y="1993404"/>
            <a:ext cx="0" cy="210640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8E7ABD05-0980-7950-78A7-5BE53391D52F}"/>
              </a:ext>
            </a:extLst>
          </p:cNvPr>
          <p:cNvSpPr txBox="1"/>
          <p:nvPr/>
        </p:nvSpPr>
        <p:spPr>
          <a:xfrm>
            <a:off x="5426002" y="5332245"/>
            <a:ext cx="26981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dirty="0">
                <a:solidFill>
                  <a:srgbClr val="FF0000"/>
                </a:solidFill>
              </a:rPr>
              <a:t>回顾：异常向量表基地址寄存器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DA209FD5-E7F7-BEFF-AC37-C1448EDD1E0A}"/>
              </a:ext>
            </a:extLst>
          </p:cNvPr>
          <p:cNvSpPr txBox="1"/>
          <p:nvPr/>
        </p:nvSpPr>
        <p:spPr>
          <a:xfrm>
            <a:off x="7184645" y="4419690"/>
            <a:ext cx="202010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b="1" dirty="0">
                <a:solidFill>
                  <a:srgbClr val="FF0000"/>
                </a:solidFill>
              </a:rPr>
              <a:t>el1_vector</a:t>
            </a:r>
            <a:r>
              <a:rPr kumimoji="1" lang="zh-CN" altLang="en-US" sz="1200" b="1" dirty="0">
                <a:solidFill>
                  <a:srgbClr val="FF0000"/>
                </a:solidFill>
              </a:rPr>
              <a:t>（异常向量表）</a:t>
            </a:r>
          </a:p>
        </p:txBody>
      </p:sp>
    </p:spTree>
    <p:extLst>
      <p:ext uri="{BB962C8B-B14F-4D97-AF65-F5344CB8AC3E}">
        <p14:creationId xmlns:p14="http://schemas.microsoft.com/office/powerpoint/2010/main" val="312641107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B38F3F-D457-58F3-19B3-00A3438CC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异常向量表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60FE5D05-FB82-D357-24DF-D7481CADBE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489348"/>
            <a:ext cx="5271392" cy="3699892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39F9A1A-CEDC-AB5E-F40F-1C60D4365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41</a:t>
            </a:fld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93BC9066-C9AA-F578-43E3-AE6A5C2A60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8024" y="769268"/>
            <a:ext cx="4082827" cy="1049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63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32C6B3-AF0C-EBF4-C683-D23A38582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异常处理函数示例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A0D781CE-ABE2-7EB1-6ACC-BFFEE961AC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1489348"/>
            <a:ext cx="5740157" cy="2952328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B7D8E4A-EEEE-1FFE-20FE-1FBC68B74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42</a:t>
            </a:fld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6D88FE0-F846-7690-5D78-B4AFE47DDC81}"/>
              </a:ext>
            </a:extLst>
          </p:cNvPr>
          <p:cNvSpPr/>
          <p:nvPr/>
        </p:nvSpPr>
        <p:spPr>
          <a:xfrm>
            <a:off x="1115616" y="1849388"/>
            <a:ext cx="1296144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6341BF7-A067-C341-846D-DF7DFC60D96E}"/>
              </a:ext>
            </a:extLst>
          </p:cNvPr>
          <p:cNvSpPr/>
          <p:nvPr/>
        </p:nvSpPr>
        <p:spPr>
          <a:xfrm>
            <a:off x="1115616" y="4225652"/>
            <a:ext cx="1296144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5762407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FFF57F4-036E-014C-B901-D7CFB7085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43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0CD477D-C5F1-DB46-A3B4-C358DB257F9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952"/>
          <a:stretch/>
        </p:blipFill>
        <p:spPr>
          <a:xfrm>
            <a:off x="572318" y="1150573"/>
            <a:ext cx="4256786" cy="4146389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0DB4B64D-ED54-ED40-A4F5-66C3239006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9763" y="1150573"/>
            <a:ext cx="3351610" cy="4362413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CF7FF348-92F9-5FC8-64E3-C6920A182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kumimoji="1" lang="zh-CN" altLang="en-US" dirty="0"/>
              <a:t>上下文保存</a:t>
            </a:r>
          </a:p>
        </p:txBody>
      </p:sp>
    </p:spTree>
    <p:extLst>
      <p:ext uri="{BB962C8B-B14F-4D97-AF65-F5344CB8AC3E}">
        <p14:creationId xmlns:p14="http://schemas.microsoft.com/office/powerpoint/2010/main" val="256085359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32C6B3-AF0C-EBF4-C683-D23A38582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系统调用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A0D781CE-ABE2-7EB1-6ACC-BFFEE961AC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1489348"/>
            <a:ext cx="5740157" cy="2952328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B7D8E4A-EEEE-1FFE-20FE-1FBC68B74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44</a:t>
            </a:fld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6D88FE0-F846-7690-5D78-B4AFE47DDC81}"/>
              </a:ext>
            </a:extLst>
          </p:cNvPr>
          <p:cNvSpPr/>
          <p:nvPr/>
        </p:nvSpPr>
        <p:spPr>
          <a:xfrm>
            <a:off x="1115616" y="1993404"/>
            <a:ext cx="2880320" cy="7920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3FDF1A7-5C93-7EC4-DEBD-EDED30F1617D}"/>
              </a:ext>
            </a:extLst>
          </p:cNvPr>
          <p:cNvSpPr txBox="1"/>
          <p:nvPr/>
        </p:nvSpPr>
        <p:spPr>
          <a:xfrm>
            <a:off x="4114644" y="1990750"/>
            <a:ext cx="19800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dirty="0">
                <a:solidFill>
                  <a:srgbClr val="FF0000"/>
                </a:solidFill>
              </a:rPr>
              <a:t>回顾：异常症状寄存器</a:t>
            </a:r>
          </a:p>
        </p:txBody>
      </p:sp>
    </p:spTree>
    <p:extLst>
      <p:ext uri="{BB962C8B-B14F-4D97-AF65-F5344CB8AC3E}">
        <p14:creationId xmlns:p14="http://schemas.microsoft.com/office/powerpoint/2010/main" val="278152090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32C6B3-AF0C-EBF4-C683-D23A38582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系统调用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A0D781CE-ABE2-7EB1-6ACC-BFFEE961AC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1489348"/>
            <a:ext cx="5740157" cy="2952328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B7D8E4A-EEEE-1FFE-20FE-1FBC68B74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45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407B72F-520B-FF2E-2773-3C2AD534230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45"/>
          <a:stretch/>
        </p:blipFill>
        <p:spPr>
          <a:xfrm>
            <a:off x="4355976" y="78429"/>
            <a:ext cx="4655127" cy="5558142"/>
          </a:xfrm>
          <a:prstGeom prst="rect">
            <a:avLst/>
          </a:prstGeom>
        </p:spPr>
      </p:pic>
      <p:sp>
        <p:nvSpPr>
          <p:cNvPr id="8" name="右大括号 7">
            <a:extLst>
              <a:ext uri="{FF2B5EF4-FFF2-40B4-BE49-F238E27FC236}">
                <a16:creationId xmlns:a16="http://schemas.microsoft.com/office/drawing/2014/main" id="{AFCD74D3-81F6-AD71-3CA1-536805E692DD}"/>
              </a:ext>
            </a:extLst>
          </p:cNvPr>
          <p:cNvSpPr/>
          <p:nvPr/>
        </p:nvSpPr>
        <p:spPr>
          <a:xfrm>
            <a:off x="7020272" y="409228"/>
            <a:ext cx="121732" cy="3600400"/>
          </a:xfrm>
          <a:prstGeom prst="rightBrace">
            <a:avLst>
              <a:gd name="adj1" fmla="val 77779"/>
              <a:gd name="adj2" fmla="val 50000"/>
            </a:avLst>
          </a:prstGeom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215B679-96BF-3498-5526-515BCE1AEB43}"/>
              </a:ext>
            </a:extLst>
          </p:cNvPr>
          <p:cNvSpPr txBox="1"/>
          <p:nvPr/>
        </p:nvSpPr>
        <p:spPr>
          <a:xfrm>
            <a:off x="7208813" y="2078623"/>
            <a:ext cx="163914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1100" dirty="0">
                <a:solidFill>
                  <a:srgbClr val="FFFF00"/>
                </a:solidFill>
              </a:rPr>
              <a:t>因简化</a:t>
            </a:r>
            <a:r>
              <a:rPr kumimoji="1" lang="en-US" altLang="zh-CN" sz="1100" dirty="0">
                <a:solidFill>
                  <a:srgbClr val="FFFF00"/>
                </a:solidFill>
              </a:rPr>
              <a:t>lab</a:t>
            </a:r>
            <a:r>
              <a:rPr kumimoji="1" lang="zh-CN" altLang="en-US" sz="1100" dirty="0">
                <a:solidFill>
                  <a:srgbClr val="FFFF00"/>
                </a:solidFill>
              </a:rPr>
              <a:t>而添加的代码</a:t>
            </a:r>
            <a:endParaRPr lang="zh-CN" altLang="en-US" sz="1100" dirty="0">
              <a:solidFill>
                <a:srgbClr val="FFFF00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DED5C5C-2B03-7EEB-0B41-2DE2E4817CF3}"/>
              </a:ext>
            </a:extLst>
          </p:cNvPr>
          <p:cNvSpPr/>
          <p:nvPr/>
        </p:nvSpPr>
        <p:spPr>
          <a:xfrm>
            <a:off x="4716016" y="4045632"/>
            <a:ext cx="4246017" cy="7920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8804677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B052BC-D8ED-0741-92AE-BD0497BAE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E570794-9F1B-B14C-8E01-7F72A000AF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742E16B-4265-3440-99E6-133FB66EC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46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5A4E87F-A273-704F-A673-84C12BB544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22244"/>
            <a:ext cx="4059064" cy="57150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B359DB21-77B9-5547-9FBB-ED472A446F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031" y="1417340"/>
            <a:ext cx="4532305" cy="2088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10172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172BE1-5258-C14D-95B6-5D1560377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小结：从实验内核看系统初始化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BBC31D6-7F7A-1040-B2F4-17299072A5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400" dirty="0"/>
              <a:t>设置</a:t>
            </a:r>
            <a:r>
              <a:rPr kumimoji="1" lang="en-US" altLang="zh-CN" sz="2400" dirty="0"/>
              <a:t>CPU</a:t>
            </a:r>
            <a:r>
              <a:rPr kumimoji="1" lang="zh-CN" altLang="en-US" sz="2400" dirty="0"/>
              <a:t>异常级别为</a:t>
            </a:r>
            <a:r>
              <a:rPr kumimoji="1" lang="en-US" altLang="zh-CN" sz="2400" dirty="0"/>
              <a:t>EL1</a:t>
            </a:r>
          </a:p>
          <a:p>
            <a:r>
              <a:rPr kumimoji="1" lang="zh-CN" altLang="en-US" sz="2400" dirty="0"/>
              <a:t>设置页表并开启虚拟内存机制</a:t>
            </a:r>
            <a:endParaRPr kumimoji="1" lang="en-US" altLang="zh-CN" sz="2400" dirty="0"/>
          </a:p>
          <a:p>
            <a:pPr lvl="1"/>
            <a:r>
              <a:rPr kumimoji="1" lang="en-US" altLang="zh-CN" sz="2200" dirty="0"/>
              <a:t>TTBR0_EL1:</a:t>
            </a:r>
            <a:r>
              <a:rPr kumimoji="1" lang="zh-CN" altLang="en-US" sz="2200" dirty="0"/>
              <a:t> 虚拟地址 </a:t>
            </a:r>
            <a:r>
              <a:rPr kumimoji="1" lang="en-US" altLang="zh-CN" sz="2200" dirty="0"/>
              <a:t>=</a:t>
            </a:r>
            <a:r>
              <a:rPr kumimoji="1" lang="zh-CN" altLang="en-US" sz="2200" dirty="0"/>
              <a:t> 物理地址</a:t>
            </a:r>
            <a:endParaRPr kumimoji="1" lang="en-US" altLang="zh-CN" sz="2200" dirty="0"/>
          </a:p>
          <a:p>
            <a:pPr lvl="1"/>
            <a:r>
              <a:rPr kumimoji="1" lang="en-US" altLang="zh-CN" sz="2200" dirty="0"/>
              <a:t>TTBR1_EL1:</a:t>
            </a:r>
            <a:r>
              <a:rPr kumimoji="1" lang="zh-CN" altLang="en-US" sz="2200" dirty="0"/>
              <a:t> 虚拟地址 </a:t>
            </a:r>
            <a:r>
              <a:rPr kumimoji="1" lang="en-US" altLang="zh-CN" sz="2200" dirty="0"/>
              <a:t>=</a:t>
            </a:r>
            <a:r>
              <a:rPr kumimoji="1" lang="zh-CN" altLang="en-US" sz="2200" dirty="0"/>
              <a:t> 物理地址 </a:t>
            </a:r>
            <a:r>
              <a:rPr kumimoji="1" lang="en-US" altLang="zh-CN" sz="2200" dirty="0"/>
              <a:t>+</a:t>
            </a:r>
            <a:r>
              <a:rPr kumimoji="1" lang="zh-CN" altLang="en-US" sz="2200" dirty="0"/>
              <a:t> </a:t>
            </a:r>
            <a:r>
              <a:rPr kumimoji="1" lang="en-US" altLang="zh-CN" sz="2200" dirty="0"/>
              <a:t>OFFSET</a:t>
            </a:r>
          </a:p>
          <a:p>
            <a:r>
              <a:rPr kumimoji="1" lang="zh-CN" altLang="en-US" sz="2400" dirty="0"/>
              <a:t>设置异常向量表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每个异常向量表项跳转到对应的异常处理函数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处理异常前保存进程上下文、返回进程前恢复其上下文</a:t>
            </a:r>
            <a:endParaRPr kumimoji="1" lang="en-US" altLang="zh-CN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0AE4523-DF7F-C24D-B947-FC6257CD7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72799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BE384B"/>
      </a:accent1>
      <a:accent2>
        <a:srgbClr val="6A868F"/>
      </a:accent2>
      <a:accent3>
        <a:srgbClr val="32788E"/>
      </a:accent3>
      <a:accent4>
        <a:srgbClr val="D6C88B"/>
      </a:accent4>
      <a:accent5>
        <a:srgbClr val="D66E49"/>
      </a:accent5>
      <a:accent6>
        <a:srgbClr val="BFBFBF"/>
      </a:accent6>
      <a:hlink>
        <a:srgbClr val="BE384B"/>
      </a:hlink>
      <a:folHlink>
        <a:srgbClr val="BFBFBF"/>
      </a:folHlink>
    </a:clrScheme>
    <a:fontScheme name="2obzv3wc">
      <a:majorFont>
        <a:latin typeface="Arial" panose="020B0A04020102020204"/>
        <a:ea typeface="微软雅黑"/>
        <a:cs typeface=""/>
      </a:majorFont>
      <a:minorFont>
        <a:latin typeface="Arial" panose="020B060402020202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JTU-Red" id="{D8CCD1CF-4E9C-2949-907F-EF4853CAD992}" vid="{47F94616-763E-7D43-9BB0-722503DC19A3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BE384B"/>
      </a:accent1>
      <a:accent2>
        <a:srgbClr val="6A868F"/>
      </a:accent2>
      <a:accent3>
        <a:srgbClr val="32788E"/>
      </a:accent3>
      <a:accent4>
        <a:srgbClr val="D6C88B"/>
      </a:accent4>
      <a:accent5>
        <a:srgbClr val="D66E49"/>
      </a:accent5>
      <a:accent6>
        <a:srgbClr val="BFBFBF"/>
      </a:accent6>
      <a:hlink>
        <a:srgbClr val="BE384B"/>
      </a:hlink>
      <a:folHlink>
        <a:srgbClr val="BFBFBF"/>
      </a:folHlink>
    </a:clrScheme>
    <a:fontScheme name="2obzv3wc">
      <a:majorFont>
        <a:latin typeface="Arial" panose="020B0A04020102020204"/>
        <a:ea typeface="微软雅黑"/>
        <a:cs typeface=""/>
      </a:majorFont>
      <a:minorFont>
        <a:latin typeface="Arial" panose="020B060402020202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JTU-Red" id="{D8CCD1CF-4E9C-2949-907F-EF4853CAD992}" vid="{47F94616-763E-7D43-9BB0-722503DC19A3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SJTU-Red</Template>
  <TotalTime>46183</TotalTime>
  <Words>2449</Words>
  <Application>Microsoft Macintosh PowerPoint</Application>
  <PresentationFormat>On-screen Show (16:10)</PresentationFormat>
  <Paragraphs>326</Paragraphs>
  <Slides>47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47</vt:i4>
      </vt:variant>
    </vt:vector>
  </HeadingPairs>
  <TitlesOfParts>
    <vt:vector size="57" baseType="lpstr">
      <vt:lpstr>DengXian</vt:lpstr>
      <vt:lpstr>Microsoft YaHei</vt:lpstr>
      <vt:lpstr>宋体</vt:lpstr>
      <vt:lpstr>Arial</vt:lpstr>
      <vt:lpstr>Calibri</vt:lpstr>
      <vt:lpstr>Consolas</vt:lpstr>
      <vt:lpstr>Lato</vt:lpstr>
      <vt:lpstr>Times New Roman</vt:lpstr>
      <vt:lpstr>Office 主题​​</vt:lpstr>
      <vt:lpstr>1_Office 主题​​</vt:lpstr>
      <vt:lpstr>系统初始化</vt:lpstr>
      <vt:lpstr>版权声明</vt:lpstr>
      <vt:lpstr>启动过程与系统初始化</vt:lpstr>
      <vt:lpstr>启动：一个复杂的过程</vt:lpstr>
      <vt:lpstr>启动流程：从上电到等待用户输入</vt:lpstr>
      <vt:lpstr>从计算机上电到内核开始运行</vt:lpstr>
      <vt:lpstr>实例：树莓派bootloader</vt:lpstr>
      <vt:lpstr>树莓派的启动3阶段（by GPU）</vt:lpstr>
      <vt:lpstr>内核入口函数位置</vt:lpstr>
      <vt:lpstr>启动流程：从上电到等待用户输入</vt:lpstr>
      <vt:lpstr>ARMv8架构下内核启动的3个主要任务</vt:lpstr>
      <vt:lpstr>物理地址空间</vt:lpstr>
      <vt:lpstr>物理地址空间 ≠ 物理内存空间</vt:lpstr>
      <vt:lpstr>读内存示例: LOAD 1742, R1</vt:lpstr>
      <vt:lpstr>读内存示例: LOAD 1742, R1</vt:lpstr>
      <vt:lpstr>读内存示例: LOAD 1742, R1</vt:lpstr>
      <vt:lpstr>读内存示例: LOAD 1742, R1</vt:lpstr>
      <vt:lpstr>读内存示例: LOAD 1742, R1</vt:lpstr>
      <vt:lpstr>读内存示例: LOAD 1742, R1</vt:lpstr>
      <vt:lpstr>树莓派3b+地址布局</vt:lpstr>
      <vt:lpstr>课程实验内核启动</vt:lpstr>
      <vt:lpstr>ChCore启动代码</vt:lpstr>
      <vt:lpstr>ChCore内核的起始地址（编译脚本）</vt:lpstr>
      <vt:lpstr>内核运行的第一行代码：准备进入EL1</vt:lpstr>
      <vt:lpstr>PowerPoint Presentation</vt:lpstr>
      <vt:lpstr>PowerPoint Presentation</vt:lpstr>
      <vt:lpstr>小知识</vt:lpstr>
      <vt:lpstr>PowerPoint Presentation</vt:lpstr>
      <vt:lpstr>从启动代码到初始化</vt:lpstr>
      <vt:lpstr>页表初始化</vt:lpstr>
      <vt:lpstr>回到 init_c：页表初始化</vt:lpstr>
      <vt:lpstr>回顾：2M大页与L2页表项</vt:lpstr>
      <vt:lpstr>页表初始化</vt:lpstr>
      <vt:lpstr>树莓派3b+</vt:lpstr>
      <vt:lpstr>页表初始化</vt:lpstr>
      <vt:lpstr>页表设置完，开启翻译</vt:lpstr>
      <vt:lpstr>此时的内存布局</vt:lpstr>
      <vt:lpstr>开启页表前后</vt:lpstr>
      <vt:lpstr>异常向量表初始化</vt:lpstr>
      <vt:lpstr>异常向量表初始化</vt:lpstr>
      <vt:lpstr>异常向量表</vt:lpstr>
      <vt:lpstr>异常处理函数示例</vt:lpstr>
      <vt:lpstr>上下文保存</vt:lpstr>
      <vt:lpstr>系统调用</vt:lpstr>
      <vt:lpstr>系统调用</vt:lpstr>
      <vt:lpstr>PowerPoint Presentation</vt:lpstr>
      <vt:lpstr>小结：从实验内核看系统初始化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虚拟机隔离与安全</dc:title>
  <dc:creator>Xia Yubin</dc:creator>
  <cp:lastModifiedBy>Mingkai Dong</cp:lastModifiedBy>
  <cp:revision>1190</cp:revision>
  <cp:lastPrinted>2020-03-02T13:38:09Z</cp:lastPrinted>
  <dcterms:created xsi:type="dcterms:W3CDTF">2017-11-24T09:35:45Z</dcterms:created>
  <dcterms:modified xsi:type="dcterms:W3CDTF">2025-10-09T13:25:44Z</dcterms:modified>
</cp:coreProperties>
</file>