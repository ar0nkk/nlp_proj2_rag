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769" r:id="rId2"/>
    <p:sldId id="1420" r:id="rId3"/>
    <p:sldId id="2299" r:id="rId4"/>
    <p:sldId id="2775" r:id="rId5"/>
    <p:sldId id="2805" r:id="rId6"/>
    <p:sldId id="2283" r:id="rId7"/>
    <p:sldId id="2806" r:id="rId8"/>
    <p:sldId id="2310" r:id="rId9"/>
    <p:sldId id="2776" r:id="rId10"/>
    <p:sldId id="1488" r:id="rId11"/>
    <p:sldId id="2791" r:id="rId12"/>
    <p:sldId id="2793" r:id="rId13"/>
    <p:sldId id="2794" r:id="rId14"/>
    <p:sldId id="2795" r:id="rId15"/>
    <p:sldId id="2796" r:id="rId16"/>
    <p:sldId id="2797" r:id="rId17"/>
    <p:sldId id="2798" r:id="rId18"/>
    <p:sldId id="2300" r:id="rId19"/>
    <p:sldId id="2799" r:id="rId20"/>
    <p:sldId id="2800" r:id="rId21"/>
    <p:sldId id="2301" r:id="rId22"/>
    <p:sldId id="2272" r:id="rId23"/>
    <p:sldId id="2302" r:id="rId24"/>
    <p:sldId id="2303" r:id="rId25"/>
    <p:sldId id="2803" r:id="rId26"/>
    <p:sldId id="2243" r:id="rId27"/>
    <p:sldId id="2306" r:id="rId28"/>
    <p:sldId id="2307" r:id="rId29"/>
    <p:sldId id="2308" r:id="rId30"/>
    <p:sldId id="2804" r:id="rId31"/>
    <p:sldId id="2304" r:id="rId32"/>
    <p:sldId id="1490" r:id="rId33"/>
    <p:sldId id="1426" r:id="rId34"/>
    <p:sldId id="1459" r:id="rId35"/>
    <p:sldId id="1447" r:id="rId36"/>
    <p:sldId id="1449" r:id="rId37"/>
    <p:sldId id="1448" r:id="rId38"/>
    <p:sldId id="1450" r:id="rId39"/>
    <p:sldId id="1451" r:id="rId40"/>
    <p:sldId id="1452" r:id="rId41"/>
    <p:sldId id="1457" r:id="rId42"/>
    <p:sldId id="1456" r:id="rId43"/>
    <p:sldId id="2802" r:id="rId44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374B"/>
    <a:srgbClr val="941100"/>
    <a:srgbClr val="212121"/>
    <a:srgbClr val="005493"/>
    <a:srgbClr val="FF2F92"/>
    <a:srgbClr val="9437FF"/>
    <a:srgbClr val="73FEFF"/>
    <a:srgbClr val="ED3C64"/>
    <a:srgbClr val="00FB92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83" autoAdjust="0"/>
    <p:restoredTop sz="85970" autoAdjust="0"/>
  </p:normalViewPr>
  <p:slideViewPr>
    <p:cSldViewPr>
      <p:cViewPr varScale="1">
        <p:scale>
          <a:sx n="124" d="100"/>
          <a:sy n="124" d="100"/>
        </p:scale>
        <p:origin x="1176" y="176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70" d="100"/>
        <a:sy n="17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2025/10/10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103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包含了</a:t>
            </a:r>
            <a:r>
              <a:rPr kumimoji="1" lang="en-US" altLang="zh-CN" dirty="0"/>
              <a:t>lab1-lab3</a:t>
            </a:r>
            <a:r>
              <a:rPr kumimoji="1" lang="zh-CN" altLang="en-US" dirty="0"/>
              <a:t>的部分内容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2182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43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物理地址与虚拟地址转化很方便（顶级页表页，需要其物理地址填入</a:t>
            </a:r>
            <a:r>
              <a:rPr kumimoji="1" lang="en-US" altLang="zh-CN" dirty="0"/>
              <a:t>TTBR</a:t>
            </a:r>
            <a:r>
              <a:rPr kumimoji="1" lang="zh-CN" altLang="en-US" dirty="0"/>
              <a:t>中；在填写页表项时，又需要使用其虚拟地址）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885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类似内核页表在启动时填写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616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3524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但不分配相应的物理内存，当然也不会在页表中填写映 射；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457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1">
            <a:extLst>
              <a:ext uri="{FF2B5EF4-FFF2-40B4-BE49-F238E27FC236}">
                <a16:creationId xmlns:a16="http://schemas.microsoft.com/office/drawing/2014/main" id="{7D14A6D0-1822-5543-AE15-6081FD783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692150"/>
            <a:ext cx="4484688" cy="34178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lIns="86492" tIns="43246" rIns="86492" bIns="43246" anchor="ctr"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928C03-E852-294D-AA82-B1D054E2F8A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914400" y="4343400"/>
            <a:ext cx="5029200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dirty="0"/>
              <a:t>思考：为什么要用段来管理？</a:t>
            </a:r>
            <a:endParaRPr lang="en-US" altLang="zh-CN" sz="1600" baseline="0" dirty="0"/>
          </a:p>
          <a:p>
            <a:r>
              <a:rPr lang="zh-CN" altLang="en-US" sz="1600" baseline="0" dirty="0"/>
              <a:t>因为段的数量比页要少很多，通常每一段都有相同的属性，比如只读、可执行等等，可简化管理</a:t>
            </a:r>
            <a:endParaRPr lang="en-US" altLang="zh-CN" sz="1600" baseline="0" dirty="0"/>
          </a:p>
        </p:txBody>
      </p:sp>
    </p:spTree>
    <p:extLst>
      <p:ext uri="{BB962C8B-B14F-4D97-AF65-F5344CB8AC3E}">
        <p14:creationId xmlns:p14="http://schemas.microsoft.com/office/powerpoint/2010/main" val="842802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VMA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546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进程创建时：操作系统将应用的二进制文件和动态代码库加载到物理内 存，并在应用进程的页表中添加虚拟地址到物理地址的映射（代码和数据），完成初始的的虚拟地址空间布局。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进程执行时：应用进程要求改变虚拟地址空间，又可以进一步分为三种常见的情况：进程的栈和堆的空间增加或减少；加载或卸载其他代码库；调用</a:t>
            </a:r>
            <a:r>
              <a:rPr kumimoji="1" lang="en-US" altLang="zh-CN" dirty="0" err="1"/>
              <a:t>mmap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munmap</a:t>
            </a:r>
            <a:r>
              <a:rPr kumimoji="1" lang="zh-CN" altLang="en-US" dirty="0"/>
              <a:t>接口增加、删除虚拟内存区域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410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进程创建时：操作系统将应用的二进制文件和动态代码库加载到物理内 存，并在应用进程的页表中添加虚拟地址到物理地址的映射（代码和数据），完成初始的的虚拟地址空间布局。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进程执行时：应用进程要求改变虚拟地址空间，又可以进一步分为三种常见的情况：进程的栈和堆的空间增加或减少；加载或卸载其他代码库；调用</a:t>
            </a:r>
            <a:r>
              <a:rPr kumimoji="1" lang="en-US" altLang="zh-CN" dirty="0" err="1"/>
              <a:t>mmap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munmap</a:t>
            </a:r>
            <a:r>
              <a:rPr kumimoji="1" lang="zh-CN" altLang="en-US" dirty="0"/>
              <a:t>接口增加、删除虚拟内存区域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9468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VMA</a:t>
            </a:r>
            <a:r>
              <a:rPr kumimoji="1" lang="zh-CN" altLang="en-US" dirty="0"/>
              <a:t>多，则用查找树，查询快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869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压缩可以更快，但释放的内存会更少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5758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16K/8</a:t>
            </a:r>
            <a:r>
              <a:rPr kumimoji="1" lang="zh-CN" altLang="en-US" dirty="0"/>
              <a:t> * </a:t>
            </a:r>
            <a:r>
              <a:rPr kumimoji="1" lang="en-US" altLang="zh-CN" dirty="0"/>
              <a:t>16K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541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FE63B074-4EAD-E0DD-F6F2-823C69D06894}"/>
              </a:ext>
            </a:extLst>
          </p:cNvPr>
          <p:cNvSpPr txBox="1">
            <a:spLocks/>
          </p:cNvSpPr>
          <p:nvPr/>
        </p:nvSpPr>
        <p:spPr>
          <a:xfrm>
            <a:off x="685800" y="1720996"/>
            <a:ext cx="7772400" cy="1225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kumimoji="1" lang="zh-CN" altLang="en-US" sz="4800"/>
              <a:t>操作系统管理页表映射</a:t>
            </a:r>
            <a:endParaRPr kumimoji="1" lang="zh-CN" altLang="en-US" sz="4800" dirty="0"/>
          </a:p>
        </p:txBody>
      </p:sp>
      <p:sp>
        <p:nvSpPr>
          <p:cNvPr id="10" name="文本框 1">
            <a:extLst>
              <a:ext uri="{FF2B5EF4-FFF2-40B4-BE49-F238E27FC236}">
                <a16:creationId xmlns:a16="http://schemas.microsoft.com/office/drawing/2014/main" id="{14B8BABA-8FC7-CEA1-85FE-99E59E4FE2CD}"/>
              </a:ext>
            </a:extLst>
          </p:cNvPr>
          <p:cNvSpPr txBox="1"/>
          <p:nvPr/>
        </p:nvSpPr>
        <p:spPr>
          <a:xfrm>
            <a:off x="1475656" y="153633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bg1">
                    <a:lumMod val="65000"/>
                  </a:schemeClr>
                </a:solidFill>
              </a:rPr>
              <a:t>虚拟内存</a:t>
            </a:r>
          </a:p>
        </p:txBody>
      </p:sp>
    </p:spTree>
    <p:extLst>
      <p:ext uri="{BB962C8B-B14F-4D97-AF65-F5344CB8AC3E}">
        <p14:creationId xmlns:p14="http://schemas.microsoft.com/office/powerpoint/2010/main" val="125856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/>
              <a:t>资</a:t>
            </a:r>
            <a:r>
              <a:rPr lang="zh-CN" altLang="en-US" sz="1600" b="0"/>
              <a:t>料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80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FBA11-E272-7F48-BDC3-638B10E1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39A63-4FB9-314B-A7C3-A1671536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2C8CAA-761A-E648-874F-1D6AD66F8BD3}"/>
              </a:ext>
            </a:extLst>
          </p:cNvPr>
          <p:cNvSpPr/>
          <p:nvPr/>
        </p:nvSpPr>
        <p:spPr>
          <a:xfrm>
            <a:off x="2559596" y="3749878"/>
            <a:ext cx="5688632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硬件层：</a:t>
            </a:r>
            <a:r>
              <a:rPr kumimoji="1" lang="en-US" altLang="zh-CN" sz="2000" dirty="0">
                <a:latin typeface="+mn-ea"/>
              </a:rPr>
              <a:t>CPU</a:t>
            </a:r>
            <a:r>
              <a:rPr kumimoji="1" lang="zh-CN" altLang="en-US" sz="2000" dirty="0">
                <a:latin typeface="+mn-ea"/>
              </a:rPr>
              <a:t>将虚拟地址翻译为物理地址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A80-2E0B-E64F-BB5F-391FBC4555B3}"/>
              </a:ext>
            </a:extLst>
          </p:cNvPr>
          <p:cNvSpPr/>
          <p:nvPr/>
        </p:nvSpPr>
        <p:spPr>
          <a:xfrm>
            <a:off x="2555776" y="2690480"/>
            <a:ext cx="568863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操作系统层：内存管理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67208B-CDAA-C542-B77F-FEEC347D5D92}"/>
              </a:ext>
            </a:extLst>
          </p:cNvPr>
          <p:cNvSpPr/>
          <p:nvPr/>
        </p:nvSpPr>
        <p:spPr>
          <a:xfrm>
            <a:off x="2555776" y="1633364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-1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BCCA73-900E-6743-B196-A4DE7033BACE}"/>
              </a:ext>
            </a:extLst>
          </p:cNvPr>
          <p:cNvSpPr/>
          <p:nvPr/>
        </p:nvSpPr>
        <p:spPr>
          <a:xfrm>
            <a:off x="5612296" y="1640408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-2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260D6B-5CC7-6444-8270-9A749D74BA9E}"/>
              </a:ext>
            </a:extLst>
          </p:cNvPr>
          <p:cNvSpPr txBox="1"/>
          <p:nvPr/>
        </p:nvSpPr>
        <p:spPr>
          <a:xfrm>
            <a:off x="769124" y="35055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地址翻译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39AC5E-C1BA-C245-9770-FCACF554BA1F}"/>
              </a:ext>
            </a:extLst>
          </p:cNvPr>
          <p:cNvSpPr txBox="1"/>
          <p:nvPr/>
        </p:nvSpPr>
        <p:spPr>
          <a:xfrm>
            <a:off x="754698" y="238538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虚拟内存</a:t>
            </a:r>
          </a:p>
        </p:txBody>
      </p:sp>
      <p:sp>
        <p:nvSpPr>
          <p:cNvPr id="16" name="环形箭头 15">
            <a:extLst>
              <a:ext uri="{FF2B5EF4-FFF2-40B4-BE49-F238E27FC236}">
                <a16:creationId xmlns:a16="http://schemas.microsoft.com/office/drawing/2014/main" id="{DF056264-6462-FD4D-8629-E5F405976E33}"/>
              </a:ext>
            </a:extLst>
          </p:cNvPr>
          <p:cNvSpPr/>
          <p:nvPr/>
        </p:nvSpPr>
        <p:spPr>
          <a:xfrm rot="16200000">
            <a:off x="2072860" y="2188288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环形箭头 16">
            <a:extLst>
              <a:ext uri="{FF2B5EF4-FFF2-40B4-BE49-F238E27FC236}">
                <a16:creationId xmlns:a16="http://schemas.microsoft.com/office/drawing/2014/main" id="{77D317F9-0E0B-A342-8245-582F9DAC98FA}"/>
              </a:ext>
            </a:extLst>
          </p:cNvPr>
          <p:cNvSpPr/>
          <p:nvPr/>
        </p:nvSpPr>
        <p:spPr>
          <a:xfrm rot="16200000">
            <a:off x="2072859" y="3287684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9F66D1C-8EBD-D33D-0DB8-4E6C65D3B5C0}"/>
              </a:ext>
            </a:extLst>
          </p:cNvPr>
          <p:cNvSpPr/>
          <p:nvPr/>
        </p:nvSpPr>
        <p:spPr>
          <a:xfrm>
            <a:off x="539552" y="3490837"/>
            <a:ext cx="8496944" cy="1231500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190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5E2CC-2E17-E74E-AA31-7E2D9CEC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回顾：地址翻译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DF1FC1-28C7-724D-B1DE-599C5FDB6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Memory Management Unit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按照</a:t>
            </a:r>
            <a:r>
              <a:rPr kumimoji="1" lang="zh-CN" altLang="en-US" b="1" dirty="0">
                <a:solidFill>
                  <a:srgbClr val="C00000"/>
                </a:solidFill>
              </a:rPr>
              <a:t>分页</a:t>
            </a:r>
            <a:r>
              <a:rPr kumimoji="1" lang="zh-CN" altLang="en-US" dirty="0"/>
              <a:t>将虚拟地址</a:t>
            </a:r>
            <a:r>
              <a:rPr kumimoji="1" lang="zh-CN" altLang="en-US" b="1" dirty="0">
                <a:solidFill>
                  <a:srgbClr val="C00000"/>
                </a:solidFill>
              </a:rPr>
              <a:t>翻译</a:t>
            </a:r>
            <a:r>
              <a:rPr kumimoji="1" lang="zh-CN" altLang="en-US" dirty="0"/>
              <a:t>成物理地址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DC34EE-167D-4349-8307-0E92C16E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8F6ABC65-52E8-8D49-8215-1F0C7B451649}"/>
              </a:ext>
            </a:extLst>
          </p:cNvPr>
          <p:cNvGrpSpPr/>
          <p:nvPr/>
        </p:nvGrpSpPr>
        <p:grpSpPr>
          <a:xfrm>
            <a:off x="1187623" y="2137420"/>
            <a:ext cx="6863655" cy="3470628"/>
            <a:chOff x="1187623" y="1921396"/>
            <a:chExt cx="6863655" cy="3470628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FF2A630F-5FBF-FB40-970B-B866AEF197C2}"/>
                </a:ext>
              </a:extLst>
            </p:cNvPr>
            <p:cNvGrpSpPr/>
            <p:nvPr/>
          </p:nvGrpSpPr>
          <p:grpSpPr>
            <a:xfrm>
              <a:off x="1187623" y="1921396"/>
              <a:ext cx="6863655" cy="3470628"/>
              <a:chOff x="812279" y="1596206"/>
              <a:chExt cx="7239000" cy="3797022"/>
            </a:xfrm>
          </p:grpSpPr>
          <p:sp>
            <p:nvSpPr>
              <p:cNvPr id="5" name="Rectangle 5">
                <a:extLst>
                  <a:ext uri="{FF2B5EF4-FFF2-40B4-BE49-F238E27FC236}">
                    <a16:creationId xmlns:a16="http://schemas.microsoft.com/office/drawing/2014/main" id="{F89469DA-354F-2944-9EDE-66510788779C}"/>
                  </a:ext>
                </a:extLst>
              </p:cNvPr>
              <p:cNvSpPr/>
              <p:nvPr/>
            </p:nvSpPr>
            <p:spPr bwMode="auto">
              <a:xfrm>
                <a:off x="899592" y="2353444"/>
                <a:ext cx="3749675" cy="114935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25400" cap="flat" cmpd="sng" algn="ctr">
                <a:noFill/>
                <a:prstDash val="solid"/>
                <a:round/>
                <a:headEnd type="none" w="med" len="med"/>
                <a:tailEnd type="arrow" w="med" len="med"/>
              </a:ln>
              <a:effectLst/>
            </p:spPr>
            <p:txBody>
              <a:bodyPr anchor="ctr"/>
              <a:lstStyle/>
              <a:p>
                <a:pPr algn="ctr"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405FB4CE-9642-A74E-947F-72D1E6107C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458469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7" name="Text Box 4">
                <a:extLst>
                  <a:ext uri="{FF2B5EF4-FFF2-40B4-BE49-F238E27FC236}">
                    <a16:creationId xmlns:a16="http://schemas.microsoft.com/office/drawing/2014/main" id="{EFB3AA7F-63F6-4340-BB02-6928425E76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18898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0:</a:t>
                </a:r>
              </a:p>
            </p:txBody>
          </p:sp>
          <p:sp>
            <p:nvSpPr>
              <p:cNvPr id="8" name="Text Box 5">
                <a:extLst>
                  <a:ext uri="{FF2B5EF4-FFF2-40B4-BE49-F238E27FC236}">
                    <a16:creationId xmlns:a16="http://schemas.microsoft.com/office/drawing/2014/main" id="{1EBDA009-487D-2E40-825C-936C113F51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1184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1:</a:t>
                </a:r>
              </a:p>
            </p:txBody>
          </p:sp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0CA85BD5-1DE8-DF47-A129-7C08F2530B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30367" y="4410844"/>
                <a:ext cx="5842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M-1:</a:t>
                </a:r>
              </a:p>
            </p:txBody>
          </p:sp>
          <p:sp>
            <p:nvSpPr>
              <p:cNvPr id="10" name="Text Box 7">
                <a:extLst>
                  <a:ext uri="{FF2B5EF4-FFF2-40B4-BE49-F238E27FC236}">
                    <a16:creationId xmlns:a16="http://schemas.microsoft.com/office/drawing/2014/main" id="{67260E54-7E49-D745-A699-5B43CCC425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14254" y="1596206"/>
                <a:ext cx="1573738" cy="3348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zh-CN" altLang="en-GB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物理</a:t>
                </a:r>
                <a:r>
                  <a:rPr lang="zh-CN" altLang="en-US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内存</a:t>
                </a:r>
                <a:r>
                  <a:rPr lang="en-US" altLang="zh-CN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/</a:t>
                </a:r>
                <a:r>
                  <a:rPr lang="zh-CN" altLang="en-US" sz="1600" dirty="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主存</a:t>
                </a:r>
                <a:endParaRPr lang="en-GB" altLang="zh-CN" sz="1600" dirty="0">
                  <a:solidFill>
                    <a:srgbClr val="0033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621CC74-10B9-8244-BBBE-0124B2ECD5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9279" y="2691581"/>
                <a:ext cx="1066800" cy="533400"/>
              </a:xfrm>
              <a:prstGeom prst="rect">
                <a:avLst/>
              </a:prstGeom>
              <a:solidFill>
                <a:srgbClr val="D5F1CF"/>
              </a:solidFill>
              <a:ln w="126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>
                    <a:latin typeface="Calibri" panose="020F0502020204030204" pitchFamily="34" charset="0"/>
                  </a:rPr>
                  <a:t>MMU</a:t>
                </a:r>
              </a:p>
            </p:txBody>
          </p:sp>
          <p:sp>
            <p:nvSpPr>
              <p:cNvPr id="12" name="Text Box 15">
                <a:extLst>
                  <a:ext uri="{FF2B5EF4-FFF2-40B4-BE49-F238E27FC236}">
                    <a16:creationId xmlns:a16="http://schemas.microsoft.com/office/drawing/2014/main" id="{B6B742CB-6AB7-9A45-992A-820AC36647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23470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2:</a:t>
                </a:r>
              </a:p>
            </p:txBody>
          </p:sp>
          <p:sp>
            <p:nvSpPr>
              <p:cNvPr id="13" name="Text Box 16">
                <a:extLst>
                  <a:ext uri="{FF2B5EF4-FFF2-40B4-BE49-F238E27FC236}">
                    <a16:creationId xmlns:a16="http://schemas.microsoft.com/office/drawing/2014/main" id="{54586A3C-6D6C-B84F-8B28-9FAE88F63F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5756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3:</a:t>
                </a:r>
              </a:p>
            </p:txBody>
          </p:sp>
          <p:sp>
            <p:nvSpPr>
              <p:cNvPr id="14" name="Rectangle 17">
                <a:extLst>
                  <a:ext uri="{FF2B5EF4-FFF2-40B4-BE49-F238E27FC236}">
                    <a16:creationId xmlns:a16="http://schemas.microsoft.com/office/drawing/2014/main" id="{07676F3E-75C2-9349-9942-4F62C95D34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18946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5" name="Rectangle 18">
                <a:extLst>
                  <a:ext uri="{FF2B5EF4-FFF2-40B4-BE49-F238E27FC236}">
                    <a16:creationId xmlns:a16="http://schemas.microsoft.com/office/drawing/2014/main" id="{9891FB0E-771D-0D40-9F49-67B68D858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1232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6" name="Rectangle 19">
                <a:extLst>
                  <a:ext uri="{FF2B5EF4-FFF2-40B4-BE49-F238E27FC236}">
                    <a16:creationId xmlns:a16="http://schemas.microsoft.com/office/drawing/2014/main" id="{BB38B9AE-0D42-E141-80E9-4C0C1D700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3518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7" name="Rectangle 20">
                <a:extLst>
                  <a:ext uri="{FF2B5EF4-FFF2-40B4-BE49-F238E27FC236}">
                    <a16:creationId xmlns:a16="http://schemas.microsoft.com/office/drawing/2014/main" id="{C16AE008-2802-0041-B7CF-93E7DF798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580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18" name="Rectangle 21">
                <a:extLst>
                  <a:ext uri="{FF2B5EF4-FFF2-40B4-BE49-F238E27FC236}">
                    <a16:creationId xmlns:a16="http://schemas.microsoft.com/office/drawing/2014/main" id="{BAE6B46C-2337-714A-8F15-BD71FE44D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28090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19" name="Rectangle 22">
                <a:extLst>
                  <a:ext uri="{FF2B5EF4-FFF2-40B4-BE49-F238E27FC236}">
                    <a16:creationId xmlns:a16="http://schemas.microsoft.com/office/drawing/2014/main" id="{46C824C9-499A-024A-99B8-1BEBBB9E5E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0376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0" name="Text Box 23">
                <a:extLst>
                  <a:ext uri="{FF2B5EF4-FFF2-40B4-BE49-F238E27FC236}">
                    <a16:creationId xmlns:a16="http://schemas.microsoft.com/office/drawing/2014/main" id="{849F7E88-2C2E-024E-96C3-1D4CFA7AF7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28042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4:</a:t>
                </a:r>
              </a:p>
            </p:txBody>
          </p:sp>
          <p:sp>
            <p:nvSpPr>
              <p:cNvPr id="21" name="Text Box 24">
                <a:extLst>
                  <a:ext uri="{FF2B5EF4-FFF2-40B4-BE49-F238E27FC236}">
                    <a16:creationId xmlns:a16="http://schemas.microsoft.com/office/drawing/2014/main" id="{C9254CD1-CEC4-C247-B313-E1E558D5E1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0328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5:</a:t>
                </a:r>
              </a:p>
            </p:txBody>
          </p:sp>
          <p:sp>
            <p:nvSpPr>
              <p:cNvPr id="22" name="Rectangle 25">
                <a:extLst>
                  <a:ext uri="{FF2B5EF4-FFF2-40B4-BE49-F238E27FC236}">
                    <a16:creationId xmlns:a16="http://schemas.microsoft.com/office/drawing/2014/main" id="{F3EC4E30-8517-764A-900A-F0E114A7E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2662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3" name="Rectangle 26">
                <a:extLst>
                  <a:ext uri="{FF2B5EF4-FFF2-40B4-BE49-F238E27FC236}">
                    <a16:creationId xmlns:a16="http://schemas.microsoft.com/office/drawing/2014/main" id="{82F7F342-7534-8F46-86CC-58614FEDDE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494856"/>
                <a:ext cx="914400" cy="228600"/>
              </a:xfrm>
              <a:prstGeom prst="rect">
                <a:avLst/>
              </a:prstGeom>
              <a:solidFill>
                <a:srgbClr val="C0C0C0"/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4" name="Text Box 27">
                <a:extLst>
                  <a:ext uri="{FF2B5EF4-FFF2-40B4-BE49-F238E27FC236}">
                    <a16:creationId xmlns:a16="http://schemas.microsoft.com/office/drawing/2014/main" id="{1C70C607-21FE-FE45-B12A-E521AE3189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2614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6:</a:t>
                </a:r>
              </a:p>
            </p:txBody>
          </p:sp>
          <p:sp>
            <p:nvSpPr>
              <p:cNvPr id="25" name="Text Box 28">
                <a:extLst>
                  <a:ext uri="{FF2B5EF4-FFF2-40B4-BE49-F238E27FC236}">
                    <a16:creationId xmlns:a16="http://schemas.microsoft.com/office/drawing/2014/main" id="{E5D602D2-93CE-5340-A30A-04F160BE13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70079" y="349009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7:</a:t>
                </a:r>
              </a:p>
            </p:txBody>
          </p:sp>
          <p:sp>
            <p:nvSpPr>
              <p:cNvPr id="26" name="Rectangle 29">
                <a:extLst>
                  <a:ext uri="{FF2B5EF4-FFF2-40B4-BE49-F238E27FC236}">
                    <a16:creationId xmlns:a16="http://schemas.microsoft.com/office/drawing/2014/main" id="{A461B1BF-4788-3147-B230-BC56FA51B0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4234631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27" name="Text Box 9">
                <a:extLst>
                  <a:ext uri="{FF2B5EF4-FFF2-40B4-BE49-F238E27FC236}">
                    <a16:creationId xmlns:a16="http://schemas.microsoft.com/office/drawing/2014/main" id="{FC66DA6B-CFFF-6741-8B69-7A0431AEFB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2956" y="2541839"/>
                <a:ext cx="1045484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物理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地址</a:t>
                </a:r>
                <a:r>
                  <a:rPr lang="en-US" altLang="zh-CN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4</a:t>
                </a:r>
                <a:endParaRPr lang="en-GB" altLang="zh-CN" sz="1400" b="1" dirty="0">
                  <a:solidFill>
                    <a:srgbClr val="C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8" name="AutoShape 31">
                <a:extLst>
                  <a:ext uri="{FF2B5EF4-FFF2-40B4-BE49-F238E27FC236}">
                    <a16:creationId xmlns:a16="http://schemas.microsoft.com/office/drawing/2014/main" id="{FBA6E3B7-AB50-8347-8207-ED6250866D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5479" y="2809056"/>
                <a:ext cx="76200" cy="914400"/>
              </a:xfrm>
              <a:prstGeom prst="rightBrace">
                <a:avLst>
                  <a:gd name="adj1" fmla="val 100000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2000"/>
              </a:p>
            </p:txBody>
          </p:sp>
          <p:sp>
            <p:nvSpPr>
              <p:cNvPr id="29" name="Text Box 32">
                <a:extLst>
                  <a:ext uri="{FF2B5EF4-FFF2-40B4-BE49-F238E27FC236}">
                    <a16:creationId xmlns:a16="http://schemas.microsoft.com/office/drawing/2014/main" id="{22CE70C4-D8A2-5B46-9FCE-BD2EF939D2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44208" y="5058820"/>
                <a:ext cx="570406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dirty="0">
                    <a:latin typeface="Calibri" panose="020F0502020204030204" pitchFamily="34" charset="0"/>
                  </a:rPr>
                  <a:t>数据</a:t>
                </a:r>
                <a:endParaRPr lang="en-GB" altLang="zh-CN" sz="14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0" name="Rectangle 33">
                <a:extLst>
                  <a:ext uri="{FF2B5EF4-FFF2-40B4-BE49-F238E27FC236}">
                    <a16:creationId xmlns:a16="http://schemas.microsoft.com/office/drawing/2014/main" id="{C9F879C3-EA58-9946-8C31-F39688D38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4879" y="3723456"/>
                <a:ext cx="9144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8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latin typeface="Comic Sans MS" panose="030F0702030302020204" pitchFamily="66" charset="0"/>
                </a:endParaRPr>
              </a:p>
            </p:txBody>
          </p:sp>
          <p:sp>
            <p:nvSpPr>
              <p:cNvPr id="31" name="Text Box 34">
                <a:extLst>
                  <a:ext uri="{FF2B5EF4-FFF2-40B4-BE49-F238E27FC236}">
                    <a16:creationId xmlns:a16="http://schemas.microsoft.com/office/drawing/2014/main" id="{2270907F-9F2E-8944-8225-84E64A3158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068492" y="3725044"/>
                <a:ext cx="342900" cy="3063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360" tIns="44280" rIns="90360" bIns="4428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lnSpc>
                    <a:spcPct val="88000"/>
                  </a:lnSpc>
                  <a:spcBef>
                    <a:spcPts val="600"/>
                  </a:spcBef>
                  <a:buFontTx/>
                  <a:buNone/>
                </a:pPr>
                <a:r>
                  <a:rPr lang="en-GB" altLang="zh-CN" sz="1600">
                    <a:solidFill>
                      <a:srgbClr val="003300"/>
                    </a:solidFill>
                    <a:latin typeface="Calibri" panose="020F0502020204030204" pitchFamily="34" charset="0"/>
                  </a:rPr>
                  <a:t>8:</a:t>
                </a:r>
              </a:p>
            </p:txBody>
          </p:sp>
          <p:sp>
            <p:nvSpPr>
              <p:cNvPr id="32" name="Rectangle 35">
                <a:extLst>
                  <a:ext uri="{FF2B5EF4-FFF2-40B4-BE49-F238E27FC236}">
                    <a16:creationId xmlns:a16="http://schemas.microsoft.com/office/drawing/2014/main" id="{864DA4E8-27CC-264A-BFC3-B3B66B7E1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51079" y="3958406"/>
                <a:ext cx="914400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lIns="90360" tIns="44280" rIns="90360" bIns="4428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 rtl="1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800">
                    <a:latin typeface="Calibri" panose="020F0502020204030204" pitchFamily="34" charset="0"/>
                  </a:rPr>
                  <a:t>...</a:t>
                </a:r>
              </a:p>
            </p:txBody>
          </p:sp>
          <p:cxnSp>
            <p:nvCxnSpPr>
              <p:cNvPr id="33" name="Straight Arrow Connector 34">
                <a:extLst>
                  <a:ext uri="{FF2B5EF4-FFF2-40B4-BE49-F238E27FC236}">
                    <a16:creationId xmlns:a16="http://schemas.microsoft.com/office/drawing/2014/main" id="{DAE09C48-7C43-8345-9EA5-850775F0C6C0}"/>
                  </a:ext>
                </a:extLst>
              </p:cNvPr>
              <p:cNvCxnSpPr>
                <a:cxnSpLocks noChangeShapeType="1"/>
                <a:stCxn id="11" idx="3"/>
                <a:endCxn id="20" idx="1"/>
              </p:cNvCxnSpPr>
              <p:nvPr/>
            </p:nvCxnSpPr>
            <p:spPr bwMode="auto">
              <a:xfrm flipV="1">
                <a:off x="4546079" y="2956694"/>
                <a:ext cx="1522413" cy="1587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" name="Straight Connector 35">
                <a:extLst>
                  <a:ext uri="{FF2B5EF4-FFF2-40B4-BE49-F238E27FC236}">
                    <a16:creationId xmlns:a16="http://schemas.microsoft.com/office/drawing/2014/main" id="{BBDB99C9-E3CB-F44A-8A40-D2F60E844D8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H="1">
                <a:off x="7517879" y="3266256"/>
                <a:ext cx="533400" cy="1588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Straight Connector 36">
                <a:extLst>
                  <a:ext uri="{FF2B5EF4-FFF2-40B4-BE49-F238E27FC236}">
                    <a16:creationId xmlns:a16="http://schemas.microsoft.com/office/drawing/2014/main" id="{F4704E0B-91BE-5F4D-9375-201D606B7E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7130529" y="4182244"/>
                <a:ext cx="1839913" cy="1587"/>
              </a:xfrm>
              <a:prstGeom prst="line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Shape 60">
                <a:extLst>
                  <a:ext uri="{FF2B5EF4-FFF2-40B4-BE49-F238E27FC236}">
                    <a16:creationId xmlns:a16="http://schemas.microsoft.com/office/drawing/2014/main" id="{CE10EEE4-DFE1-1044-98D6-927E722DE280}"/>
                  </a:ext>
                </a:extLst>
              </p:cNvPr>
              <p:cNvCxnSpPr>
                <a:cxnSpLocks noChangeShapeType="1"/>
                <a:endCxn id="37" idx="2"/>
              </p:cNvCxnSpPr>
              <p:nvPr/>
            </p:nvCxnSpPr>
            <p:spPr bwMode="auto">
              <a:xfrm rot="10800000">
                <a:off x="1574279" y="3226569"/>
                <a:ext cx="6475413" cy="1876425"/>
              </a:xfrm>
              <a:prstGeom prst="bentConnector2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7" name="Rectangle 10">
                <a:extLst>
                  <a:ext uri="{FF2B5EF4-FFF2-40B4-BE49-F238E27FC236}">
                    <a16:creationId xmlns:a16="http://schemas.microsoft.com/office/drawing/2014/main" id="{C99EAC53-13D6-104C-B7A7-265043DED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0879" y="2693169"/>
                <a:ext cx="1066800" cy="533400"/>
              </a:xfrm>
              <a:prstGeom prst="rect">
                <a:avLst/>
              </a:prstGeom>
              <a:solidFill>
                <a:srgbClr val="F1C7C7"/>
              </a:solidFill>
              <a:ln w="126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en-GB" altLang="zh-CN" sz="1600" dirty="0">
                    <a:latin typeface="Calibri" panose="020F0502020204030204" pitchFamily="34" charset="0"/>
                  </a:rPr>
                  <a:t>CPU</a:t>
                </a:r>
                <a:r>
                  <a:rPr lang="zh-CN" altLang="en-GB" sz="1600" dirty="0">
                    <a:latin typeface="Calibri" panose="020F0502020204030204" pitchFamily="34" charset="0"/>
                  </a:rPr>
                  <a:t>核心</a:t>
                </a:r>
                <a:endParaRPr lang="en-GB" altLang="zh-CN" sz="1600" dirty="0">
                  <a:latin typeface="Calibri" panose="020F0502020204030204" pitchFamily="34" charset="0"/>
                </a:endParaRPr>
              </a:p>
            </p:txBody>
          </p:sp>
          <p:cxnSp>
            <p:nvCxnSpPr>
              <p:cNvPr id="38" name="Straight Arrow Connector 39">
                <a:extLst>
                  <a:ext uri="{FF2B5EF4-FFF2-40B4-BE49-F238E27FC236}">
                    <a16:creationId xmlns:a16="http://schemas.microsoft.com/office/drawing/2014/main" id="{6417CB99-80EC-9846-8054-7E217975564B}"/>
                  </a:ext>
                </a:extLst>
              </p:cNvPr>
              <p:cNvCxnSpPr>
                <a:cxnSpLocks noChangeShapeType="1"/>
                <a:stCxn id="37" idx="3"/>
              </p:cNvCxnSpPr>
              <p:nvPr/>
            </p:nvCxnSpPr>
            <p:spPr bwMode="auto">
              <a:xfrm flipV="1">
                <a:off x="2107679" y="2955106"/>
                <a:ext cx="1370013" cy="4763"/>
              </a:xfrm>
              <a:prstGeom prst="straightConnector1">
                <a:avLst/>
              </a:prstGeom>
              <a:noFill/>
              <a:ln w="25400" algn="ctr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Text Box 9">
                <a:extLst>
                  <a:ext uri="{FF2B5EF4-FFF2-40B4-BE49-F238E27FC236}">
                    <a16:creationId xmlns:a16="http://schemas.microsoft.com/office/drawing/2014/main" id="{2B96388C-FE36-AF47-BDB4-DD3BC68E4C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37400" y="2541839"/>
                <a:ext cx="1045484" cy="334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lnSpc>
                    <a:spcPct val="98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en-GB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虚拟</a:t>
                </a:r>
                <a:r>
                  <a:rPr lang="zh-CN" altLang="en-US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地址</a:t>
                </a:r>
                <a:r>
                  <a:rPr lang="en-US" altLang="zh-CN" sz="1400" b="1" dirty="0">
                    <a:solidFill>
                      <a:srgbClr val="C00000"/>
                    </a:solidFill>
                    <a:latin typeface="Calibri" panose="020F0502020204030204" pitchFamily="34" charset="0"/>
                  </a:rPr>
                  <a:t>1</a:t>
                </a:r>
                <a:endParaRPr lang="en-GB" altLang="zh-CN" sz="1400" b="1" dirty="0">
                  <a:solidFill>
                    <a:srgbClr val="C0000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40" name="TextBox 41">
                <a:extLst>
                  <a:ext uri="{FF2B5EF4-FFF2-40B4-BE49-F238E27FC236}">
                    <a16:creationId xmlns:a16="http://schemas.microsoft.com/office/drawing/2014/main" id="{2F82A291-AC76-9B42-A833-3E0DA27DFB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2279" y="2048644"/>
                <a:ext cx="1058863" cy="369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1800" i="1" dirty="0">
                    <a:latin typeface="Calibri" panose="020F0502020204030204" pitchFamily="34" charset="0"/>
                  </a:rPr>
                  <a:t>CPU Chip</a:t>
                </a:r>
              </a:p>
            </p:txBody>
          </p:sp>
          <p:sp>
            <p:nvSpPr>
              <p:cNvPr id="42" name="TextBox 43">
                <a:extLst>
                  <a:ext uri="{FF2B5EF4-FFF2-40B4-BE49-F238E27FC236}">
                    <a16:creationId xmlns:a16="http://schemas.microsoft.com/office/drawing/2014/main" id="{3F572BBF-2073-BE4E-9134-C8F2B8044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13816" y="2955106"/>
                <a:ext cx="194833" cy="370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zh-CN" sz="1600" b="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093E056C-0745-4A49-B138-33FDC9E80CBD}"/>
                </a:ext>
              </a:extLst>
            </p:cNvPr>
            <p:cNvSpPr/>
            <p:nvPr/>
          </p:nvSpPr>
          <p:spPr>
            <a:xfrm>
              <a:off x="1307285" y="2641835"/>
              <a:ext cx="3516118" cy="985255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6928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59BF44-6286-304A-861A-170D389C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</a:t>
            </a:r>
            <a:r>
              <a:rPr kumimoji="1" lang="en-US" altLang="zh-CN" dirty="0"/>
              <a:t>AARCH64</a:t>
            </a:r>
            <a:r>
              <a:rPr kumimoji="1" lang="zh-CN" altLang="en-US" dirty="0"/>
              <a:t>体系结构下</a:t>
            </a:r>
            <a:r>
              <a:rPr kumimoji="1" lang="en-US" altLang="zh-CN" dirty="0"/>
              <a:t>4</a:t>
            </a:r>
            <a:r>
              <a:rPr kumimoji="1" lang="zh-CN" altLang="en-US" dirty="0"/>
              <a:t>级页表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AE1C21-CA44-D647-9509-19F680F0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BE7CB81-B07A-A32D-9679-2780C98E9B29}"/>
              </a:ext>
            </a:extLst>
          </p:cNvPr>
          <p:cNvGrpSpPr/>
          <p:nvPr/>
        </p:nvGrpSpPr>
        <p:grpSpPr>
          <a:xfrm>
            <a:off x="2195736" y="1297060"/>
            <a:ext cx="6817102" cy="4316537"/>
            <a:chOff x="1163449" y="1273324"/>
            <a:chExt cx="6817102" cy="4316537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1AD8AAFC-B247-704E-8974-4EB6B6AF4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3449" y="1273324"/>
              <a:ext cx="6817102" cy="4316537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2EC17D9-E8AA-6275-9F5C-99F3F1E3893E}"/>
                </a:ext>
              </a:extLst>
            </p:cNvPr>
            <p:cNvSpPr txBox="1"/>
            <p:nvPr/>
          </p:nvSpPr>
          <p:spPr>
            <a:xfrm>
              <a:off x="2627784" y="3431592"/>
              <a:ext cx="772969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b="1" dirty="0">
                  <a:latin typeface="+mn-ea"/>
                </a:rPr>
                <a:t>0</a:t>
              </a:r>
              <a:r>
                <a:rPr kumimoji="1" lang="zh-CN" altLang="en-US" sz="1000" b="1" dirty="0">
                  <a:latin typeface="+mn-ea"/>
                </a:rPr>
                <a:t>级页表页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1A257E1B-F813-1FBA-97CA-7A65DCC0D433}"/>
                </a:ext>
              </a:extLst>
            </p:cNvPr>
            <p:cNvSpPr txBox="1"/>
            <p:nvPr/>
          </p:nvSpPr>
          <p:spPr>
            <a:xfrm>
              <a:off x="3775260" y="3437316"/>
              <a:ext cx="79674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CN" sz="1000" b="1" dirty="0">
                  <a:latin typeface="+mn-ea"/>
                </a:rPr>
                <a:t>1</a:t>
              </a:r>
              <a:r>
                <a:rPr kumimoji="1" lang="zh-CN" altLang="en-US" sz="1000" b="1" dirty="0">
                  <a:latin typeface="+mn-ea"/>
                </a:rPr>
                <a:t>级页表页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CA536F0C-B2C7-C549-1534-9BD3D117564D}"/>
                </a:ext>
              </a:extLst>
            </p:cNvPr>
            <p:cNvSpPr txBox="1"/>
            <p:nvPr/>
          </p:nvSpPr>
          <p:spPr>
            <a:xfrm>
              <a:off x="4869596" y="3431592"/>
              <a:ext cx="776175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b="1" dirty="0">
                  <a:latin typeface="+mn-ea"/>
                </a:rPr>
                <a:t>2</a:t>
              </a:r>
              <a:r>
                <a:rPr kumimoji="1" lang="zh-CN" altLang="en-US" sz="1000" b="1" dirty="0">
                  <a:latin typeface="+mn-ea"/>
                </a:rPr>
                <a:t>级页表页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C1C968C-1066-A16E-EF73-F5C77AA9C6D2}"/>
                </a:ext>
              </a:extLst>
            </p:cNvPr>
            <p:cNvSpPr txBox="1"/>
            <p:nvPr/>
          </p:nvSpPr>
          <p:spPr>
            <a:xfrm>
              <a:off x="6020278" y="3431592"/>
              <a:ext cx="776175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000" b="1" dirty="0">
                  <a:latin typeface="+mn-ea"/>
                </a:rPr>
                <a:t>3</a:t>
              </a:r>
              <a:r>
                <a:rPr kumimoji="1" lang="zh-CN" altLang="en-US" sz="1000" b="1" dirty="0">
                  <a:latin typeface="+mn-ea"/>
                </a:rPr>
                <a:t>级页表页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DBC7A93-D9F7-625A-B01C-7F5C173201BF}"/>
              </a:ext>
            </a:extLst>
          </p:cNvPr>
          <p:cNvSpPr txBox="1"/>
          <p:nvPr/>
        </p:nvSpPr>
        <p:spPr>
          <a:xfrm>
            <a:off x="323528" y="1285150"/>
            <a:ext cx="3047629" cy="13469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latin typeface="+mn-ea"/>
              </a:rPr>
              <a:t>硬件规定的页表格式</a:t>
            </a:r>
            <a:endParaRPr kumimoji="1"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每个页表页占用一个</a:t>
            </a:r>
            <a:r>
              <a:rPr kumimoji="1" lang="en-US" altLang="zh-CN" sz="1400" dirty="0">
                <a:latin typeface="+mn-ea"/>
              </a:rPr>
              <a:t>4K</a:t>
            </a:r>
            <a:r>
              <a:rPr kumimoji="1" lang="zh-CN" altLang="en-US" sz="1400" dirty="0">
                <a:latin typeface="+mn-ea"/>
              </a:rPr>
              <a:t>物理页</a:t>
            </a:r>
            <a:endParaRPr kumimoji="1" lang="en-US" altLang="zh-CN" sz="1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每个页表项占用</a:t>
            </a:r>
            <a:r>
              <a:rPr kumimoji="1" lang="en-US" altLang="zh-CN" sz="1400" dirty="0">
                <a:latin typeface="+mn-ea"/>
              </a:rPr>
              <a:t>8</a:t>
            </a:r>
            <a:r>
              <a:rPr kumimoji="1" lang="zh-CN" altLang="en-US" sz="1400" dirty="0">
                <a:latin typeface="+mn-ea"/>
              </a:rPr>
              <a:t>个字节</a:t>
            </a:r>
            <a:endParaRPr kumimoji="1" lang="en-US" altLang="zh-CN" sz="1400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+mn-ea"/>
              </a:rPr>
              <a:t>每个页表页有</a:t>
            </a:r>
            <a:r>
              <a:rPr kumimoji="1" lang="en-US" altLang="zh-CN" sz="1400" dirty="0">
                <a:latin typeface="+mn-ea"/>
              </a:rPr>
              <a:t>512</a:t>
            </a:r>
            <a:r>
              <a:rPr kumimoji="1" lang="zh-CN" altLang="en-US" sz="1400" dirty="0">
                <a:latin typeface="+mn-ea"/>
              </a:rPr>
              <a:t>个页表项</a:t>
            </a:r>
            <a:endParaRPr kumimoji="1" lang="en-US" altLang="zh-CN" sz="1400" dirty="0">
              <a:latin typeface="+mn-e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70647CD-6DB1-81A9-4755-652555B81C25}"/>
              </a:ext>
            </a:extLst>
          </p:cNvPr>
          <p:cNvSpPr txBox="1"/>
          <p:nvPr/>
        </p:nvSpPr>
        <p:spPr>
          <a:xfrm>
            <a:off x="2310945" y="317487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rgbClr val="C00000"/>
                </a:solidFill>
              </a:rPr>
              <a:t>物理地址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5832EC3-6B31-4548-FF66-2B000C0F602C}"/>
              </a:ext>
            </a:extLst>
          </p:cNvPr>
          <p:cNvSpPr txBox="1"/>
          <p:nvPr/>
        </p:nvSpPr>
        <p:spPr>
          <a:xfrm>
            <a:off x="3720497" y="4426718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>
                <a:solidFill>
                  <a:srgbClr val="C00000"/>
                </a:solidFill>
              </a:rPr>
              <a:t>物理地址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2E760F-36EE-0064-2B8F-0486BF2DA291}"/>
              </a:ext>
            </a:extLst>
          </p:cNvPr>
          <p:cNvSpPr txBox="1"/>
          <p:nvPr/>
        </p:nvSpPr>
        <p:spPr>
          <a:xfrm>
            <a:off x="4835058" y="4047228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>
                <a:solidFill>
                  <a:srgbClr val="C00000"/>
                </a:solidFill>
              </a:rPr>
              <a:t>物理地址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A8BAFF2-E690-B4A5-1E67-700E3A7B47B0}"/>
              </a:ext>
            </a:extLst>
          </p:cNvPr>
          <p:cNvSpPr txBox="1"/>
          <p:nvPr/>
        </p:nvSpPr>
        <p:spPr>
          <a:xfrm>
            <a:off x="5958526" y="4426718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>
                <a:solidFill>
                  <a:srgbClr val="C00000"/>
                </a:solidFill>
              </a:rPr>
              <a:t>物理地址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E699BC0-A20E-E880-1CB7-EF2F63813063}"/>
              </a:ext>
            </a:extLst>
          </p:cNvPr>
          <p:cNvSpPr txBox="1"/>
          <p:nvPr/>
        </p:nvSpPr>
        <p:spPr>
          <a:xfrm>
            <a:off x="7091838" y="4275172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>
                <a:solidFill>
                  <a:srgbClr val="C00000"/>
                </a:solidFill>
              </a:rPr>
              <a:t>物理地址</a:t>
            </a:r>
          </a:p>
        </p:txBody>
      </p:sp>
    </p:spTree>
    <p:extLst>
      <p:ext uri="{BB962C8B-B14F-4D97-AF65-F5344CB8AC3E}">
        <p14:creationId xmlns:p14="http://schemas.microsoft.com/office/powerpoint/2010/main" val="4036128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1AB71C-A4D2-A641-AC32-5AF3886F9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929" y="260277"/>
            <a:ext cx="6624141" cy="54773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747D06D-0457-904F-BD52-7AEBCD79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回顾：启动内存布局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8B521F-0025-BC41-837C-52120DA80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3321F5-4E46-B40D-9946-DA1787B1E789}"/>
              </a:ext>
            </a:extLst>
          </p:cNvPr>
          <p:cNvSpPr txBox="1"/>
          <p:nvPr/>
        </p:nvSpPr>
        <p:spPr>
          <a:xfrm>
            <a:off x="2267744" y="5310597"/>
            <a:ext cx="80021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物理地址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7AF28E-E58D-69DC-7A1F-EEFDB878DC85}"/>
              </a:ext>
            </a:extLst>
          </p:cNvPr>
          <p:cNvSpPr txBox="1"/>
          <p:nvPr/>
        </p:nvSpPr>
        <p:spPr>
          <a:xfrm>
            <a:off x="4410472" y="5310597"/>
            <a:ext cx="800219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虚拟地址</a:t>
            </a:r>
          </a:p>
        </p:txBody>
      </p:sp>
    </p:spTree>
    <p:extLst>
      <p:ext uri="{BB962C8B-B14F-4D97-AF65-F5344CB8AC3E}">
        <p14:creationId xmlns:p14="http://schemas.microsoft.com/office/powerpoint/2010/main" val="3241312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471BB-6A5E-4545-BDB8-7B4F3776A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回顾：开启页表前后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0F6483-0993-564E-81C0-BBABC25D25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340"/>
          <a:stretch/>
        </p:blipFill>
        <p:spPr>
          <a:xfrm>
            <a:off x="539552" y="1752786"/>
            <a:ext cx="4098783" cy="220942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6C773C3-9903-384B-8019-AF1A86A333F7}"/>
              </a:ext>
            </a:extLst>
          </p:cNvPr>
          <p:cNvSpPr/>
          <p:nvPr/>
        </p:nvSpPr>
        <p:spPr>
          <a:xfrm>
            <a:off x="2915816" y="3246648"/>
            <a:ext cx="1722519" cy="303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100" dirty="0">
                <a:solidFill>
                  <a:srgbClr val="FFFF00"/>
                </a:solidFill>
              </a:rPr>
              <a:t>265</a:t>
            </a:r>
            <a:r>
              <a:rPr lang="zh-CN" altLang="en-US" sz="1100" dirty="0">
                <a:solidFill>
                  <a:srgbClr val="FFFF00"/>
                </a:solidFill>
              </a:rPr>
              <a:t>时：尚未使用页表</a:t>
            </a:r>
            <a:endParaRPr lang="en-US" altLang="zh-CN" sz="1100" dirty="0">
              <a:solidFill>
                <a:srgbClr val="FFFF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DE1781-11DA-084C-9F29-B440AFD4D5C8}"/>
              </a:ext>
            </a:extLst>
          </p:cNvPr>
          <p:cNvSpPr/>
          <p:nvPr/>
        </p:nvSpPr>
        <p:spPr>
          <a:xfrm>
            <a:off x="2123728" y="3637397"/>
            <a:ext cx="2376264" cy="303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100" dirty="0">
                <a:solidFill>
                  <a:srgbClr val="FFFF00"/>
                </a:solidFill>
              </a:rPr>
              <a:t>267</a:t>
            </a:r>
            <a:r>
              <a:rPr lang="zh-CN" altLang="en-US" sz="1100" dirty="0">
                <a:solidFill>
                  <a:srgbClr val="FFFF00"/>
                </a:solidFill>
              </a:rPr>
              <a:t>时：</a:t>
            </a:r>
            <a:r>
              <a:rPr lang="en-US" altLang="zh-CN" sz="1100" dirty="0">
                <a:solidFill>
                  <a:srgbClr val="FFFF00"/>
                </a:solidFill>
              </a:rPr>
              <a:t>PC</a:t>
            </a:r>
            <a:r>
              <a:rPr lang="zh-CN" altLang="en-US" sz="1100" dirty="0">
                <a:solidFill>
                  <a:srgbClr val="FFFF00"/>
                </a:solidFill>
              </a:rPr>
              <a:t>等地址已经过</a:t>
            </a:r>
            <a:r>
              <a:rPr lang="en-US" altLang="zh-CN" sz="1100" dirty="0">
                <a:solidFill>
                  <a:srgbClr val="FFFF00"/>
                </a:solidFill>
              </a:rPr>
              <a:t>MMU</a:t>
            </a:r>
            <a:r>
              <a:rPr lang="zh-CN" altLang="en-US" sz="1100" dirty="0">
                <a:solidFill>
                  <a:srgbClr val="FFFF00"/>
                </a:solidFill>
              </a:rPr>
              <a:t>翻译</a:t>
            </a:r>
            <a:endParaRPr lang="en-US" altLang="zh-CN" sz="1100" dirty="0">
              <a:solidFill>
                <a:srgbClr val="FFFF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67EECF-974F-F043-837F-97E84B4244EA}"/>
              </a:ext>
            </a:extLst>
          </p:cNvPr>
          <p:cNvSpPr/>
          <p:nvPr/>
        </p:nvSpPr>
        <p:spPr>
          <a:xfrm>
            <a:off x="539552" y="4091402"/>
            <a:ext cx="3988090" cy="1141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400" b="1" dirty="0"/>
              <a:t>执行</a:t>
            </a:r>
            <a:r>
              <a:rPr lang="en-US" altLang="zh-CN" sz="1400" b="1" dirty="0"/>
              <a:t>267</a:t>
            </a:r>
            <a:r>
              <a:rPr lang="zh-CN" altLang="en-US" sz="1400" b="1" dirty="0"/>
              <a:t>行，为何能顺利执行？</a:t>
            </a:r>
            <a:endParaRPr lang="en-US" altLang="zh-CN" sz="1400" b="1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页表不是在低地址区域（</a:t>
            </a:r>
            <a:r>
              <a:rPr lang="en-US" altLang="zh-CN" sz="1200" dirty="0"/>
              <a:t>0-1G</a:t>
            </a:r>
            <a:r>
              <a:rPr lang="zh-CN" altLang="en-US" sz="1200" dirty="0"/>
              <a:t>）么？</a:t>
            </a:r>
            <a:endParaRPr lang="en-US" altLang="zh-CN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虚拟地址和物理地址完全相同</a:t>
            </a:r>
            <a:endParaRPr lang="en-US" altLang="zh-CN" sz="1200" dirty="0"/>
          </a:p>
          <a:p>
            <a:pPr marL="171450" indent="-1714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回想下页表中的映射（</a:t>
            </a:r>
            <a:r>
              <a:rPr lang="en-US" altLang="zh-CN" sz="1200" dirty="0"/>
              <a:t>TTBR1</a:t>
            </a:r>
            <a:r>
              <a:rPr lang="zh-CN" altLang="en-US" sz="1200" dirty="0"/>
              <a:t>）</a:t>
            </a:r>
            <a:endParaRPr lang="en-US" altLang="zh-CN" sz="12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0B073B9-F66C-7A46-A0CA-6BA2AEEDE3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065"/>
          <a:stretch/>
        </p:blipFill>
        <p:spPr>
          <a:xfrm>
            <a:off x="539552" y="1296905"/>
            <a:ext cx="4098783" cy="4535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6E2CA1A-FF34-1D45-9A2A-303ACE4B1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044" y="281874"/>
            <a:ext cx="3816424" cy="368392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E473C00-59EE-D546-9CEF-DBD99FB6DBEE}"/>
              </a:ext>
            </a:extLst>
          </p:cNvPr>
          <p:cNvSpPr/>
          <p:nvPr/>
        </p:nvSpPr>
        <p:spPr>
          <a:xfrm>
            <a:off x="4998328" y="4090272"/>
            <a:ext cx="3786140" cy="1656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1400" b="1" dirty="0" err="1"/>
              <a:t>start_kernel</a:t>
            </a:r>
            <a:r>
              <a:rPr lang="zh-CN" altLang="en-US" sz="1400" b="1" dirty="0"/>
              <a:t>位于高地址段：</a:t>
            </a:r>
            <a:endParaRPr lang="en-US" altLang="zh-CN" sz="1400" b="1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" altLang="zh-CN" sz="1200" dirty="0"/>
              <a:t>0xffffff0000000000</a:t>
            </a:r>
            <a:r>
              <a:rPr lang="zh-CN" altLang="en-US" sz="1200" dirty="0"/>
              <a:t> </a:t>
            </a:r>
            <a:r>
              <a:rPr lang="en-US" altLang="zh-CN" sz="1200" dirty="0"/>
              <a:t>+</a:t>
            </a:r>
            <a:r>
              <a:rPr lang="zh-CN" altLang="en-US" sz="1200" dirty="0"/>
              <a:t> </a:t>
            </a:r>
            <a:r>
              <a:rPr lang="en-US" altLang="zh-CN" sz="1200" dirty="0" err="1"/>
              <a:t>init_end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从 </a:t>
            </a:r>
            <a:r>
              <a:rPr lang="en-US" altLang="zh-CN" sz="1200" dirty="0" err="1"/>
              <a:t>init_c</a:t>
            </a:r>
            <a:r>
              <a:rPr lang="zh-CN" altLang="en-US" sz="1200" dirty="0"/>
              <a:t> （低地址范围）跳过去后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高地址范围的地址已经被映射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/>
              <a:t>栈在 </a:t>
            </a:r>
            <a:r>
              <a:rPr lang="en-US" altLang="zh-CN" sz="1200" dirty="0" err="1"/>
              <a:t>start_kernel</a:t>
            </a:r>
            <a:r>
              <a:rPr lang="zh-CN" altLang="en-US" sz="1200" dirty="0"/>
              <a:t> 已经换成了高地址</a:t>
            </a:r>
            <a:endParaRPr lang="en-US" altLang="zh-CN" sz="1200" dirty="0"/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98353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72BE1-5258-C14D-95B6-5D156037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回顾：从实验内核看系统初始化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BC31D6-7F7A-1040-B2F4-17299072A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设置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异常级别为</a:t>
            </a:r>
            <a:r>
              <a:rPr kumimoji="1" lang="en-US" altLang="zh-CN" sz="2400" dirty="0"/>
              <a:t>EL1</a:t>
            </a:r>
          </a:p>
          <a:p>
            <a:r>
              <a:rPr kumimoji="1" lang="zh-CN" altLang="en-US" sz="2400" dirty="0"/>
              <a:t>设置页表并开启虚拟内存机制</a:t>
            </a:r>
            <a:endParaRPr kumimoji="1" lang="en-US" altLang="zh-CN" sz="2400" dirty="0"/>
          </a:p>
          <a:p>
            <a:pPr lvl="1"/>
            <a:r>
              <a:rPr kumimoji="1" lang="en-US" altLang="zh-CN" sz="2200" dirty="0"/>
              <a:t>TTBR0_EL1:</a:t>
            </a:r>
            <a:r>
              <a:rPr kumimoji="1" lang="zh-CN" altLang="en-US" sz="2200" dirty="0"/>
              <a:t> 虚拟地址 </a:t>
            </a:r>
            <a:r>
              <a:rPr kumimoji="1" lang="en-US" altLang="zh-CN" sz="2200" dirty="0"/>
              <a:t>=</a:t>
            </a:r>
            <a:r>
              <a:rPr kumimoji="1" lang="zh-CN" altLang="en-US" sz="2200" dirty="0"/>
              <a:t> 物理地址</a:t>
            </a:r>
            <a:endParaRPr kumimoji="1" lang="en-US" altLang="zh-CN" sz="2200" dirty="0"/>
          </a:p>
          <a:p>
            <a:pPr lvl="1"/>
            <a:r>
              <a:rPr kumimoji="1" lang="en-US" altLang="zh-CN" sz="2200" dirty="0"/>
              <a:t>TTBR1_EL1:</a:t>
            </a:r>
            <a:r>
              <a:rPr kumimoji="1" lang="zh-CN" altLang="en-US" sz="2200" dirty="0"/>
              <a:t> 虚拟地址 </a:t>
            </a:r>
            <a:r>
              <a:rPr kumimoji="1" lang="en-US" altLang="zh-CN" sz="2200" dirty="0"/>
              <a:t>=</a:t>
            </a:r>
            <a:r>
              <a:rPr kumimoji="1" lang="zh-CN" altLang="en-US" sz="2200" dirty="0"/>
              <a:t> 物理地址 </a:t>
            </a:r>
            <a:r>
              <a:rPr kumimoji="1" lang="en-US" altLang="zh-CN" sz="2200" dirty="0"/>
              <a:t>+</a:t>
            </a:r>
            <a:r>
              <a:rPr kumimoji="1" lang="zh-CN" altLang="en-US" sz="2200" dirty="0"/>
              <a:t> </a:t>
            </a:r>
            <a:r>
              <a:rPr kumimoji="1" lang="en-US" altLang="zh-CN" sz="2200" dirty="0"/>
              <a:t>OFFSET</a:t>
            </a:r>
          </a:p>
          <a:p>
            <a:r>
              <a:rPr kumimoji="1" lang="zh-CN" altLang="en-US" sz="2400" dirty="0"/>
              <a:t>设置异常向量表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每个异常向量表项跳转到对应的异常处理函数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处理异常前保存进程上下文、返回进程前恢复其上下文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AE4523-DF7F-C24D-B947-FC6257CD7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279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FBA11-E272-7F48-BDC3-638B10E13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内容提纲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039A63-4FB9-314B-A7C3-A1671536B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2C8CAA-761A-E648-874F-1D6AD66F8BD3}"/>
              </a:ext>
            </a:extLst>
          </p:cNvPr>
          <p:cNvSpPr/>
          <p:nvPr/>
        </p:nvSpPr>
        <p:spPr>
          <a:xfrm>
            <a:off x="2559596" y="3749878"/>
            <a:ext cx="5688632" cy="86409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硬件层：</a:t>
            </a:r>
            <a:r>
              <a:rPr kumimoji="1" lang="en-US" altLang="zh-CN" sz="2000" dirty="0">
                <a:latin typeface="+mn-ea"/>
              </a:rPr>
              <a:t>CPU</a:t>
            </a:r>
            <a:r>
              <a:rPr kumimoji="1" lang="zh-CN" altLang="en-US" sz="2000" dirty="0">
                <a:latin typeface="+mn-ea"/>
              </a:rPr>
              <a:t>将虚拟地址翻译为物理地址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AE2A80-2E0B-E64F-BB5F-391FBC4555B3}"/>
              </a:ext>
            </a:extLst>
          </p:cNvPr>
          <p:cNvSpPr/>
          <p:nvPr/>
        </p:nvSpPr>
        <p:spPr>
          <a:xfrm>
            <a:off x="2555776" y="2690480"/>
            <a:ext cx="568863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+mn-ea"/>
              </a:rPr>
              <a:t>操作系统层：内存管理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67208B-CDAA-C542-B77F-FEEC347D5D92}"/>
              </a:ext>
            </a:extLst>
          </p:cNvPr>
          <p:cNvSpPr/>
          <p:nvPr/>
        </p:nvSpPr>
        <p:spPr>
          <a:xfrm>
            <a:off x="2555776" y="1633364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-1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ABCCA73-900E-6743-B196-A4DE7033BACE}"/>
              </a:ext>
            </a:extLst>
          </p:cNvPr>
          <p:cNvSpPr/>
          <p:nvPr/>
        </p:nvSpPr>
        <p:spPr>
          <a:xfrm>
            <a:off x="5612296" y="1640408"/>
            <a:ext cx="2632112" cy="86409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应用程序</a:t>
            </a:r>
            <a:r>
              <a:rPr kumimoji="1" lang="en-US" altLang="zh-CN" dirty="0">
                <a:latin typeface="+mn-ea"/>
              </a:rPr>
              <a:t>-2</a:t>
            </a:r>
            <a:br>
              <a:rPr kumimoji="1" lang="en-US" altLang="zh-CN" sz="2000" dirty="0">
                <a:latin typeface="+mn-ea"/>
              </a:rPr>
            </a:br>
            <a:r>
              <a:rPr kumimoji="1" lang="zh-CN" altLang="en-US" sz="2000" dirty="0">
                <a:latin typeface="+mn-ea"/>
              </a:rPr>
              <a:t>独立内存地址空间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E260D6B-5CC7-6444-8270-9A749D74BA9E}"/>
              </a:ext>
            </a:extLst>
          </p:cNvPr>
          <p:cNvSpPr txBox="1"/>
          <p:nvPr/>
        </p:nvSpPr>
        <p:spPr>
          <a:xfrm>
            <a:off x="769124" y="350557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地址翻译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39AC5E-C1BA-C245-9770-FCACF554BA1F}"/>
              </a:ext>
            </a:extLst>
          </p:cNvPr>
          <p:cNvSpPr txBox="1"/>
          <p:nvPr/>
        </p:nvSpPr>
        <p:spPr>
          <a:xfrm>
            <a:off x="754698" y="238538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/>
              <a:t>虚拟内存</a:t>
            </a:r>
          </a:p>
        </p:txBody>
      </p:sp>
      <p:sp>
        <p:nvSpPr>
          <p:cNvPr id="16" name="环形箭头 15">
            <a:extLst>
              <a:ext uri="{FF2B5EF4-FFF2-40B4-BE49-F238E27FC236}">
                <a16:creationId xmlns:a16="http://schemas.microsoft.com/office/drawing/2014/main" id="{DF056264-6462-FD4D-8629-E5F405976E33}"/>
              </a:ext>
            </a:extLst>
          </p:cNvPr>
          <p:cNvSpPr/>
          <p:nvPr/>
        </p:nvSpPr>
        <p:spPr>
          <a:xfrm rot="16200000">
            <a:off x="2072860" y="2188288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7" name="环形箭头 16">
            <a:extLst>
              <a:ext uri="{FF2B5EF4-FFF2-40B4-BE49-F238E27FC236}">
                <a16:creationId xmlns:a16="http://schemas.microsoft.com/office/drawing/2014/main" id="{77D317F9-0E0B-A342-8245-582F9DAC98FA}"/>
              </a:ext>
            </a:extLst>
          </p:cNvPr>
          <p:cNvSpPr/>
          <p:nvPr/>
        </p:nvSpPr>
        <p:spPr>
          <a:xfrm rot="16200000">
            <a:off x="2072859" y="3287684"/>
            <a:ext cx="749807" cy="792088"/>
          </a:xfrm>
          <a:prstGeom prst="circularArrow">
            <a:avLst>
              <a:gd name="adj1" fmla="val 3960"/>
              <a:gd name="adj2" fmla="val 1142319"/>
              <a:gd name="adj3" fmla="val 20655921"/>
              <a:gd name="adj4" fmla="val 10800000"/>
              <a:gd name="adj5" fmla="val 1048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C0F8097B-CFDD-6AC1-5FF4-FDD0044C2F4E}"/>
              </a:ext>
            </a:extLst>
          </p:cNvPr>
          <p:cNvSpPr/>
          <p:nvPr/>
        </p:nvSpPr>
        <p:spPr>
          <a:xfrm>
            <a:off x="539552" y="2631820"/>
            <a:ext cx="8496944" cy="1017768"/>
          </a:xfrm>
          <a:prstGeom prst="round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424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D95D3-25A1-B546-8392-B29696C8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设置页表映射是操作系统的职责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0E7621-B0B0-CD4A-BD93-2936AB4F7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TTBR0_EL1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TTBR1_EL1</a:t>
            </a:r>
            <a:r>
              <a:rPr kumimoji="1" lang="zh-CN" altLang="en-US" dirty="0"/>
              <a:t>分别指向内核和应用页表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EFC0B1-F94A-0B49-A87D-ADD84207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CEF9FA-B620-CF4A-BFA2-0F96946847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137420"/>
            <a:ext cx="82423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22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D98C0-D069-90FD-403C-9067311E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何时设置页表映射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D1182A-7A7C-6163-8F6F-1AC39955C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操作系统自己使用的页表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在启动时填写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映射全部物理内存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虚拟地址 </a:t>
            </a:r>
            <a:r>
              <a:rPr kumimoji="1" lang="en-US" altLang="zh-CN" dirty="0"/>
              <a:t>=</a:t>
            </a:r>
            <a:r>
              <a:rPr kumimoji="1" lang="zh-CN" altLang="en-US" dirty="0"/>
              <a:t> 物理地址 </a:t>
            </a:r>
            <a:r>
              <a:rPr kumimoji="1" lang="en-US" altLang="zh-CN" dirty="0"/>
              <a:t>+</a:t>
            </a:r>
            <a:r>
              <a:rPr kumimoji="1" lang="zh-CN" altLang="en-US" dirty="0"/>
              <a:t> 固定偏移（</a:t>
            </a:r>
            <a:r>
              <a:rPr kumimoji="1" lang="zh-CN" altLang="en-US" b="1" dirty="0">
                <a:solidFill>
                  <a:srgbClr val="C00000"/>
                </a:solidFill>
              </a:rPr>
              <a:t>直接映射，</a:t>
            </a:r>
            <a:r>
              <a:rPr kumimoji="1" lang="en-US" altLang="zh-CN" b="1" dirty="0">
                <a:solidFill>
                  <a:srgbClr val="C00000"/>
                </a:solidFill>
              </a:rPr>
              <a:t>Direct</a:t>
            </a:r>
            <a:r>
              <a:rPr kumimoji="1" lang="zh-CN" altLang="en-US" b="1" dirty="0">
                <a:solidFill>
                  <a:srgbClr val="C00000"/>
                </a:solidFill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</a:rPr>
              <a:t>Mapping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思考：为什么需要直接映射？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应用进程的页表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何时设置？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A334B9-BD3D-7E55-8A5A-A1FE8BE1E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760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382248B-9DF2-3AFD-DDFC-77343F6E5DBF}"/>
              </a:ext>
            </a:extLst>
          </p:cNvPr>
          <p:cNvGrpSpPr/>
          <p:nvPr/>
        </p:nvGrpSpPr>
        <p:grpSpPr>
          <a:xfrm>
            <a:off x="7020272" y="1921396"/>
            <a:ext cx="1854301" cy="2589662"/>
            <a:chOff x="1390486" y="1417340"/>
            <a:chExt cx="2605450" cy="3879622"/>
          </a:xfrm>
        </p:grpSpPr>
        <p:pic>
          <p:nvPicPr>
            <p:cNvPr id="5" name="内容占位符 5">
              <a:extLst>
                <a:ext uri="{FF2B5EF4-FFF2-40B4-BE49-F238E27FC236}">
                  <a16:creationId xmlns:a16="http://schemas.microsoft.com/office/drawing/2014/main" id="{AA5159CE-600D-34D4-C16D-276A94CD70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16" r="59053"/>
            <a:stretch/>
          </p:blipFill>
          <p:spPr>
            <a:xfrm>
              <a:off x="1390486" y="1417340"/>
              <a:ext cx="2605450" cy="3879622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717E055-18EC-8E02-9737-C0C26A999AB6}"/>
                </a:ext>
              </a:extLst>
            </p:cNvPr>
            <p:cNvSpPr/>
            <p:nvPr/>
          </p:nvSpPr>
          <p:spPr>
            <a:xfrm>
              <a:off x="1547664" y="2641476"/>
              <a:ext cx="1080120" cy="504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869DF544-BDE2-E0A7-000F-978AA3478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何时填写进程页表：立即映射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10D95-A6C5-5CC2-4549-F34978D11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创建进程时，</a:t>
            </a:r>
            <a:r>
              <a:rPr kumimoji="1" lang="en-US" altLang="zh-CN" dirty="0"/>
              <a:t>OS</a:t>
            </a:r>
            <a:r>
              <a:rPr kumimoji="1" lang="zh-CN" altLang="en-US" dirty="0"/>
              <a:t>按照虚拟内存区域填写进程页表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例如，代码段和数据段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具体步骤：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步骤</a:t>
            </a:r>
            <a:r>
              <a:rPr kumimoji="1" lang="en-US" altLang="zh-CN" dirty="0"/>
              <a:t>-1:</a:t>
            </a:r>
            <a:r>
              <a:rPr kumimoji="1" lang="zh-CN" altLang="en-US" dirty="0"/>
              <a:t> 分配物理页（</a:t>
            </a:r>
            <a:r>
              <a:rPr kumimoji="1" lang="en-US" altLang="zh-CN" dirty="0" err="1"/>
              <a:t>alloc_page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步骤</a:t>
            </a:r>
            <a:r>
              <a:rPr kumimoji="1" lang="en-US" altLang="zh-CN" dirty="0"/>
              <a:t>-2:</a:t>
            </a:r>
            <a:r>
              <a:rPr kumimoji="1" lang="zh-CN" altLang="en-US" dirty="0"/>
              <a:t> 把应用代码</a:t>
            </a:r>
            <a:r>
              <a:rPr kumimoji="1" lang="en-US" altLang="zh-CN" dirty="0"/>
              <a:t>/</a:t>
            </a:r>
            <a:r>
              <a:rPr kumimoji="1" lang="zh-CN" altLang="en-US" dirty="0"/>
              <a:t>数据从磁盘加载到物理页中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步骤</a:t>
            </a:r>
            <a:r>
              <a:rPr kumimoji="1" lang="en-US" altLang="zh-CN" dirty="0"/>
              <a:t>-3:</a:t>
            </a:r>
            <a:r>
              <a:rPr kumimoji="1" lang="zh-CN" altLang="en-US" dirty="0"/>
              <a:t> 添加虚拟页到物理页的映射（</a:t>
            </a:r>
            <a:r>
              <a:rPr kumimoji="1" lang="en-US" altLang="zh-CN" dirty="0" err="1"/>
              <a:t>add_mapping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步骤</a:t>
            </a:r>
            <a:r>
              <a:rPr kumimoji="1" lang="en-US" altLang="zh-CN" dirty="0"/>
              <a:t>-4:</a:t>
            </a:r>
            <a:r>
              <a:rPr kumimoji="1" lang="zh-CN" altLang="en-US" dirty="0"/>
              <a:t> 未加载完毕，回到步骤</a:t>
            </a:r>
            <a:r>
              <a:rPr kumimoji="1" lang="en-US" altLang="zh-CN" dirty="0"/>
              <a:t>-1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260C0B-063F-A285-B49D-CFDA6DEDA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878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6E313-89F4-82DC-B9C2-D82B145D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分配物理页的简单实现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86E751-3EF4-FAB6-1772-510467962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操作系统用位图记录物理页是否空闲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0</a:t>
            </a:r>
            <a:r>
              <a:rPr kumimoji="1" lang="zh-CN" altLang="en-US" dirty="0"/>
              <a:t>：空闲；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：已分配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F6535F-1FBF-A1B6-C3B6-270EA995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BD973A5-E830-C308-37F4-6B171AEEC207}"/>
              </a:ext>
            </a:extLst>
          </p:cNvPr>
          <p:cNvSpPr/>
          <p:nvPr/>
        </p:nvSpPr>
        <p:spPr>
          <a:xfrm>
            <a:off x="1907704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4F4014-C54C-4DF5-FBC3-1AC6236F64DE}"/>
              </a:ext>
            </a:extLst>
          </p:cNvPr>
          <p:cNvSpPr/>
          <p:nvPr/>
        </p:nvSpPr>
        <p:spPr>
          <a:xfrm>
            <a:off x="2699792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265125E-6C4A-F09C-ABA5-915A3FC14486}"/>
              </a:ext>
            </a:extLst>
          </p:cNvPr>
          <p:cNvSpPr/>
          <p:nvPr/>
        </p:nvSpPr>
        <p:spPr>
          <a:xfrm>
            <a:off x="3491880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EB80BE-CD9E-18F5-7A62-EEE4CC98B457}"/>
              </a:ext>
            </a:extLst>
          </p:cNvPr>
          <p:cNvSpPr/>
          <p:nvPr/>
        </p:nvSpPr>
        <p:spPr>
          <a:xfrm>
            <a:off x="4280749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7697D2-672B-47E0-84AE-51A8DA984E41}"/>
              </a:ext>
            </a:extLst>
          </p:cNvPr>
          <p:cNvSpPr/>
          <p:nvPr/>
        </p:nvSpPr>
        <p:spPr>
          <a:xfrm>
            <a:off x="5069618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AA3602-5D09-B47C-230E-13379CFBE38B}"/>
              </a:ext>
            </a:extLst>
          </p:cNvPr>
          <p:cNvSpPr/>
          <p:nvPr/>
        </p:nvSpPr>
        <p:spPr>
          <a:xfrm>
            <a:off x="5855268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C013A9-351C-CA66-E657-603685A34233}"/>
              </a:ext>
            </a:extLst>
          </p:cNvPr>
          <p:cNvSpPr/>
          <p:nvPr/>
        </p:nvSpPr>
        <p:spPr>
          <a:xfrm>
            <a:off x="6644137" y="3865612"/>
            <a:ext cx="792088" cy="7200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9E464D7-264E-3751-E6A6-96088DEBFAA9}"/>
              </a:ext>
            </a:extLst>
          </p:cNvPr>
          <p:cNvSpPr txBox="1"/>
          <p:nvPr/>
        </p:nvSpPr>
        <p:spPr>
          <a:xfrm>
            <a:off x="988004" y="404098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物理页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E4594F-E79B-1B8E-42C4-1FD4CC88EA64}"/>
              </a:ext>
            </a:extLst>
          </p:cNvPr>
          <p:cNvSpPr txBox="1"/>
          <p:nvPr/>
        </p:nvSpPr>
        <p:spPr>
          <a:xfrm>
            <a:off x="969472" y="317079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Bitmap: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A4CF0F-C404-15D5-A76D-F6971193A34C}"/>
              </a:ext>
            </a:extLst>
          </p:cNvPr>
          <p:cNvSpPr txBox="1"/>
          <p:nvPr/>
        </p:nvSpPr>
        <p:spPr>
          <a:xfrm>
            <a:off x="2147295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64D36A-130F-8FEB-1E9B-8E835B4285E0}"/>
              </a:ext>
            </a:extLst>
          </p:cNvPr>
          <p:cNvSpPr txBox="1"/>
          <p:nvPr/>
        </p:nvSpPr>
        <p:spPr>
          <a:xfrm>
            <a:off x="2939383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BF6F880-3440-8372-7B70-D0880BAFB969}"/>
              </a:ext>
            </a:extLst>
          </p:cNvPr>
          <p:cNvSpPr txBox="1"/>
          <p:nvPr/>
        </p:nvSpPr>
        <p:spPr>
          <a:xfrm>
            <a:off x="3751519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B29CB3D-5C41-B139-1AB8-C29DFEFD9D26}"/>
              </a:ext>
            </a:extLst>
          </p:cNvPr>
          <p:cNvSpPr txBox="1"/>
          <p:nvPr/>
        </p:nvSpPr>
        <p:spPr>
          <a:xfrm>
            <a:off x="4543607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6C2909D-8128-4DB8-EC3D-BD33B65C8F25}"/>
              </a:ext>
            </a:extLst>
          </p:cNvPr>
          <p:cNvSpPr txBox="1"/>
          <p:nvPr/>
        </p:nvSpPr>
        <p:spPr>
          <a:xfrm>
            <a:off x="5326867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7C366E2-089F-98DD-C67C-FBB15F2A9DA7}"/>
              </a:ext>
            </a:extLst>
          </p:cNvPr>
          <p:cNvSpPr txBox="1"/>
          <p:nvPr/>
        </p:nvSpPr>
        <p:spPr>
          <a:xfrm>
            <a:off x="6118955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BE6862B-1024-B79A-F179-5DDE9CFE88CA}"/>
              </a:ext>
            </a:extLst>
          </p:cNvPr>
          <p:cNvSpPr txBox="1"/>
          <p:nvPr/>
        </p:nvSpPr>
        <p:spPr>
          <a:xfrm>
            <a:off x="6883728" y="317079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ABFA95F-F8D5-A18D-7080-966F24C8BBD1}"/>
              </a:ext>
            </a:extLst>
          </p:cNvPr>
          <p:cNvSpPr txBox="1"/>
          <p:nvPr/>
        </p:nvSpPr>
        <p:spPr>
          <a:xfrm>
            <a:off x="2147295" y="31672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1</a:t>
            </a:r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758C9B0-7A81-79B4-6484-0F2CEDBF427B}"/>
              </a:ext>
            </a:extLst>
          </p:cNvPr>
          <p:cNvSpPr/>
          <p:nvPr/>
        </p:nvSpPr>
        <p:spPr>
          <a:xfrm>
            <a:off x="1907704" y="3869183"/>
            <a:ext cx="792088" cy="72008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F87CF83-AD8D-1D31-1B28-20305A0BA1E2}"/>
              </a:ext>
            </a:extLst>
          </p:cNvPr>
          <p:cNvSpPr txBox="1"/>
          <p:nvPr/>
        </p:nvSpPr>
        <p:spPr>
          <a:xfrm>
            <a:off x="6779308" y="1937471"/>
            <a:ext cx="168138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 dirty="0" err="1">
                <a:solidFill>
                  <a:srgbClr val="C00000"/>
                </a:solidFill>
              </a:rPr>
              <a:t>alloc_page</a:t>
            </a:r>
            <a:r>
              <a:rPr kumimoji="1" lang="en-US" altLang="zh-CN" b="1" dirty="0">
                <a:solidFill>
                  <a:srgbClr val="C00000"/>
                </a:solidFill>
              </a:rPr>
              <a:t>()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接口的实现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60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/>
      <p:bldP spid="22" grpId="0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5DDB95-BC47-3A15-C064-C78520CD0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操作系统如何填写进程页表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690A7F-90FD-B3D9-E9B3-A421C2F12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操作系统在进程结构体中保存页表基地址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4E1AAF-FCA0-6BD5-8BFD-C8F1B7761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A28FE2-25A4-EFEC-B1C1-25C5BEA91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065412"/>
            <a:ext cx="7772400" cy="2508166"/>
          </a:xfrm>
          <a:prstGeom prst="rect">
            <a:avLst/>
          </a:prstGeom>
        </p:spPr>
      </p:pic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F981B656-7CC7-3A6B-FB9F-F126332259FC}"/>
              </a:ext>
            </a:extLst>
          </p:cNvPr>
          <p:cNvCxnSpPr/>
          <p:nvPr/>
        </p:nvCxnSpPr>
        <p:spPr>
          <a:xfrm>
            <a:off x="1331640" y="3361556"/>
            <a:ext cx="15841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288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07F6AD0E-7CAF-5561-0178-F30F0FAB15C6}"/>
              </a:ext>
            </a:extLst>
          </p:cNvPr>
          <p:cNvGrpSpPr/>
          <p:nvPr/>
        </p:nvGrpSpPr>
        <p:grpSpPr>
          <a:xfrm>
            <a:off x="5796136" y="2770007"/>
            <a:ext cx="3418610" cy="1328621"/>
            <a:chOff x="721342" y="1921396"/>
            <a:chExt cx="6697750" cy="2603037"/>
          </a:xfrm>
        </p:grpSpPr>
        <p:pic>
          <p:nvPicPr>
            <p:cNvPr id="8" name="内容占位符 5">
              <a:extLst>
                <a:ext uri="{FF2B5EF4-FFF2-40B4-BE49-F238E27FC236}">
                  <a16:creationId xmlns:a16="http://schemas.microsoft.com/office/drawing/2014/main" id="{153E07FD-9658-DABA-2AA8-A971E32FE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342" y="1921396"/>
              <a:ext cx="6697750" cy="2603037"/>
            </a:xfrm>
            <a:prstGeom prst="rect">
              <a:avLst/>
            </a:prstGeom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86939AC-0796-9FF8-3DEF-58AD7E47ED23}"/>
                </a:ext>
              </a:extLst>
            </p:cNvPr>
            <p:cNvSpPr/>
            <p:nvPr/>
          </p:nvSpPr>
          <p:spPr>
            <a:xfrm>
              <a:off x="2699792" y="3865899"/>
              <a:ext cx="1152128" cy="575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382B77F-7798-0B52-CFF3-FC63CA85C37F}"/>
                </a:ext>
              </a:extLst>
            </p:cNvPr>
            <p:cNvSpPr/>
            <p:nvPr/>
          </p:nvSpPr>
          <p:spPr>
            <a:xfrm>
              <a:off x="3923928" y="3865898"/>
              <a:ext cx="1152128" cy="575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A0D2A33-D8A2-D2A3-C5B9-32DF1BDFBD89}"/>
                </a:ext>
              </a:extLst>
            </p:cNvPr>
            <p:cNvSpPr/>
            <p:nvPr/>
          </p:nvSpPr>
          <p:spPr>
            <a:xfrm>
              <a:off x="5140844" y="3848828"/>
              <a:ext cx="2278247" cy="575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AC0BABE-3F51-09BC-B714-6537B6433DFC}"/>
                </a:ext>
              </a:extLst>
            </p:cNvPr>
            <p:cNvSpPr/>
            <p:nvPr/>
          </p:nvSpPr>
          <p:spPr>
            <a:xfrm>
              <a:off x="3908661" y="3495251"/>
              <a:ext cx="278282" cy="575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B2EFB04-DA57-D513-ADE2-ABFEC9CDAC84}"/>
                </a:ext>
              </a:extLst>
            </p:cNvPr>
            <p:cNvSpPr/>
            <p:nvPr/>
          </p:nvSpPr>
          <p:spPr>
            <a:xfrm>
              <a:off x="5140844" y="3187634"/>
              <a:ext cx="377191" cy="7499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8A8A8FC-9DAE-B0A2-A261-43265BF594E5}"/>
                </a:ext>
              </a:extLst>
            </p:cNvPr>
            <p:cNvSpPr/>
            <p:nvPr/>
          </p:nvSpPr>
          <p:spPr>
            <a:xfrm>
              <a:off x="6351503" y="2482506"/>
              <a:ext cx="377191" cy="138339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3ED4486-1D7E-A5C6-3085-3ACAE60F5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填写进程页表的代码实现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1FE38B36-2C5D-4428-15A2-839C891C3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83" y="1272857"/>
            <a:ext cx="4882934" cy="444198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B0ABF0-D158-4049-B075-7E77B1F13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80C0E4E-1BFC-7469-3D51-D2CF3C3AEBF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04" b="33968"/>
          <a:stretch/>
        </p:blipFill>
        <p:spPr>
          <a:xfrm>
            <a:off x="6243028" y="1272857"/>
            <a:ext cx="2147108" cy="100782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BAA5377-D90D-354F-5260-838107DA7B34}"/>
              </a:ext>
            </a:extLst>
          </p:cNvPr>
          <p:cNvSpPr txBox="1"/>
          <p:nvPr/>
        </p:nvSpPr>
        <p:spPr>
          <a:xfrm>
            <a:off x="2699792" y="1921396"/>
            <a:ext cx="2406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  <a:latin typeface="+mn-ea"/>
              </a:rPr>
              <a:t>问：</a:t>
            </a:r>
            <a:r>
              <a:rPr kumimoji="1" lang="en-US" altLang="zh-CN" sz="1200" dirty="0" err="1">
                <a:solidFill>
                  <a:srgbClr val="C00000"/>
                </a:solidFill>
                <a:latin typeface="+mn-ea"/>
              </a:rPr>
              <a:t>paddr_to_vaddr</a:t>
            </a:r>
            <a:r>
              <a:rPr kumimoji="1" lang="zh-CN" altLang="en-US" sz="1200" dirty="0">
                <a:solidFill>
                  <a:srgbClr val="C00000"/>
                </a:solidFill>
                <a:latin typeface="+mn-ea"/>
              </a:rPr>
              <a:t>如何实现？</a:t>
            </a:r>
          </a:p>
        </p:txBody>
      </p:sp>
    </p:spTree>
    <p:extLst>
      <p:ext uri="{BB962C8B-B14F-4D97-AF65-F5344CB8AC3E}">
        <p14:creationId xmlns:p14="http://schemas.microsoft.com/office/powerpoint/2010/main" val="119633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FE8F1C-EAA8-D090-4F24-DDD33135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填写进程页表的代码实现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550E2F6-26AA-A43C-AD28-8E6C7410E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"/>
          <a:stretch/>
        </p:blipFill>
        <p:spPr>
          <a:xfrm>
            <a:off x="457200" y="1849388"/>
            <a:ext cx="5235209" cy="2304256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B3E7EC-0493-3FB3-782D-5532669C7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923AE2-C97E-409F-C73A-923E959E31B1}"/>
              </a:ext>
            </a:extLst>
          </p:cNvPr>
          <p:cNvSpPr txBox="1"/>
          <p:nvPr/>
        </p:nvSpPr>
        <p:spPr>
          <a:xfrm>
            <a:off x="2987824" y="2065412"/>
            <a:ext cx="30396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  <a:latin typeface="+mn-ea"/>
              </a:rPr>
              <a:t>问：参数</a:t>
            </a:r>
            <a:r>
              <a:rPr kumimoji="1" lang="en-US" altLang="zh-CN" sz="1200" dirty="0" err="1">
                <a:solidFill>
                  <a:srgbClr val="C00000"/>
                </a:solidFill>
                <a:latin typeface="+mn-ea"/>
              </a:rPr>
              <a:t>pgtbl</a:t>
            </a:r>
            <a:r>
              <a:rPr kumimoji="1" lang="zh-CN" altLang="en-US" sz="1200" dirty="0">
                <a:solidFill>
                  <a:srgbClr val="C00000"/>
                </a:solidFill>
                <a:latin typeface="+mn-ea"/>
              </a:rPr>
              <a:t>是虚拟地址还是物理地址？</a:t>
            </a:r>
          </a:p>
        </p:txBody>
      </p:sp>
      <p:pic>
        <p:nvPicPr>
          <p:cNvPr id="8" name="内容占位符 5">
            <a:extLst>
              <a:ext uri="{FF2B5EF4-FFF2-40B4-BE49-F238E27FC236}">
                <a16:creationId xmlns:a16="http://schemas.microsoft.com/office/drawing/2014/main" id="{41D0B7B9-38BA-72F9-1E09-72FB8E3FEE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232"/>
          <a:stretch/>
        </p:blipFill>
        <p:spPr>
          <a:xfrm>
            <a:off x="4355976" y="4987970"/>
            <a:ext cx="3864016" cy="617984"/>
          </a:xfrm>
          <a:prstGeom prst="rect">
            <a:avLst/>
          </a:prstGeom>
        </p:spPr>
      </p:pic>
      <p:pic>
        <p:nvPicPr>
          <p:cNvPr id="9" name="内容占位符 5">
            <a:extLst>
              <a:ext uri="{FF2B5EF4-FFF2-40B4-BE49-F238E27FC236}">
                <a16:creationId xmlns:a16="http://schemas.microsoft.com/office/drawing/2014/main" id="{7EA4F66A-40C6-7DB5-93A7-9DC5CEE39D5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22"/>
          <a:stretch/>
        </p:blipFill>
        <p:spPr>
          <a:xfrm>
            <a:off x="4355976" y="4268481"/>
            <a:ext cx="3864016" cy="65589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6B3E865-EDF5-33D3-A9EA-8B5D5FE72B72}"/>
              </a:ext>
            </a:extLst>
          </p:cNvPr>
          <p:cNvSpPr/>
          <p:nvPr/>
        </p:nvSpPr>
        <p:spPr>
          <a:xfrm>
            <a:off x="7236296" y="2249256"/>
            <a:ext cx="1080120" cy="13850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42C340-5520-1FC2-A6ED-8F693781DAED}"/>
              </a:ext>
            </a:extLst>
          </p:cNvPr>
          <p:cNvSpPr/>
          <p:nvPr/>
        </p:nvSpPr>
        <p:spPr>
          <a:xfrm>
            <a:off x="7236296" y="2244535"/>
            <a:ext cx="1080120" cy="1972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0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DED0788-11B9-47C8-1C41-30A901EF862C}"/>
              </a:ext>
            </a:extLst>
          </p:cNvPr>
          <p:cNvSpPr/>
          <p:nvPr/>
        </p:nvSpPr>
        <p:spPr>
          <a:xfrm>
            <a:off x="7237145" y="2434194"/>
            <a:ext cx="1079271" cy="1972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1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40F518-2A1C-7C97-BD28-B51E441E0457}"/>
              </a:ext>
            </a:extLst>
          </p:cNvPr>
          <p:cNvSpPr/>
          <p:nvPr/>
        </p:nvSpPr>
        <p:spPr>
          <a:xfrm>
            <a:off x="7236296" y="3437033"/>
            <a:ext cx="1079271" cy="1972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>
                <a:solidFill>
                  <a:schemeClr val="tx1"/>
                </a:solidFill>
              </a:rPr>
              <a:t>511</a:t>
            </a:r>
            <a:endParaRPr lang="zh-CN" alt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7415B2D-A3D7-98FE-57AA-742C52AD1B1E}"/>
              </a:ext>
            </a:extLst>
          </p:cNvPr>
          <p:cNvSpPr txBox="1"/>
          <p:nvPr/>
        </p:nvSpPr>
        <p:spPr>
          <a:xfrm>
            <a:off x="6553200" y="1914838"/>
            <a:ext cx="24545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+mn-ea"/>
              </a:rPr>
              <a:t>页表页：</a:t>
            </a:r>
            <a:r>
              <a:rPr kumimoji="1" lang="en-US" altLang="zh-CN" sz="1200" dirty="0">
                <a:latin typeface="+mn-ea"/>
              </a:rPr>
              <a:t>512</a:t>
            </a:r>
            <a:r>
              <a:rPr kumimoji="1" lang="zh-CN" altLang="en-US" sz="1200" dirty="0">
                <a:latin typeface="+mn-ea"/>
              </a:rPr>
              <a:t>个页表项组成的数组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E208843-DFB9-6309-6F0F-015D697AA946}"/>
              </a:ext>
            </a:extLst>
          </p:cNvPr>
          <p:cNvSpPr txBox="1"/>
          <p:nvPr/>
        </p:nvSpPr>
        <p:spPr>
          <a:xfrm>
            <a:off x="2987823" y="2621074"/>
            <a:ext cx="25004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C00000"/>
                </a:solidFill>
                <a:latin typeface="+mn-ea"/>
              </a:rPr>
              <a:t>问：</a:t>
            </a:r>
            <a:r>
              <a:rPr kumimoji="1" lang="en-US" altLang="zh-CN" sz="1200" dirty="0" err="1">
                <a:solidFill>
                  <a:srgbClr val="C00000"/>
                </a:solidFill>
                <a:latin typeface="+mn-ea"/>
              </a:rPr>
              <a:t>alloc_pgtbl_page</a:t>
            </a:r>
            <a:r>
              <a:rPr kumimoji="1" lang="zh-CN" altLang="en-US" sz="1200" dirty="0">
                <a:solidFill>
                  <a:srgbClr val="C00000"/>
                </a:solidFill>
                <a:latin typeface="+mn-ea"/>
              </a:rPr>
              <a:t>如何实现？</a:t>
            </a:r>
          </a:p>
        </p:txBody>
      </p:sp>
    </p:spTree>
    <p:extLst>
      <p:ext uri="{BB962C8B-B14F-4D97-AF65-F5344CB8AC3E}">
        <p14:creationId xmlns:p14="http://schemas.microsoft.com/office/powerpoint/2010/main" val="173437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9A6D3A-3A7A-F182-38F4-CDF35F3F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立即映射的弊端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EBB9B7-F3AA-973E-A972-0CABD3172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 fontScale="92500"/>
          </a:bodyPr>
          <a:lstStyle/>
          <a:p>
            <a:r>
              <a:rPr kumimoji="1" lang="zh-CN" altLang="en-US" dirty="0"/>
              <a:t>立即映射是一种操作系统可以选择的页表填写策略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在初始化进程虚拟地址空间时，直接在进程页表中添加各虚拟内存区域的映射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潜在弊端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以关卡</a:t>
            </a:r>
            <a:r>
              <a:rPr kumimoji="1" lang="en-US" altLang="zh-CN" dirty="0"/>
              <a:t>/</a:t>
            </a:r>
            <a:r>
              <a:rPr kumimoji="1" lang="zh-CN" altLang="en-US" dirty="0"/>
              <a:t>副本类型游戏加载为例：只玩</a:t>
            </a:r>
            <a:r>
              <a:rPr kumimoji="1" lang="en-US" altLang="zh-CN" dirty="0"/>
              <a:t>1</a:t>
            </a:r>
            <a:r>
              <a:rPr kumimoji="1" lang="zh-CN" altLang="en-US" dirty="0"/>
              <a:t>关，加载</a:t>
            </a:r>
            <a:r>
              <a:rPr kumimoji="1" lang="en-US" altLang="zh-CN" dirty="0"/>
              <a:t>1000</a:t>
            </a:r>
            <a:r>
              <a:rPr kumimoji="1" lang="zh-CN" altLang="en-US" dirty="0"/>
              <a:t>关</a:t>
            </a:r>
            <a:endParaRPr kumimoji="1" lang="en-US" altLang="zh-CN" dirty="0"/>
          </a:p>
          <a:p>
            <a:pPr lvl="2"/>
            <a:r>
              <a:rPr kumimoji="1" lang="zh-CN" altLang="en-US" b="1" dirty="0">
                <a:latin typeface="+mn-ea"/>
                <a:ea typeface="+mn-ea"/>
              </a:rPr>
              <a:t>物理内存资源浪费</a:t>
            </a:r>
            <a:endParaRPr kumimoji="1" lang="en-US" altLang="zh-CN" b="1" dirty="0">
              <a:latin typeface="+mn-ea"/>
              <a:ea typeface="+mn-ea"/>
            </a:endParaRPr>
          </a:p>
          <a:p>
            <a:pPr lvl="2"/>
            <a:r>
              <a:rPr kumimoji="1" lang="zh-CN" altLang="en-US" b="1" dirty="0">
                <a:latin typeface="+mn-ea"/>
                <a:ea typeface="+mn-ea"/>
              </a:rPr>
              <a:t>非必要时延</a:t>
            </a:r>
            <a:endParaRPr kumimoji="1" lang="en-US" altLang="zh-CN" b="1" dirty="0">
              <a:latin typeface="+mn-ea"/>
              <a:ea typeface="+mn-ea"/>
            </a:endParaRP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AC3B5A-C2CE-30F1-D4F3-A96368DF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578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370667C-ACD4-1A4A-BBEB-B8DA37D7F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延迟映射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5D922DA-9970-1F47-93C9-3E49CD51F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操作系统填写进程页表的另一种策略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85E9B-8D63-E84B-BA7F-0C5423F9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446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FABF5ED3-AA51-8BB4-F8C0-665A1468D7F6}"/>
              </a:ext>
            </a:extLst>
          </p:cNvPr>
          <p:cNvGrpSpPr/>
          <p:nvPr/>
        </p:nvGrpSpPr>
        <p:grpSpPr>
          <a:xfrm>
            <a:off x="6812982" y="2719668"/>
            <a:ext cx="2133600" cy="2589662"/>
            <a:chOff x="6812982" y="2719668"/>
            <a:chExt cx="2133600" cy="258966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9CB160F-C868-8D24-F7CD-A738A3250EE2}"/>
                </a:ext>
              </a:extLst>
            </p:cNvPr>
            <p:cNvGrpSpPr/>
            <p:nvPr/>
          </p:nvGrpSpPr>
          <p:grpSpPr>
            <a:xfrm>
              <a:off x="6812982" y="2719668"/>
              <a:ext cx="2133600" cy="2589662"/>
              <a:chOff x="1390486" y="1417340"/>
              <a:chExt cx="2605450" cy="3573717"/>
            </a:xfrm>
          </p:grpSpPr>
          <p:pic>
            <p:nvPicPr>
              <p:cNvPr id="6" name="内容占位符 5">
                <a:extLst>
                  <a:ext uri="{FF2B5EF4-FFF2-40B4-BE49-F238E27FC236}">
                    <a16:creationId xmlns:a16="http://schemas.microsoft.com/office/drawing/2014/main" id="{2B4476B8-6DBD-F91A-1C8A-22A174196AE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117" r="59053" b="7718"/>
              <a:stretch/>
            </p:blipFill>
            <p:spPr>
              <a:xfrm>
                <a:off x="1390486" y="1417340"/>
                <a:ext cx="2605450" cy="3573717"/>
              </a:xfrm>
              <a:prstGeom prst="rect">
                <a:avLst/>
              </a:prstGeom>
            </p:spPr>
          </p:pic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42FD5A52-8A08-CECB-9F90-8DB7FCF405C6}"/>
                  </a:ext>
                </a:extLst>
              </p:cNvPr>
              <p:cNvSpPr/>
              <p:nvPr/>
            </p:nvSpPr>
            <p:spPr>
              <a:xfrm>
                <a:off x="1547664" y="2641476"/>
                <a:ext cx="1080120" cy="50405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00CC1B1-B4D0-B057-EA56-DA0E45A44212}"/>
                </a:ext>
              </a:extLst>
            </p:cNvPr>
            <p:cNvSpPr/>
            <p:nvPr/>
          </p:nvSpPr>
          <p:spPr>
            <a:xfrm>
              <a:off x="6883531" y="4297660"/>
              <a:ext cx="942673" cy="9993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E31A82F2-3FC4-A9D8-C33B-45CBE1120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延迟映射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0AEF9A-1F2B-6A90-CD08-25F00FAAA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>
                <a:latin typeface="+mn-ea"/>
                <a:ea typeface="+mn-ea"/>
              </a:rPr>
              <a:t>解决立即映射弊端的直观想法</a:t>
            </a:r>
            <a:endParaRPr kumimoji="1" lang="en-US" altLang="zh-CN" sz="2400" dirty="0">
              <a:latin typeface="+mn-ea"/>
              <a:ea typeface="+mn-ea"/>
            </a:endParaRP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操作系统</a:t>
            </a:r>
            <a:r>
              <a:rPr kumimoji="1" lang="zh-CN" altLang="en-US" sz="2000" b="1" dirty="0">
                <a:solidFill>
                  <a:srgbClr val="C00000"/>
                </a:solidFill>
                <a:latin typeface="+mn-ea"/>
                <a:ea typeface="+mn-ea"/>
              </a:rPr>
              <a:t>按进程实际需要分配</a:t>
            </a:r>
            <a:r>
              <a:rPr kumimoji="1" lang="zh-CN" altLang="en-US" sz="2000" dirty="0">
                <a:latin typeface="+mn-ea"/>
                <a:ea typeface="+mn-ea"/>
              </a:rPr>
              <a:t>物理页和填写页表，避免分配的物理页实际不被用到的情况</a:t>
            </a:r>
            <a:endParaRPr kumimoji="1" lang="en-US" altLang="zh-CN" sz="2000" dirty="0">
              <a:latin typeface="+mn-ea"/>
              <a:ea typeface="+mn-ea"/>
            </a:endParaRPr>
          </a:p>
          <a:p>
            <a:endParaRPr kumimoji="1" lang="en-US" altLang="zh-CN" sz="2400" dirty="0">
              <a:latin typeface="+mn-ea"/>
              <a:ea typeface="+mn-ea"/>
            </a:endParaRPr>
          </a:p>
          <a:p>
            <a:r>
              <a:rPr kumimoji="1" lang="zh-CN" altLang="en-US" sz="2400" dirty="0">
                <a:latin typeface="+mn-ea"/>
                <a:ea typeface="+mn-ea"/>
              </a:rPr>
              <a:t>主要思路：解耦虚拟内存分配与物理内存分配</a:t>
            </a:r>
            <a:endParaRPr kumimoji="1" lang="en-US" altLang="zh-CN" sz="2400" dirty="0">
              <a:latin typeface="+mn-ea"/>
              <a:ea typeface="+mn-ea"/>
            </a:endParaRP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先记录下为进程分配的虚拟内存区域</a:t>
            </a:r>
            <a:endParaRPr kumimoji="1" lang="en-US" altLang="zh-CN" sz="2000" dirty="0">
              <a:latin typeface="+mn-ea"/>
              <a:ea typeface="+mn-ea"/>
            </a:endParaRP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当进程实际访问某个虚拟页时，</a:t>
            </a:r>
            <a:r>
              <a:rPr kumimoji="1" lang="en-US" altLang="zh-CN" sz="2000" dirty="0">
                <a:latin typeface="+mn-ea"/>
                <a:ea typeface="+mn-ea"/>
              </a:rPr>
              <a:t>CPU </a:t>
            </a:r>
            <a:r>
              <a:rPr kumimoji="1" lang="zh-CN" altLang="en-US" sz="2000" dirty="0">
                <a:latin typeface="+mn-ea"/>
                <a:ea typeface="+mn-ea"/>
              </a:rPr>
              <a:t>会触发缺页异常</a:t>
            </a:r>
            <a:endParaRPr kumimoji="1" lang="en-US" altLang="zh-CN" sz="2000" dirty="0">
              <a:latin typeface="+mn-ea"/>
              <a:ea typeface="+mn-ea"/>
            </a:endParaRPr>
          </a:p>
          <a:p>
            <a:pPr lvl="1"/>
            <a:r>
              <a:rPr kumimoji="1" lang="zh-CN" altLang="en-US" sz="2000" dirty="0">
                <a:latin typeface="+mn-ea"/>
                <a:ea typeface="+mn-ea"/>
              </a:rPr>
              <a:t>操作系统在缺页异常处理函数中添加映射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ED7575-3A3B-4237-3946-72B26533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776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322D4-C31E-1A8E-FE00-00B5C3ABD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回顾：缺页异常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BADF33-CDAE-8BF0-443C-9F7A8918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C3E84C54-ECF1-D16F-95F6-DBA9FDB2BA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232"/>
          <a:stretch/>
        </p:blipFill>
        <p:spPr>
          <a:xfrm>
            <a:off x="707984" y="1561356"/>
            <a:ext cx="7728031" cy="1235968"/>
          </a:xfrm>
          <a:prstGeom prst="rect">
            <a:avLst/>
          </a:prstGeom>
        </p:spPr>
      </p:pic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FD02E4FF-3430-C433-2A20-6EB3B62DD5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222"/>
          <a:stretch/>
        </p:blipFill>
        <p:spPr>
          <a:xfrm>
            <a:off x="707984" y="2955709"/>
            <a:ext cx="7728031" cy="131179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FCFD7FF-7CAB-7D83-F8B9-D71F46BE8C38}"/>
              </a:ext>
            </a:extLst>
          </p:cNvPr>
          <p:cNvSpPr txBox="1"/>
          <p:nvPr/>
        </p:nvSpPr>
        <p:spPr>
          <a:xfrm>
            <a:off x="707984" y="4513361"/>
            <a:ext cx="7104376" cy="45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V</a:t>
            </a:r>
            <a:r>
              <a:rPr lang="zh-CN" altLang="en-US" dirty="0"/>
              <a:t>（</a:t>
            </a:r>
            <a:r>
              <a:rPr lang="en-US" altLang="zh-CN" dirty="0"/>
              <a:t>Valid</a:t>
            </a:r>
            <a:r>
              <a:rPr lang="zh-CN" altLang="en-US" dirty="0"/>
              <a:t>）：</a:t>
            </a:r>
            <a:r>
              <a:rPr kumimoji="1" lang="zh-CN" altLang="en-US" dirty="0"/>
              <a:t>当</a:t>
            </a:r>
            <a:r>
              <a:rPr kumimoji="1" lang="en-US" altLang="zh-CN" dirty="0"/>
              <a:t>MMU</a:t>
            </a:r>
            <a:r>
              <a:rPr kumimoji="1" lang="zh-CN" altLang="en-US" dirty="0"/>
              <a:t>查询页表项时，若</a:t>
            </a:r>
            <a:r>
              <a:rPr kumimoji="1" lang="en-US" altLang="zh-CN" dirty="0"/>
              <a:t>V=0</a:t>
            </a:r>
            <a:r>
              <a:rPr kumimoji="1" lang="zh-CN" altLang="en-US" dirty="0"/>
              <a:t>，则触发缺页异常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92877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B9B65-BEC1-B248-B559-FE620B637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操作系统需要区分合法</a:t>
            </a:r>
            <a:r>
              <a:rPr kumimoji="1" lang="en-US" altLang="zh-CN" dirty="0"/>
              <a:t>/</a:t>
            </a:r>
            <a:r>
              <a:rPr kumimoji="1" lang="zh-CN" altLang="en-US" dirty="0"/>
              <a:t>非法缺页异常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FC007FC-40EF-3949-99EE-F1729B714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37" y="1595592"/>
            <a:ext cx="5303899" cy="2435558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5C22D8-411E-4B46-B91A-67CA05FD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BF9A9B-8F69-A842-B023-F34FEEA45F1C}"/>
              </a:ext>
            </a:extLst>
          </p:cNvPr>
          <p:cNvSpPr txBox="1"/>
          <p:nvPr/>
        </p:nvSpPr>
        <p:spPr>
          <a:xfrm>
            <a:off x="5436096" y="1927635"/>
            <a:ext cx="3550972" cy="12899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dirty="0">
                <a:latin typeface="+mn-ea"/>
                <a:cs typeface="Arial" panose="020B0604020202020204" pitchFamily="34" charset="0"/>
              </a:rPr>
              <a:t>如果改变第</a:t>
            </a:r>
            <a:r>
              <a:rPr kumimoji="1" lang="en-US" altLang="zh-CN" dirty="0">
                <a:latin typeface="+mn-ea"/>
                <a:cs typeface="Arial" panose="020B0604020202020204" pitchFamily="34" charset="0"/>
              </a:rPr>
              <a:t>5</a:t>
            </a:r>
            <a:r>
              <a:rPr kumimoji="1" lang="zh-CN" altLang="en-US" dirty="0">
                <a:latin typeface="+mn-ea"/>
                <a:cs typeface="Arial" panose="020B0604020202020204" pitchFamily="34" charset="0"/>
              </a:rPr>
              <a:t>行会怎么样？比如：</a:t>
            </a:r>
            <a:endParaRPr kumimoji="1" lang="en-US" altLang="zh-CN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dirty="0">
                <a:latin typeface="+mn-ea"/>
                <a:cs typeface="Arial" panose="020B0604020202020204" pitchFamily="34" charset="0"/>
              </a:rPr>
              <a:t>char</a:t>
            </a:r>
            <a:r>
              <a:rPr kumimoji="1" lang="zh-CN" altLang="en-US" dirty="0">
                <a:latin typeface="+mn-ea"/>
                <a:cs typeface="Arial" panose="020B0604020202020204" pitchFamily="34" charset="0"/>
              </a:rPr>
              <a:t> *</a:t>
            </a:r>
            <a:r>
              <a:rPr kumimoji="1" lang="en-US" altLang="zh-CN" dirty="0">
                <a:latin typeface="+mn-ea"/>
                <a:cs typeface="Arial" panose="020B0604020202020204" pitchFamily="34" charset="0"/>
              </a:rPr>
              <a:t>p = 0x40000;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latin typeface="+mn-ea"/>
                <a:cs typeface="Arial" panose="020B0604020202020204" pitchFamily="34" charset="0"/>
              </a:rPr>
              <a:t>char *p = 0x400000000;</a:t>
            </a:r>
            <a:endParaRPr kumimoji="1" lang="zh-CN" altLang="en-US" dirty="0">
              <a:latin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57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02894D3F-7927-AF41-BD05-AC1717D56CB5}"/>
              </a:ext>
            </a:extLst>
          </p:cNvPr>
          <p:cNvGrpSpPr/>
          <p:nvPr/>
        </p:nvGrpSpPr>
        <p:grpSpPr>
          <a:xfrm>
            <a:off x="7020272" y="985292"/>
            <a:ext cx="2664296" cy="4472257"/>
            <a:chOff x="5868144" y="761507"/>
            <a:chExt cx="2664296" cy="4472257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12425AF4-B068-7D41-AF38-C0EB2272FF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842"/>
            <a:stretch/>
          </p:blipFill>
          <p:spPr>
            <a:xfrm>
              <a:off x="5868144" y="761507"/>
              <a:ext cx="1800199" cy="4384943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7CE6C41-04CB-5045-8361-9CF0C386476E}"/>
                </a:ext>
              </a:extLst>
            </p:cNvPr>
            <p:cNvSpPr/>
            <p:nvPr/>
          </p:nvSpPr>
          <p:spPr>
            <a:xfrm>
              <a:off x="7596336" y="1057300"/>
              <a:ext cx="936104" cy="41764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9" name="Rectangle 1">
            <a:extLst>
              <a:ext uri="{FF2B5EF4-FFF2-40B4-BE49-F238E27FC236}">
                <a16:creationId xmlns:a16="http://schemas.microsoft.com/office/drawing/2014/main" id="{E46A672E-952B-9D42-AB75-5301D095A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0137" y="352064"/>
            <a:ext cx="7769644" cy="818886"/>
          </a:xfrm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761970" algn="l"/>
                <a:tab pos="1523939" algn="l"/>
                <a:tab pos="2285909" algn="l"/>
                <a:tab pos="3047878" algn="l"/>
                <a:tab pos="3809848" algn="l"/>
                <a:tab pos="4571817" algn="l"/>
                <a:tab pos="5333787" algn="l"/>
                <a:tab pos="6095756" algn="l"/>
                <a:tab pos="6857726" algn="l"/>
                <a:tab pos="7619695" algn="l"/>
                <a:tab pos="8381665" algn="l"/>
              </a:tabLst>
            </a:pPr>
            <a:r>
              <a:rPr kumimoji="1" lang="zh-CN" altLang="en-US" sz="3600" dirty="0">
                <a:latin typeface="+mn-ea"/>
                <a:ea typeface="+mn-ea"/>
              </a:rPr>
              <a:t>操作系统记录为进程分配的虚拟内存区域</a:t>
            </a:r>
            <a:endParaRPr lang="en-GB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C7767A7-FB0D-0043-BC61-FCF8D3B4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226" y="1417495"/>
            <a:ext cx="8229600" cy="417646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虚拟地址空间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若干非连续的</a:t>
            </a:r>
            <a:r>
              <a:rPr kumimoji="1" lang="zh-CN" altLang="en-US" b="1" dirty="0">
                <a:solidFill>
                  <a:srgbClr val="C00000"/>
                </a:solidFill>
              </a:rPr>
              <a:t>虚拟内存区域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每个虚拟内存域中的虚拟地址都是进程可用的</a:t>
            </a:r>
            <a:endParaRPr kumimoji="1" lang="en-US" altLang="zh-CN" dirty="0"/>
          </a:p>
          <a:p>
            <a:pPr lvl="3">
              <a:lnSpc>
                <a:spcPct val="150000"/>
              </a:lnSpc>
            </a:pPr>
            <a:r>
              <a:rPr lang="zh-CN" altLang="en-US" baseline="0" dirty="0"/>
              <a:t>具有相同的访问权限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例如：代码、数据、堆、栈</a:t>
            </a:r>
            <a:endParaRPr kumimoji="1" lang="en-US" altLang="zh-CN" dirty="0"/>
          </a:p>
          <a:p>
            <a:pPr lvl="2">
              <a:lnSpc>
                <a:spcPct val="150000"/>
              </a:lnSpc>
            </a:pPr>
            <a:r>
              <a:rPr kumimoji="1" lang="zh-CN" altLang="en-US" dirty="0"/>
              <a:t>访问非法虚拟地址，会触发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异常</a:t>
            </a:r>
            <a:endParaRPr kumimoji="1" lang="en-US" altLang="zh-CN" dirty="0"/>
          </a:p>
          <a:p>
            <a:pPr lvl="3">
              <a:lnSpc>
                <a:spcPct val="150000"/>
              </a:lnSpc>
            </a:pPr>
            <a:r>
              <a:rPr kumimoji="1" lang="zh-CN" altLang="en-US" dirty="0"/>
              <a:t>操作系统处理该异常时，选择报错：</a:t>
            </a:r>
            <a:r>
              <a:rPr kumimoji="1" lang="en-US" altLang="zh-CN" dirty="0" err="1"/>
              <a:t>segfault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7611384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D805B-45BD-2540-B720-590078C6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合法虚拟地址信息的记录方式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1349C-2912-AF4B-B42D-7C4F74D65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记录进程已分配的虚拟内存区域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在</a:t>
            </a:r>
            <a:r>
              <a:rPr kumimoji="1" lang="en-US" altLang="zh-CN" sz="1800" dirty="0"/>
              <a:t>Linux</a:t>
            </a:r>
            <a:r>
              <a:rPr kumimoji="1" lang="zh-CN" altLang="en-US" sz="1800" dirty="0"/>
              <a:t>中对应 </a:t>
            </a:r>
            <a:r>
              <a:rPr kumimoji="1" lang="en-US" altLang="zh-CN" sz="1800" dirty="0" err="1"/>
              <a:t>vm_area_struct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VMA</a:t>
            </a:r>
            <a:r>
              <a:rPr kumimoji="1" lang="zh-CN" altLang="en-US" sz="1800" dirty="0"/>
              <a:t>）结构体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在</a:t>
            </a:r>
            <a:r>
              <a:rPr kumimoji="1" lang="en-US" altLang="zh-CN" sz="1800" dirty="0" err="1"/>
              <a:t>ChCore</a:t>
            </a:r>
            <a:r>
              <a:rPr kumimoji="1" lang="en-US" altLang="zh-CN" sz="1800" dirty="0"/>
              <a:t>-Lab</a:t>
            </a:r>
            <a:r>
              <a:rPr kumimoji="1" lang="zh-CN" altLang="en-US" sz="1800" dirty="0"/>
              <a:t>中对应</a:t>
            </a:r>
            <a:r>
              <a:rPr kumimoji="1" lang="en-US" altLang="zh-CN" sz="1800" dirty="0" err="1"/>
              <a:t>vmregion</a:t>
            </a:r>
            <a:r>
              <a:rPr kumimoji="1" lang="zh-CN" altLang="en-US" sz="1800" dirty="0"/>
              <a:t>（</a:t>
            </a:r>
            <a:r>
              <a:rPr kumimoji="1" lang="en-US" altLang="zh-CN" sz="1800" dirty="0" err="1"/>
              <a:t>vmr</a:t>
            </a:r>
            <a:r>
              <a:rPr kumimoji="1" lang="zh-CN" altLang="en-US" sz="1800" dirty="0"/>
              <a:t>）结构体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8BA9A5-9B7D-854A-AED8-57C961D6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D2B21E-74F9-FC40-A6B1-FA3BE0999C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787670"/>
            <a:ext cx="4392488" cy="253693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32E9669-26E7-3036-1102-0D76C95855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082" y="1089255"/>
            <a:ext cx="2834311" cy="420770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3DE5FC3-B132-B823-96F3-F493C5EF8969}"/>
              </a:ext>
            </a:extLst>
          </p:cNvPr>
          <p:cNvSpPr txBox="1"/>
          <p:nvPr/>
        </p:nvSpPr>
        <p:spPr>
          <a:xfrm>
            <a:off x="6860659" y="859953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BD374B"/>
                </a:solidFill>
              </a:rPr>
              <a:t>进程结构体的变化</a:t>
            </a:r>
          </a:p>
        </p:txBody>
      </p:sp>
    </p:spTree>
    <p:extLst>
      <p:ext uri="{BB962C8B-B14F-4D97-AF65-F5344CB8AC3E}">
        <p14:creationId xmlns:p14="http://schemas.microsoft.com/office/powerpoint/2010/main" val="370306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5FECC8-2BE0-DB4D-8580-744E26D10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VMA</a:t>
            </a:r>
            <a:r>
              <a:rPr kumimoji="1" lang="zh-CN" altLang="en-US" dirty="0"/>
              <a:t>是如何添加的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0882-1264-2446-A156-B3915498B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途径</a:t>
            </a:r>
            <a:r>
              <a:rPr kumimoji="1" lang="en-US" altLang="zh-CN" sz="2400" dirty="0"/>
              <a:t>-1: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OS</a:t>
            </a:r>
            <a:r>
              <a:rPr kumimoji="1" lang="zh-CN" altLang="en-US" sz="2400" dirty="0"/>
              <a:t>在创建进程时分配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数据（对应</a:t>
            </a:r>
            <a:r>
              <a:rPr kumimoji="1" lang="en-US" altLang="zh-CN" sz="2000" dirty="0"/>
              <a:t>ELF</a:t>
            </a:r>
            <a:r>
              <a:rPr kumimoji="1" lang="zh-CN" altLang="en-US" sz="2000" dirty="0"/>
              <a:t>段）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代码（对应</a:t>
            </a:r>
            <a:r>
              <a:rPr kumimoji="1" lang="en-US" altLang="zh-CN" sz="2000" dirty="0"/>
              <a:t>ELF</a:t>
            </a:r>
            <a:r>
              <a:rPr kumimoji="1" lang="zh-CN" altLang="en-US" sz="2000" dirty="0"/>
              <a:t>段）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栈（初始无内容）</a:t>
            </a:r>
            <a:endParaRPr kumimoji="1" lang="en-US" altLang="zh-CN" sz="2000" dirty="0"/>
          </a:p>
          <a:p>
            <a:endParaRPr kumimoji="1" lang="en-US" altLang="zh-CN" sz="2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3A5EBD-276E-1E43-8DFA-AA025B5D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3836581-41A7-0B66-252D-3E72B9550F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677"/>
          <a:stretch/>
        </p:blipFill>
        <p:spPr>
          <a:xfrm>
            <a:off x="3995936" y="2241670"/>
            <a:ext cx="2133600" cy="306766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754F3F9-A312-F07F-7031-6DDAD5484474}"/>
              </a:ext>
            </a:extLst>
          </p:cNvPr>
          <p:cNvSpPr txBox="1"/>
          <p:nvPr/>
        </p:nvSpPr>
        <p:spPr>
          <a:xfrm>
            <a:off x="4808024" y="1926891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1.</a:t>
            </a:r>
            <a:r>
              <a:rPr kumimoji="1" lang="zh-CN" altLang="en-US" sz="1400" dirty="0">
                <a:solidFill>
                  <a:srgbClr val="C00000"/>
                </a:solidFill>
              </a:rPr>
              <a:t> 进程创建时</a:t>
            </a:r>
          </a:p>
        </p:txBody>
      </p:sp>
    </p:spTree>
    <p:extLst>
      <p:ext uri="{BB962C8B-B14F-4D97-AF65-F5344CB8AC3E}">
        <p14:creationId xmlns:p14="http://schemas.microsoft.com/office/powerpoint/2010/main" val="10038010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3836581-41A7-0B66-252D-3E72B9550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2241670"/>
            <a:ext cx="4924888" cy="306766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65FECC8-2BE0-DB4D-8580-744E26D10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VMA</a:t>
            </a:r>
            <a:r>
              <a:rPr kumimoji="1" lang="zh-CN" altLang="en-US" dirty="0"/>
              <a:t>是如何添加的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0882-1264-2446-A156-B3915498B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4267732"/>
          </a:xfrm>
        </p:spPr>
        <p:txBody>
          <a:bodyPr>
            <a:normAutofit lnSpcReduction="10000"/>
          </a:bodyPr>
          <a:lstStyle/>
          <a:p>
            <a:r>
              <a:rPr kumimoji="1" lang="zh-CN" altLang="en-US" sz="2400" dirty="0"/>
              <a:t>途径</a:t>
            </a:r>
            <a:r>
              <a:rPr kumimoji="1" lang="en-US" altLang="zh-CN" sz="2400" dirty="0"/>
              <a:t>-1: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OS</a:t>
            </a:r>
            <a:r>
              <a:rPr kumimoji="1" lang="zh-CN" altLang="en-US" sz="2400" dirty="0"/>
              <a:t>在创建进程时分配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数据（对应</a:t>
            </a:r>
            <a:r>
              <a:rPr kumimoji="1" lang="en-US" altLang="zh-CN" sz="2000" dirty="0"/>
              <a:t>ELF</a:t>
            </a:r>
            <a:r>
              <a:rPr kumimoji="1" lang="zh-CN" altLang="en-US" sz="2000" dirty="0"/>
              <a:t>文件的数据段）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代码（对应</a:t>
            </a:r>
            <a:r>
              <a:rPr kumimoji="1" lang="en-US" altLang="zh-CN" sz="2000" dirty="0"/>
              <a:t>ELF</a:t>
            </a:r>
            <a:r>
              <a:rPr kumimoji="1" lang="zh-CN" altLang="en-US" sz="2000" dirty="0"/>
              <a:t>文件的代码段）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栈（初始无内容）</a:t>
            </a:r>
            <a:endParaRPr kumimoji="1" lang="en-US" altLang="zh-CN" sz="2000" dirty="0"/>
          </a:p>
          <a:p>
            <a:endParaRPr kumimoji="1" lang="en-US" altLang="zh-CN" sz="2200" dirty="0"/>
          </a:p>
          <a:p>
            <a:r>
              <a:rPr kumimoji="1" lang="zh-CN" altLang="en-US" sz="2200" dirty="0"/>
              <a:t>途径</a:t>
            </a:r>
            <a:r>
              <a:rPr kumimoji="1" lang="en-US" altLang="zh-CN" sz="2200" dirty="0"/>
              <a:t>-2</a:t>
            </a:r>
            <a:r>
              <a:rPr kumimoji="1" lang="zh-CN" altLang="en-US" sz="2200" dirty="0"/>
              <a:t>：进程运行时添加</a:t>
            </a:r>
            <a:endParaRPr kumimoji="1" lang="en-US" altLang="zh-CN" sz="2200" dirty="0"/>
          </a:p>
          <a:p>
            <a:pPr lvl="1"/>
            <a:r>
              <a:rPr kumimoji="1" lang="zh-CN" altLang="en-US" sz="2000" dirty="0"/>
              <a:t>堆、栈</a:t>
            </a:r>
            <a:endParaRPr kumimoji="1" lang="en-US" altLang="zh-CN" sz="2000" dirty="0"/>
          </a:p>
          <a:p>
            <a:pPr lvl="1"/>
            <a:r>
              <a:rPr kumimoji="1" lang="en-US" altLang="zh-CN" sz="2000" dirty="0" err="1"/>
              <a:t>mmap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munmap</a:t>
            </a:r>
            <a:endParaRPr kumimoji="1" lang="en-US" altLang="zh-CN" sz="2000" dirty="0"/>
          </a:p>
          <a:p>
            <a:pPr lvl="2"/>
            <a:r>
              <a:rPr kumimoji="1" lang="zh-CN" altLang="en-US" sz="1600" dirty="0"/>
              <a:t>分配内存</a:t>
            </a:r>
            <a:r>
              <a:rPr kumimoji="1" lang="en-US" altLang="zh-CN" sz="1600" dirty="0"/>
              <a:t>buffer</a:t>
            </a:r>
          </a:p>
          <a:p>
            <a:pPr lvl="2"/>
            <a:r>
              <a:rPr kumimoji="1" lang="zh-CN" altLang="en-US" sz="1600" dirty="0"/>
              <a:t>加载新的代码库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3A5EBD-276E-1E43-8DFA-AA025B5D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54F3F9-A312-F07F-7031-6DDAD5484474}"/>
              </a:ext>
            </a:extLst>
          </p:cNvPr>
          <p:cNvSpPr txBox="1"/>
          <p:nvPr/>
        </p:nvSpPr>
        <p:spPr>
          <a:xfrm>
            <a:off x="4808024" y="1926891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1.</a:t>
            </a:r>
            <a:r>
              <a:rPr kumimoji="1" lang="zh-CN" altLang="en-US" sz="1400" dirty="0">
                <a:solidFill>
                  <a:srgbClr val="C00000"/>
                </a:solidFill>
              </a:rPr>
              <a:t> 进程创建时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ACD31E5-1A61-509D-ADB6-39C2D66C4167}"/>
              </a:ext>
            </a:extLst>
          </p:cNvPr>
          <p:cNvSpPr txBox="1"/>
          <p:nvPr/>
        </p:nvSpPr>
        <p:spPr>
          <a:xfrm>
            <a:off x="6903102" y="1926891"/>
            <a:ext cx="12811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</a:rPr>
              <a:t>2.</a:t>
            </a:r>
            <a:r>
              <a:rPr kumimoji="1" lang="zh-CN" altLang="en-US" sz="1400" dirty="0">
                <a:solidFill>
                  <a:srgbClr val="C00000"/>
                </a:solidFill>
              </a:rPr>
              <a:t> 进程运行时</a:t>
            </a:r>
          </a:p>
        </p:txBody>
      </p:sp>
    </p:spTree>
    <p:extLst>
      <p:ext uri="{BB962C8B-B14F-4D97-AF65-F5344CB8AC3E}">
        <p14:creationId xmlns:p14="http://schemas.microsoft.com/office/powerpoint/2010/main" val="3989024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256EBB-C989-2344-831F-54C3FE4EE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mmap</a:t>
            </a:r>
            <a:r>
              <a:rPr kumimoji="1" lang="zh-CN" altLang="en-US" dirty="0"/>
              <a:t>：分配一段虚拟内存区域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EF1081-DB6E-F541-89D6-85EBACE8F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7852"/>
            <a:ext cx="8229600" cy="3771636"/>
          </a:xfrm>
        </p:spPr>
        <p:txBody>
          <a:bodyPr>
            <a:noAutofit/>
          </a:bodyPr>
          <a:lstStyle/>
          <a:p>
            <a:r>
              <a:rPr kumimoji="1" lang="zh-CN" altLang="en-US" sz="2200" dirty="0"/>
              <a:t>通常用于把一个文件（或一部分）映射到内存</a:t>
            </a:r>
            <a:endParaRPr kumimoji="1" lang="en-US" altLang="zh-CN" sz="2200" dirty="0"/>
          </a:p>
          <a:p>
            <a:pPr lvl="1"/>
            <a:r>
              <a:rPr kumimoji="1" lang="en-US" altLang="zh-CN" sz="2000" dirty="0">
                <a:solidFill>
                  <a:srgbClr val="0070C0"/>
                </a:solidFill>
              </a:rPr>
              <a:t>void</a:t>
            </a:r>
            <a:r>
              <a:rPr kumimoji="1" lang="en-US" altLang="zh-CN" sz="2000" dirty="0"/>
              <a:t> *</a:t>
            </a:r>
            <a:r>
              <a:rPr kumimoji="1" lang="en-US" altLang="zh-CN" sz="2000" dirty="0" err="1"/>
              <a:t>mmap</a:t>
            </a:r>
            <a:r>
              <a:rPr kumimoji="1" lang="en-US" altLang="zh-CN" sz="2000" dirty="0"/>
              <a:t>(</a:t>
            </a:r>
            <a:r>
              <a:rPr kumimoji="1" lang="en-US" altLang="zh-CN" sz="2000" dirty="0">
                <a:solidFill>
                  <a:srgbClr val="0070C0"/>
                </a:solidFill>
              </a:rPr>
              <a:t>void</a:t>
            </a:r>
            <a:r>
              <a:rPr kumimoji="1" lang="en-US" altLang="zh-CN" sz="2000" dirty="0"/>
              <a:t> *</a:t>
            </a:r>
            <a:r>
              <a:rPr kumimoji="1" lang="en-US" altLang="zh-CN" sz="2000" dirty="0" err="1"/>
              <a:t>addr</a:t>
            </a:r>
            <a:r>
              <a:rPr kumimoji="1" lang="en-US" altLang="zh-CN" sz="2000" dirty="0"/>
              <a:t>,</a:t>
            </a:r>
            <a:br>
              <a:rPr kumimoji="1" lang="en-US" altLang="zh-CN" sz="2000" dirty="0"/>
            </a:br>
            <a:r>
              <a:rPr kumimoji="1" lang="en-US" altLang="zh-CN" sz="2000" dirty="0"/>
              <a:t>		</a:t>
            </a:r>
            <a:r>
              <a:rPr kumimoji="1" lang="zh-CN" altLang="en-US" sz="2000" dirty="0"/>
              <a:t>    </a:t>
            </a:r>
            <a:r>
              <a:rPr kumimoji="1" lang="zh-CN" altLang="en-US" sz="2000" dirty="0">
                <a:solidFill>
                  <a:srgbClr val="0070C0"/>
                </a:solidFill>
              </a:rPr>
              <a:t> </a:t>
            </a:r>
            <a:r>
              <a:rPr kumimoji="1" lang="en-US" altLang="zh-CN" sz="2000" dirty="0" err="1">
                <a:solidFill>
                  <a:srgbClr val="0070C0"/>
                </a:solidFill>
              </a:rPr>
              <a:t>size_t</a:t>
            </a:r>
            <a:r>
              <a:rPr kumimoji="1" lang="en-US" altLang="zh-CN" sz="2000" dirty="0"/>
              <a:t> length, </a:t>
            </a:r>
            <a:br>
              <a:rPr kumimoji="1" lang="en-US" altLang="zh-CN" sz="2000" dirty="0"/>
            </a:br>
            <a:r>
              <a:rPr kumimoji="1" lang="zh-CN" altLang="en-US" sz="2000" dirty="0"/>
              <a:t>                     </a:t>
            </a:r>
            <a:r>
              <a:rPr kumimoji="1" lang="en-US" altLang="zh-CN" sz="2000" dirty="0">
                <a:solidFill>
                  <a:srgbClr val="0070C0"/>
                </a:solidFill>
              </a:rPr>
              <a:t>int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prot</a:t>
            </a:r>
            <a:r>
              <a:rPr kumimoji="1" lang="en-US" altLang="zh-CN" sz="2000" dirty="0"/>
              <a:t>, </a:t>
            </a:r>
            <a:br>
              <a:rPr kumimoji="1" lang="en-US" altLang="zh-CN" sz="2000" dirty="0"/>
            </a:br>
            <a:r>
              <a:rPr kumimoji="1" lang="zh-CN" altLang="en-US" sz="2000" dirty="0"/>
              <a:t>                     </a:t>
            </a:r>
            <a:r>
              <a:rPr kumimoji="1" lang="en-US" altLang="zh-CN" sz="2000" dirty="0">
                <a:solidFill>
                  <a:srgbClr val="0070C0"/>
                </a:solidFill>
              </a:rPr>
              <a:t>int</a:t>
            </a:r>
            <a:r>
              <a:rPr kumimoji="1" lang="en-US" altLang="zh-CN" sz="2000" dirty="0"/>
              <a:t> flags, </a:t>
            </a:r>
            <a:br>
              <a:rPr kumimoji="1" lang="en-US" altLang="zh-CN" sz="2000" dirty="0"/>
            </a:br>
            <a:r>
              <a:rPr kumimoji="1" lang="zh-CN" altLang="en-US" sz="2000" dirty="0"/>
              <a:t>                     </a:t>
            </a:r>
            <a:r>
              <a:rPr kumimoji="1" lang="en-US" altLang="zh-CN" sz="2000" dirty="0">
                <a:solidFill>
                  <a:srgbClr val="0070C0"/>
                </a:solidFill>
              </a:rPr>
              <a:t>int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fd</a:t>
            </a:r>
            <a:r>
              <a:rPr kumimoji="1" lang="en-US" altLang="zh-CN" sz="2000" dirty="0"/>
              <a:t>, </a:t>
            </a:r>
            <a:br>
              <a:rPr kumimoji="1" lang="en-US" altLang="zh-CN" sz="2000" dirty="0"/>
            </a:br>
            <a:r>
              <a:rPr kumimoji="1" lang="zh-CN" altLang="en-US" sz="2000" dirty="0"/>
              <a:t>                     </a:t>
            </a:r>
            <a:r>
              <a:rPr kumimoji="1" lang="en-US" altLang="zh-CN" sz="2000" dirty="0" err="1">
                <a:solidFill>
                  <a:srgbClr val="0070C0"/>
                </a:solidFill>
              </a:rPr>
              <a:t>off_t</a:t>
            </a:r>
            <a:r>
              <a:rPr kumimoji="1" lang="en-US" altLang="zh-CN" sz="2000" dirty="0"/>
              <a:t> offset)</a:t>
            </a:r>
          </a:p>
          <a:p>
            <a:pPr lvl="2"/>
            <a:r>
              <a:rPr kumimoji="1" lang="en-US" altLang="zh-CN" sz="16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VMA</a:t>
            </a:r>
            <a:r>
              <a:rPr kumimoji="1" lang="zh-CN" altLang="en-US" sz="16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中还会包含文件映射等信息</a:t>
            </a:r>
            <a:endParaRPr kumimoji="1" lang="en-US" altLang="zh-CN" sz="16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0"/>
            <a:r>
              <a:rPr kumimoji="1" lang="zh-CN" altLang="en-US" sz="22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也可以不映射任何文件，仅仅新建虚拟内存区域（匿名映射）</a:t>
            </a:r>
            <a:endParaRPr kumimoji="1" lang="en-US" altLang="zh-CN" sz="22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3724CF-22FA-B941-AA0E-4AE95E09D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B083C28-66DA-9E42-AEF9-E976259DBCD6}"/>
              </a:ext>
            </a:extLst>
          </p:cNvPr>
          <p:cNvSpPr txBox="1"/>
          <p:nvPr/>
        </p:nvSpPr>
        <p:spPr>
          <a:xfrm>
            <a:off x="5004048" y="1849388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起始地址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BECD3EA-C067-6C4F-B0E2-AAA88F4A2667}"/>
              </a:ext>
            </a:extLst>
          </p:cNvPr>
          <p:cNvSpPr txBox="1"/>
          <p:nvPr/>
        </p:nvSpPr>
        <p:spPr>
          <a:xfrm>
            <a:off x="5004048" y="2211577"/>
            <a:ext cx="838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长度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CC7C367-9DFA-AC4C-ABA2-E00B4C13D49C}"/>
              </a:ext>
            </a:extLst>
          </p:cNvPr>
          <p:cNvSpPr txBox="1"/>
          <p:nvPr/>
        </p:nvSpPr>
        <p:spPr>
          <a:xfrm>
            <a:off x="5004048" y="2596054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权限，例如</a:t>
            </a:r>
            <a:r>
              <a:rPr kumimoji="1" lang="en-US" altLang="zh-CN" dirty="0">
                <a:solidFill>
                  <a:srgbClr val="0070C0"/>
                </a:solidFill>
              </a:rPr>
              <a:t>PROT_READ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7E4414-7CBE-4549-9765-421E0E24DB6D}"/>
              </a:ext>
            </a:extLst>
          </p:cNvPr>
          <p:cNvSpPr txBox="1"/>
          <p:nvPr/>
        </p:nvSpPr>
        <p:spPr>
          <a:xfrm>
            <a:off x="5004047" y="2992224"/>
            <a:ext cx="3805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映射的标志，例如</a:t>
            </a:r>
            <a:r>
              <a:rPr kumimoji="1" lang="en-US" altLang="zh-CN" dirty="0">
                <a:solidFill>
                  <a:srgbClr val="0070C0"/>
                </a:solidFill>
              </a:rPr>
              <a:t>MAP_PRIVATE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C48EF7E-F22E-E545-BD07-E3173D368293}"/>
              </a:ext>
            </a:extLst>
          </p:cNvPr>
          <p:cNvSpPr txBox="1"/>
          <p:nvPr/>
        </p:nvSpPr>
        <p:spPr>
          <a:xfrm>
            <a:off x="5004047" y="3352264"/>
            <a:ext cx="2056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</a:t>
            </a:r>
            <a:r>
              <a:rPr kumimoji="1" lang="en-US" altLang="zh-CN" dirty="0">
                <a:solidFill>
                  <a:srgbClr val="0070C0"/>
                </a:solidFill>
              </a:rPr>
              <a:t>-1 </a:t>
            </a:r>
            <a:r>
              <a:rPr kumimoji="1" lang="zh-CN" altLang="en-US" dirty="0">
                <a:solidFill>
                  <a:srgbClr val="0070C0"/>
                </a:solidFill>
              </a:rPr>
              <a:t>或者是有效</a:t>
            </a:r>
            <a:r>
              <a:rPr kumimoji="1" lang="en-US" altLang="zh-CN" dirty="0" err="1">
                <a:solidFill>
                  <a:srgbClr val="0070C0"/>
                </a:solidFill>
              </a:rPr>
              <a:t>fd</a:t>
            </a:r>
            <a:endParaRPr kumimoji="1" lang="zh-CN" altLang="en-US" dirty="0">
              <a:solidFill>
                <a:srgbClr val="0070C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E531C1-7E9A-984B-BD9A-E91EA20BD2B7}"/>
              </a:ext>
            </a:extLst>
          </p:cNvPr>
          <p:cNvSpPr txBox="1"/>
          <p:nvPr/>
        </p:nvSpPr>
        <p:spPr>
          <a:xfrm>
            <a:off x="5004046" y="3686487"/>
            <a:ext cx="3839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0070C0"/>
                </a:solidFill>
              </a:rPr>
              <a:t>//</a:t>
            </a:r>
            <a:r>
              <a:rPr kumimoji="1" lang="zh-CN" altLang="en-US" dirty="0">
                <a:solidFill>
                  <a:srgbClr val="0070C0"/>
                </a:solidFill>
              </a:rPr>
              <a:t> 偏移，例如从文件的哪里开始映射</a:t>
            </a:r>
          </a:p>
        </p:txBody>
      </p:sp>
    </p:spTree>
    <p:extLst>
      <p:ext uri="{BB962C8B-B14F-4D97-AF65-F5344CB8AC3E}">
        <p14:creationId xmlns:p14="http://schemas.microsoft.com/office/powerpoint/2010/main" val="2155002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038A6C-AA2E-3C4C-80E1-70023901A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mmap</a:t>
            </a:r>
            <a:r>
              <a:rPr kumimoji="1" lang="zh-CN" altLang="en-US" dirty="0"/>
              <a:t>匿名映射示例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FD441F-7390-D849-B4CE-662E499DC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62C814-496B-1D49-A19D-AD04D36A0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396" y="1097487"/>
            <a:ext cx="6423207" cy="4617513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9DDC8BBF-B5AE-4442-A7B8-F151B94385A8}"/>
              </a:ext>
            </a:extLst>
          </p:cNvPr>
          <p:cNvSpPr/>
          <p:nvPr/>
        </p:nvSpPr>
        <p:spPr>
          <a:xfrm>
            <a:off x="6804248" y="3361556"/>
            <a:ext cx="979355" cy="304271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6177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8B4FE-D4DF-DC46-947E-9415001B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示例：执行</a:t>
            </a:r>
            <a:r>
              <a:rPr kumimoji="1" lang="en-US" altLang="zh-CN" dirty="0"/>
              <a:t>mmap</a:t>
            </a:r>
            <a:r>
              <a:rPr kumimoji="1" lang="zh-CN" altLang="en-US" dirty="0"/>
              <a:t>后，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的变化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EDF7A42-8C39-0540-B3AB-FBB510713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147" y="1334183"/>
            <a:ext cx="5809705" cy="37719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3160FA-A3C9-5440-B17D-14CBD771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542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8B4FE-D4DF-DC46-947E-9415001B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示例：执行</a:t>
            </a:r>
            <a:r>
              <a:rPr kumimoji="1" lang="en-US" altLang="zh-CN" dirty="0"/>
              <a:t>mmap</a:t>
            </a:r>
            <a:r>
              <a:rPr kumimoji="1" lang="zh-CN" altLang="en-US" dirty="0"/>
              <a:t>后，</a:t>
            </a:r>
            <a:r>
              <a:rPr kumimoji="1" lang="en-US" altLang="zh-CN" dirty="0"/>
              <a:t>VMA</a:t>
            </a:r>
            <a:r>
              <a:rPr kumimoji="1" lang="zh-CN" altLang="en-US" dirty="0"/>
              <a:t>的变化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3160FA-A3C9-5440-B17D-14CBD7715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AE5EAB4-DC15-5A40-B8B7-6D7D40B38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32" y="1161458"/>
            <a:ext cx="7316936" cy="452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6434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9F986E-B661-8718-F9AD-2A4A5607C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mmap</a:t>
            </a:r>
            <a:r>
              <a:rPr kumimoji="1" lang="zh-CN" altLang="en-US" dirty="0"/>
              <a:t>映射文件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AA2A19A-E6AA-0EDD-BE7A-4B20F1FFA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202" y="1336763"/>
            <a:ext cx="5167595" cy="410163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D57178-5954-6DC3-2D7C-463D96358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8247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5FECC8-2BE0-DB4D-8580-744E26D10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VMA</a:t>
            </a:r>
            <a:r>
              <a:rPr kumimoji="1" lang="zh-CN" altLang="en-US" dirty="0"/>
              <a:t>是如何添加的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0882-1264-2446-A156-B3915498B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40296"/>
            <a:ext cx="8300291" cy="4381500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途径</a:t>
            </a:r>
            <a:r>
              <a:rPr kumimoji="1" lang="en-US" altLang="zh-CN" sz="2400" dirty="0"/>
              <a:t>2:</a:t>
            </a:r>
            <a:r>
              <a:rPr kumimoji="1" lang="zh-CN" altLang="en-US" sz="2400" dirty="0"/>
              <a:t> 进程运行时添加</a:t>
            </a:r>
            <a:r>
              <a:rPr kumimoji="1" lang="en-US" altLang="zh-CN" sz="2400" dirty="0"/>
              <a:t>/</a:t>
            </a:r>
            <a:r>
              <a:rPr kumimoji="1" lang="zh-CN" altLang="en-US" sz="2400" dirty="0"/>
              <a:t>应用程序主动向</a:t>
            </a:r>
            <a:r>
              <a:rPr kumimoji="1" lang="en-US" altLang="zh-CN" sz="2400" dirty="0"/>
              <a:t>OS</a:t>
            </a:r>
            <a:r>
              <a:rPr kumimoji="1" lang="zh-CN" altLang="en-US" sz="2400" dirty="0"/>
              <a:t>发起系统调用</a:t>
            </a:r>
            <a:endParaRPr kumimoji="1" lang="en-US" altLang="zh-CN" sz="2400" dirty="0"/>
          </a:p>
          <a:p>
            <a:pPr lvl="1"/>
            <a:r>
              <a:rPr kumimoji="1" lang="en-US" altLang="zh-CN" sz="2000" dirty="0" err="1"/>
              <a:t>mmap</a:t>
            </a:r>
            <a:r>
              <a:rPr kumimoji="1" lang="en-US" altLang="zh-CN" sz="2000" dirty="0"/>
              <a:t>()</a:t>
            </a:r>
          </a:p>
          <a:p>
            <a:pPr lvl="2"/>
            <a:r>
              <a:rPr kumimoji="1" lang="zh-CN" altLang="en-US" sz="1800" dirty="0"/>
              <a:t>申请空的虚拟内存区域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申请映射文件数据的虚拟内存区域</a:t>
            </a:r>
            <a:endParaRPr kumimoji="1" lang="en-US" altLang="zh-CN" sz="2000" dirty="0"/>
          </a:p>
          <a:p>
            <a:pPr lvl="1"/>
            <a:r>
              <a:rPr kumimoji="1" lang="en-US" altLang="zh-CN" sz="2000" dirty="0" err="1"/>
              <a:t>brk</a:t>
            </a:r>
            <a:r>
              <a:rPr kumimoji="1" lang="en-US" altLang="zh-CN" sz="2000" dirty="0"/>
              <a:t>()</a:t>
            </a:r>
            <a:r>
              <a:rPr kumimoji="1" lang="zh-CN" altLang="en-US" sz="2000" dirty="0"/>
              <a:t>：扩大、缩小堆区域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栈</a:t>
            </a:r>
            <a:r>
              <a:rPr kumimoji="1" lang="en-US" altLang="zh-CN" sz="1800" dirty="0"/>
              <a:t>VMA</a:t>
            </a:r>
            <a:r>
              <a:rPr kumimoji="1" lang="zh-CN" altLang="en-US" sz="1800" dirty="0"/>
              <a:t>的可选策略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OS</a:t>
            </a:r>
            <a:r>
              <a:rPr kumimoji="1" lang="zh-CN" altLang="en-US" sz="1800" dirty="0"/>
              <a:t>为进程初始分配固定大小的栈</a:t>
            </a:r>
            <a:r>
              <a:rPr kumimoji="1" lang="en-US" altLang="zh-CN" sz="1800" dirty="0"/>
              <a:t>VMA</a:t>
            </a:r>
            <a:r>
              <a:rPr kumimoji="1" lang="zh-CN" altLang="en-US" sz="1800" dirty="0"/>
              <a:t>，</a:t>
            </a:r>
            <a:br>
              <a:rPr kumimoji="1" lang="en-US" altLang="zh-CN" sz="1800" dirty="0"/>
            </a:br>
            <a:r>
              <a:rPr kumimoji="1" lang="zh-CN" altLang="en-US" sz="1800" dirty="0"/>
              <a:t>在发现</a:t>
            </a:r>
            <a:r>
              <a:rPr kumimoji="1" lang="en-US" altLang="zh-CN" sz="1800" dirty="0" err="1"/>
              <a:t>stackoverflow</a:t>
            </a:r>
            <a:r>
              <a:rPr kumimoji="1" lang="zh-CN" altLang="en-US" sz="1800" dirty="0"/>
              <a:t>之后自动扩大栈</a:t>
            </a:r>
            <a:r>
              <a:rPr kumimoji="1" lang="en-US" altLang="zh-CN" sz="1800" dirty="0"/>
              <a:t>VMA</a:t>
            </a:r>
          </a:p>
          <a:p>
            <a:pPr lvl="1"/>
            <a:r>
              <a:rPr kumimoji="1" lang="zh-CN" altLang="en-US" sz="1800" dirty="0"/>
              <a:t>用户态的</a:t>
            </a:r>
            <a:r>
              <a:rPr kumimoji="1" lang="en-US" altLang="zh-CN" sz="1800" dirty="0"/>
              <a:t>malloc</a:t>
            </a:r>
            <a:r>
              <a:rPr kumimoji="1" lang="zh-CN" altLang="en-US" sz="1800" dirty="0"/>
              <a:t>（</a:t>
            </a:r>
            <a:r>
              <a:rPr kumimoji="1" lang="en-US" altLang="zh-CN" sz="1800" dirty="0"/>
              <a:t>API</a:t>
            </a:r>
            <a:r>
              <a:rPr kumimoji="1" lang="zh-CN" altLang="en-US" sz="1800" dirty="0"/>
              <a:t>）也可能改变</a:t>
            </a:r>
            <a:r>
              <a:rPr kumimoji="1" lang="en-US" altLang="zh-CN" sz="1800" dirty="0"/>
              <a:t>VMA</a:t>
            </a:r>
          </a:p>
          <a:p>
            <a:pPr lvl="2"/>
            <a:r>
              <a:rPr kumimoji="1" lang="zh-CN" altLang="en-US" sz="1600" dirty="0"/>
              <a:t>调用</a:t>
            </a:r>
            <a:r>
              <a:rPr kumimoji="1" lang="en-US" altLang="zh-CN" sz="1600" dirty="0" err="1"/>
              <a:t>brk</a:t>
            </a:r>
            <a:r>
              <a:rPr kumimoji="1" lang="zh-CN" altLang="en-US" sz="1600" dirty="0"/>
              <a:t>，在堆中分配新的内存</a:t>
            </a:r>
            <a:endParaRPr kumimoji="1" lang="en-US" altLang="zh-CN" sz="1600" dirty="0"/>
          </a:p>
          <a:p>
            <a:pPr lvl="2"/>
            <a:r>
              <a:rPr kumimoji="1" lang="zh-CN" altLang="en-US" sz="1600" dirty="0"/>
              <a:t>调用</a:t>
            </a:r>
            <a:r>
              <a:rPr kumimoji="1" lang="en-US" altLang="zh-CN" sz="1600" dirty="0" err="1"/>
              <a:t>mmap</a:t>
            </a:r>
            <a:r>
              <a:rPr kumimoji="1" lang="zh-CN" altLang="en-US" sz="1600" dirty="0"/>
              <a:t>分配较大区域</a:t>
            </a:r>
            <a:endParaRPr kumimoji="1" lang="en-US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3A5EBD-276E-1E43-8DFA-AA025B5D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A9047C-B896-66DB-91CC-F4D8A8C8171D}"/>
              </a:ext>
            </a:extLst>
          </p:cNvPr>
          <p:cNvSpPr txBox="1"/>
          <p:nvPr/>
        </p:nvSpPr>
        <p:spPr>
          <a:xfrm>
            <a:off x="6482509" y="4723438"/>
            <a:ext cx="2274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+mn-ea"/>
              </a:rPr>
              <a:t>小知识：</a:t>
            </a:r>
            <a:r>
              <a:rPr kumimoji="1" lang="en-US" altLang="zh-CN" dirty="0">
                <a:latin typeface="+mn-ea"/>
              </a:rPr>
              <a:t>API</a:t>
            </a:r>
            <a:r>
              <a:rPr kumimoji="1" lang="zh-CN" altLang="en-US" dirty="0">
                <a:latin typeface="+mn-ea"/>
              </a:rPr>
              <a:t> </a:t>
            </a:r>
            <a:r>
              <a:rPr kumimoji="1" lang="en-US" altLang="zh-CN" dirty="0">
                <a:latin typeface="+mn-ea"/>
              </a:rPr>
              <a:t>vs.</a:t>
            </a:r>
            <a:r>
              <a:rPr kumimoji="1" lang="zh-CN" altLang="en-US" dirty="0">
                <a:latin typeface="+mn-ea"/>
              </a:rPr>
              <a:t> </a:t>
            </a:r>
            <a:r>
              <a:rPr kumimoji="1" lang="en-US" altLang="zh-CN" dirty="0">
                <a:latin typeface="+mn-ea"/>
              </a:rPr>
              <a:t>ABI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10CC458-C7AB-10AC-AFD6-C8AD640B1C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82"/>
          <a:stretch/>
        </p:blipFill>
        <p:spPr>
          <a:xfrm>
            <a:off x="5940152" y="1805827"/>
            <a:ext cx="3106688" cy="338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82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D805B-45BD-2540-B720-590078C6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根据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判断缺页异常的合法性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61349C-2912-AF4B-B42D-7C4F74D65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缺页异常（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fault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AARCH64</a:t>
            </a:r>
            <a:r>
              <a:rPr kumimoji="1" lang="zh-CN" altLang="en-US" dirty="0"/>
              <a:t>：触发（通用的）同步异常（</a:t>
            </a:r>
            <a:r>
              <a:rPr kumimoji="1" lang="en-US" altLang="zh-CN" dirty="0"/>
              <a:t>8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根据</a:t>
            </a:r>
            <a:r>
              <a:rPr kumimoji="1" lang="en-US" altLang="zh-CN" dirty="0"/>
              <a:t>ESR</a:t>
            </a:r>
            <a:r>
              <a:rPr kumimoji="1" lang="zh-CN" altLang="en-US" dirty="0"/>
              <a:t>信息判断是否为缺页异常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访问的虚拟地址存放在</a:t>
            </a:r>
            <a:r>
              <a:rPr kumimoji="1" lang="en-US" altLang="zh-CN" dirty="0"/>
              <a:t>FAR_EL1</a:t>
            </a:r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操作系统的缺页处理函数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FAR_EL1</a:t>
            </a:r>
            <a:r>
              <a:rPr kumimoji="1" lang="zh-CN" altLang="en-US" dirty="0"/>
              <a:t>中的值不落在</a:t>
            </a:r>
            <a:r>
              <a:rPr kumimoji="1" lang="en-US" altLang="zh-CN" dirty="0"/>
              <a:t>VMA</a:t>
            </a:r>
            <a:r>
              <a:rPr kumimoji="1" lang="zh-CN" altLang="en-US" dirty="0"/>
              <a:t>区域内，则为非法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反之，则分配物理页，并在页表中添加映射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8BA9A5-9B7D-854A-AED8-57C961D6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D2B21E-74F9-FC40-A6B1-FA3BE0999C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494" y="2406974"/>
            <a:ext cx="2813012" cy="162469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F759A37-16C8-8456-906C-24F17BE8822D}"/>
              </a:ext>
            </a:extLst>
          </p:cNvPr>
          <p:cNvSpPr txBox="1"/>
          <p:nvPr/>
        </p:nvSpPr>
        <p:spPr>
          <a:xfrm>
            <a:off x="5685255" y="4971148"/>
            <a:ext cx="3454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BD374B"/>
                </a:solidFill>
              </a:rPr>
              <a:t>问：用什么数据结构组织</a:t>
            </a:r>
            <a:r>
              <a:rPr kumimoji="1" lang="en-US" altLang="zh-CN" dirty="0">
                <a:solidFill>
                  <a:srgbClr val="BD374B"/>
                </a:solidFill>
              </a:rPr>
              <a:t>VMA</a:t>
            </a:r>
            <a:r>
              <a:rPr kumimoji="1" lang="zh-CN" altLang="en-US" dirty="0">
                <a:solidFill>
                  <a:srgbClr val="BD374B"/>
                </a:solidFill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880573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F4E63A-8612-ED4E-A1A1-312F86217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延迟映射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立即映射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8BA3A7-60BD-314E-A19B-4E29C7030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400" dirty="0"/>
              <a:t>优势：节约内存资源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劣势：缺页异常导致访问延迟增加</a:t>
            </a:r>
            <a:endParaRPr kumimoji="1" lang="en-US" altLang="zh-CN" sz="2400" dirty="0"/>
          </a:p>
          <a:p>
            <a:pPr>
              <a:lnSpc>
                <a:spcPct val="150000"/>
              </a:lnSpc>
            </a:pPr>
            <a:r>
              <a:rPr kumimoji="1" lang="zh-CN" altLang="en-US" sz="2400" dirty="0"/>
              <a:t>如何取得平衡？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zh-CN" altLang="en-US" sz="2000" dirty="0">
                <a:solidFill>
                  <a:srgbClr val="C00000"/>
                </a:solidFill>
              </a:rPr>
              <a:t>应用程序访存具有时空局部性（</a:t>
            </a:r>
            <a:r>
              <a:rPr kumimoji="1" lang="en-US" altLang="zh-CN" sz="2000" dirty="0">
                <a:solidFill>
                  <a:srgbClr val="C00000"/>
                </a:solidFill>
              </a:rPr>
              <a:t>Locality</a:t>
            </a:r>
            <a:r>
              <a:rPr kumimoji="1" lang="zh-CN" altLang="en-US" sz="2000" dirty="0">
                <a:solidFill>
                  <a:srgbClr val="C00000"/>
                </a:solidFill>
              </a:rPr>
              <a:t>）</a:t>
            </a:r>
            <a:endParaRPr kumimoji="1" lang="en-US" altLang="zh-CN" sz="2000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kumimoji="1" lang="zh-CN" altLang="en-US" sz="2000" dirty="0"/>
              <a:t>在缺页异常处理函数中采用</a:t>
            </a:r>
            <a:r>
              <a:rPr kumimoji="1" lang="zh-CN" altLang="en-US" sz="2000" dirty="0">
                <a:solidFill>
                  <a:srgbClr val="C00000"/>
                </a:solidFill>
              </a:rPr>
              <a:t>预先映射</a:t>
            </a:r>
            <a:r>
              <a:rPr kumimoji="1" lang="zh-CN" altLang="en-US" sz="2000" dirty="0"/>
              <a:t>的策略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sz="1600" dirty="0"/>
              <a:t>即节约内存又能减少缺页异常次数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9CE60C1-2DD6-C348-A017-CC876401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38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4E491A-F27D-6643-80E0-06F4866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435280" cy="90044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可向应用提供灵活的内存管理系统调用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074B0-7D54-CB43-A2C4-E8723E631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963461"/>
          </a:xfrm>
        </p:spPr>
        <p:txBody>
          <a:bodyPr>
            <a:normAutofit/>
          </a:bodyPr>
          <a:lstStyle/>
          <a:p>
            <a:r>
              <a:rPr kumimoji="1" lang="en-US" altLang="zh-CN" sz="2400" dirty="0" err="1"/>
              <a:t>madvise</a:t>
            </a:r>
            <a:endParaRPr kumimoji="1" lang="en-US" altLang="zh-CN" sz="2400" dirty="0"/>
          </a:p>
          <a:p>
            <a:pPr lvl="1"/>
            <a:r>
              <a:rPr kumimoji="1" lang="en-US" altLang="zh-CN" sz="2000" dirty="0">
                <a:solidFill>
                  <a:schemeClr val="tx1"/>
                </a:solidFill>
              </a:rPr>
              <a:t>int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madvise</a:t>
            </a:r>
            <a:r>
              <a:rPr kumimoji="1" lang="en-US" altLang="zh-CN" sz="2000" dirty="0">
                <a:solidFill>
                  <a:schemeClr val="tx1"/>
                </a:solidFill>
              </a:rPr>
              <a:t>(void *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addr</a:t>
            </a:r>
            <a:r>
              <a:rPr kumimoji="1" lang="en-US" altLang="zh-CN" sz="2000" dirty="0">
                <a:solidFill>
                  <a:schemeClr val="tx1"/>
                </a:solidFill>
              </a:rPr>
              <a:t>, </a:t>
            </a:r>
            <a:r>
              <a:rPr kumimoji="1" lang="en-US" altLang="zh-CN" sz="2000" dirty="0" err="1">
                <a:solidFill>
                  <a:schemeClr val="tx1"/>
                </a:solidFill>
              </a:rPr>
              <a:t>size_t</a:t>
            </a:r>
            <a:r>
              <a:rPr kumimoji="1" lang="en-US" altLang="zh-CN" sz="2000" dirty="0">
                <a:solidFill>
                  <a:schemeClr val="tx1"/>
                </a:solidFill>
              </a:rPr>
              <a:t> length, int advice)</a:t>
            </a:r>
          </a:p>
          <a:p>
            <a:pPr lvl="1"/>
            <a:r>
              <a:rPr kumimoji="1" lang="zh-CN" altLang="en-US" sz="2000" dirty="0"/>
              <a:t>将用户态的一些语义信息发给内核以便于优化</a:t>
            </a:r>
            <a:endParaRPr kumimoji="1" lang="en-US" altLang="zh-CN" sz="2000" dirty="0"/>
          </a:p>
          <a:p>
            <a:pPr lvl="2"/>
            <a:r>
              <a:rPr lang="zh-CN" altLang="en-US" sz="1800" dirty="0"/>
              <a:t>例如：将</a:t>
            </a:r>
            <a:r>
              <a:rPr lang="en-US" altLang="zh-CN" sz="1800" dirty="0" err="1"/>
              <a:t>madvise</a:t>
            </a:r>
            <a:r>
              <a:rPr lang="zh-CN" altLang="en-US" sz="1800" dirty="0"/>
              <a:t>和</a:t>
            </a:r>
            <a:r>
              <a:rPr lang="en-US" altLang="zh-CN" sz="1800" dirty="0"/>
              <a:t>mmap</a:t>
            </a:r>
            <a:r>
              <a:rPr lang="zh-CN" altLang="en-US" sz="1800" dirty="0"/>
              <a:t>搭配，在使用数据前告诉内核这一段数据需要使用，</a:t>
            </a:r>
            <a:r>
              <a:rPr lang="zh-CN" altLang="en-US" sz="1800" b="1" dirty="0">
                <a:solidFill>
                  <a:schemeClr val="accent1"/>
                </a:solidFill>
              </a:rPr>
              <a:t>建议</a:t>
            </a:r>
            <a:r>
              <a:rPr lang="en-US" altLang="zh-CN" sz="1800" dirty="0"/>
              <a:t>OS</a:t>
            </a:r>
            <a:r>
              <a:rPr lang="zh-CN" altLang="en-US" sz="1800" dirty="0"/>
              <a:t>提前分配物理页，减少缺页异常开销</a:t>
            </a:r>
            <a:endParaRPr kumimoji="1" lang="en-US" altLang="zh-CN" sz="1600" dirty="0"/>
          </a:p>
          <a:p>
            <a:pPr lvl="0"/>
            <a:r>
              <a:rPr kumimoji="1" lang="en-US" altLang="zh-CN" sz="24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mprotect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1"/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int mprotect(void *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addr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size_t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len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, int </a:t>
            </a:r>
            <a:r>
              <a:rPr kumimoji="1"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</a:rPr>
              <a:t>prot</a:t>
            </a:r>
            <a:r>
              <a:rPr kumimoji="1"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);</a:t>
            </a:r>
          </a:p>
          <a:p>
            <a:pPr lvl="1"/>
            <a:r>
              <a:rPr kumimoji="1"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改变一段内存的权限</a:t>
            </a:r>
            <a:endParaRPr kumimoji="1"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2"/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例如：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JIT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动态生成的二进制代码，需将内存由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可写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改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r>
              <a:rPr kumimoji="1" lang="zh-CN" altLang="en-US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为可执行</a:t>
            </a:r>
            <a:r>
              <a:rPr kumimoji="1"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68D50E-8107-3C4D-94F0-BEB8FEB2C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59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0AEBA-E447-A249-BC05-BAF45602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虚拟内存的扩展功能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E6ADC6-EE17-4B40-A1A0-C3ABF04BE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2AEF73-2272-A24A-BB94-6D7FB572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7234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3FA88-1827-444B-8643-579B3B58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AB910-AE4F-3E4C-B087-920ABE74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基本功能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节约内存，如共享库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进程通信，传递数据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333D9-C67E-0243-9E9C-0D6C593C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14E0F7-F9DD-1E40-801A-CADD0A9590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662"/>
          <a:stretch/>
        </p:blipFill>
        <p:spPr>
          <a:xfrm>
            <a:off x="4928560" y="1292353"/>
            <a:ext cx="3779912" cy="37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42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B3FA88-1827-444B-8643-579B3B58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写时拷贝（</a:t>
            </a:r>
            <a:r>
              <a:rPr kumimoji="1" lang="en-US" altLang="zh-CN" dirty="0"/>
              <a:t>copy-on-write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AAB910-AE4F-3E4C-B087-920ABE744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实现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修改页表项权限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在缺页时拷贝、恢复</a:t>
            </a:r>
            <a:endParaRPr kumimoji="1" lang="en-US" altLang="zh-CN" dirty="0"/>
          </a:p>
          <a:p>
            <a:r>
              <a:rPr kumimoji="1" lang="zh-CN" altLang="en-US" dirty="0"/>
              <a:t>典型场景</a:t>
            </a:r>
            <a:r>
              <a:rPr kumimoji="1" lang="en-US" altLang="zh-CN" dirty="0"/>
              <a:t>fork</a:t>
            </a:r>
          </a:p>
          <a:p>
            <a:pPr lvl="1"/>
            <a:r>
              <a:rPr kumimoji="1" lang="zh-CN" altLang="en-US" dirty="0"/>
              <a:t>节约物理内存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性能加速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4333D9-C67E-0243-9E9C-0D6C593C2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C14E0F7-F9DD-1E40-801A-CADD0A9590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50"/>
          <a:stretch/>
        </p:blipFill>
        <p:spPr>
          <a:xfrm>
            <a:off x="4644008" y="1333501"/>
            <a:ext cx="4283968" cy="37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386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28242-FBEB-E24D-9B5E-1750508B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内存去重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B67917-9698-3745-8410-BCBDD687C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memory</a:t>
            </a:r>
            <a:r>
              <a:rPr kumimoji="1" lang="zh-CN" altLang="en-US" dirty="0"/>
              <a:t> </a:t>
            </a:r>
            <a:r>
              <a:rPr kumimoji="1" lang="en-US" altLang="zh-CN" dirty="0"/>
              <a:t>deduplication</a:t>
            </a:r>
          </a:p>
          <a:p>
            <a:pPr lvl="1"/>
            <a:r>
              <a:rPr kumimoji="1" lang="zh-CN" altLang="en-US" dirty="0"/>
              <a:t>基于写时拷贝机制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在内存中扫描发现具有相同内容的物理页面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执行去重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操作系统发起，对用户态透明</a:t>
            </a:r>
            <a:endParaRPr kumimoji="1" lang="en-US" altLang="zh-CN" dirty="0"/>
          </a:p>
          <a:p>
            <a:r>
              <a:rPr kumimoji="1" lang="zh-CN" altLang="en-US" dirty="0"/>
              <a:t>典型案例：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 </a:t>
            </a:r>
            <a:r>
              <a:rPr kumimoji="1" lang="en-US" altLang="zh-CN" dirty="0"/>
              <a:t>KSM</a:t>
            </a:r>
          </a:p>
          <a:p>
            <a:pPr lvl="1"/>
            <a:r>
              <a:rPr kumimoji="1" lang="en-US" altLang="zh-CN" dirty="0"/>
              <a:t>kernel same-page merging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A2445E-7C8B-FE4C-AB69-ED0DEBAA4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5217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E508-8AD4-CC4F-98D4-423C231B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内存压缩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16690-848D-784E-AE44-E5A8F233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基本思想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当内存资源不充足的时候， 选择将一些“最近不太会使用”的内存页进行数据压缩，从而释放出空闲内存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1F6A1-9A8F-664F-89B2-0562F45F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0494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4E508-8AD4-CC4F-98D4-423C231B7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内存压缩案例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916690-848D-784E-AE44-E5A8F233C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Windows 10</a:t>
            </a:r>
          </a:p>
          <a:p>
            <a:pPr lvl="1"/>
            <a:r>
              <a:rPr kumimoji="1" lang="zh-CN" altLang="en-US" dirty="0"/>
              <a:t>压缩后的数据仍然存放在内存中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当访问被压缩的数据时，操作系统将其解压即可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C00000"/>
                </a:solidFill>
              </a:rPr>
              <a:t>思考：对比交换内存页到磁盘，压缩的优点和缺点有哪些？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r>
              <a:rPr kumimoji="1" lang="en-US" altLang="zh-CN" dirty="0">
                <a:solidFill>
                  <a:schemeClr val="tx1"/>
                </a:solidFill>
              </a:rPr>
              <a:t>Linux</a:t>
            </a:r>
          </a:p>
          <a:p>
            <a:pPr lvl="1"/>
            <a:r>
              <a:rPr kumimoji="1" lang="en-US" altLang="zh-CN" dirty="0" err="1">
                <a:solidFill>
                  <a:schemeClr val="tx1"/>
                </a:solidFill>
              </a:rPr>
              <a:t>zswap</a:t>
            </a:r>
            <a:r>
              <a:rPr kumimoji="1" lang="zh-CN" altLang="en-US" dirty="0">
                <a:solidFill>
                  <a:schemeClr val="tx1"/>
                </a:solidFill>
              </a:rPr>
              <a:t>：换页过程中磁盘的缓存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将准备换出的数据压缩并先写入 </a:t>
            </a:r>
            <a:r>
              <a:rPr kumimoji="1" lang="en-US" altLang="zh-CN" dirty="0" err="1">
                <a:solidFill>
                  <a:schemeClr val="tx1"/>
                </a:solidFill>
              </a:rPr>
              <a:t>zswap</a:t>
            </a:r>
            <a:r>
              <a:rPr kumimoji="1" lang="en-US" altLang="zh-CN" dirty="0">
                <a:solidFill>
                  <a:schemeClr val="tx1"/>
                </a:solidFill>
              </a:rPr>
              <a:t> </a:t>
            </a:r>
            <a:r>
              <a:rPr kumimoji="1" lang="zh-CN" altLang="en-US" dirty="0">
                <a:solidFill>
                  <a:schemeClr val="tx1"/>
                </a:solidFill>
              </a:rPr>
              <a:t>区域 （内存）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/>
                </a:solidFill>
              </a:rPr>
              <a:t>好处：减少甚至避免磁盘</a:t>
            </a:r>
            <a:r>
              <a:rPr kumimoji="1" lang="en-US" altLang="zh-CN" dirty="0">
                <a:solidFill>
                  <a:schemeClr val="tx1"/>
                </a:solidFill>
              </a:rPr>
              <a:t>I/O</a:t>
            </a:r>
            <a:r>
              <a:rPr kumimoji="1" lang="zh-CN" altLang="en-US" dirty="0">
                <a:solidFill>
                  <a:schemeClr val="tx1"/>
                </a:solidFill>
              </a:rPr>
              <a:t>；增加设备寿命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endParaRPr kumimoji="1"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1F6A1-9A8F-664F-89B2-0562F45F4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20875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165B9A-4063-F747-97FA-A2D09F7C3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大页的利弊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CB407D-F95B-C145-867A-EBFC4C1E7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好处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减少</a:t>
            </a:r>
            <a:r>
              <a:rPr kumimoji="1" lang="en-US" altLang="zh-CN" sz="2000" dirty="0"/>
              <a:t>TLB</a:t>
            </a:r>
            <a:r>
              <a:rPr kumimoji="1" lang="zh-CN" altLang="en-US" sz="2000" dirty="0"/>
              <a:t>缓存项的使用，提高 </a:t>
            </a:r>
            <a:r>
              <a:rPr kumimoji="1" lang="en-US" altLang="zh-CN" sz="2000" dirty="0"/>
              <a:t>TLB </a:t>
            </a:r>
            <a:r>
              <a:rPr kumimoji="1" lang="zh-CN" altLang="en-US" sz="2000" dirty="0"/>
              <a:t>命中率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减少页表的级数，提升遍历页表的效率</a:t>
            </a:r>
            <a:endParaRPr kumimoji="1" lang="en-US" altLang="zh-CN" sz="2000" dirty="0"/>
          </a:p>
          <a:p>
            <a:r>
              <a:rPr kumimoji="1" lang="zh-CN" altLang="en-US" sz="2400" dirty="0"/>
              <a:t>案例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提供</a:t>
            </a:r>
            <a:r>
              <a:rPr kumimoji="1" lang="en-US" altLang="zh-CN" sz="2000" dirty="0"/>
              <a:t>API</a:t>
            </a:r>
            <a:r>
              <a:rPr kumimoji="1" lang="zh-CN" altLang="en-US" sz="2000" dirty="0"/>
              <a:t>允许应用程序进行显示的大页分配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透明大页（</a:t>
            </a:r>
            <a:r>
              <a:rPr kumimoji="1" lang="en-US" altLang="zh-CN" sz="2000" dirty="0"/>
              <a:t>Transparent Huge Pages) </a:t>
            </a:r>
            <a:r>
              <a:rPr kumimoji="1" lang="zh-CN" altLang="en-US" sz="2000" dirty="0"/>
              <a:t>机制</a:t>
            </a:r>
            <a:endParaRPr kumimoji="1" lang="en-US" altLang="zh-CN" sz="2000" dirty="0"/>
          </a:p>
          <a:p>
            <a:r>
              <a:rPr kumimoji="1" lang="zh-CN" altLang="en-US" sz="2400" dirty="0"/>
              <a:t>弊端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未使用整个大页而造成物理内存资源浪费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增加管理内存的复杂度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5B16B9-F136-A341-AD43-917A67386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D32B268E-8ECD-906E-8C42-2FBAC09B94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269" y="241959"/>
            <a:ext cx="3765437" cy="146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1264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44E9E-16DA-1343-BB5F-71E02E11D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支持多种最小页面大小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096F52-C8F8-B14E-BB7A-403AC142D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0297"/>
            <a:ext cx="8229600" cy="43814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400" dirty="0"/>
              <a:t>TCR_EL1</a:t>
            </a:r>
            <a:r>
              <a:rPr kumimoji="1" lang="zh-CN" altLang="en-US" sz="2400" dirty="0"/>
              <a:t>可以选择不同的最小页面大小</a:t>
            </a:r>
            <a:endParaRPr kumimoji="1" lang="en-US" altLang="zh-CN" sz="2400" dirty="0"/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3</a:t>
            </a:r>
            <a:r>
              <a:rPr kumimoji="1" lang="zh-CN" altLang="en-US" sz="2000" dirty="0"/>
              <a:t>种配置：</a:t>
            </a:r>
            <a:r>
              <a:rPr kumimoji="1" lang="en-US" altLang="zh-CN" sz="2000" dirty="0"/>
              <a:t>4K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16K</a:t>
            </a:r>
            <a:r>
              <a:rPr kumimoji="1" lang="zh-CN" altLang="en-US" sz="2000" dirty="0"/>
              <a:t>、</a:t>
            </a:r>
            <a:r>
              <a:rPr kumimoji="1" lang="en-US" altLang="zh-CN" sz="2000" dirty="0"/>
              <a:t>64K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4K</a:t>
            </a:r>
            <a:r>
              <a:rPr kumimoji="1" lang="zh-CN" altLang="en-US" sz="2000" dirty="0"/>
              <a:t>   </a:t>
            </a:r>
            <a:r>
              <a:rPr kumimoji="1" lang="en-US" altLang="zh-CN" sz="2000" dirty="0"/>
              <a:t>+ </a:t>
            </a:r>
            <a:r>
              <a:rPr kumimoji="1" lang="zh-CN" altLang="en-US" sz="2000" dirty="0"/>
              <a:t>大页：</a:t>
            </a:r>
            <a:r>
              <a:rPr kumimoji="1" lang="en-US" altLang="zh-CN" sz="2000" dirty="0"/>
              <a:t>2M/1G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16K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大页：</a:t>
            </a:r>
            <a:r>
              <a:rPr kumimoji="1" lang="en-US" altLang="zh-CN" sz="2000" dirty="0"/>
              <a:t>32M</a:t>
            </a:r>
            <a:r>
              <a:rPr kumimoji="1" lang="zh-CN" altLang="en-US" sz="2000" dirty="0"/>
              <a:t>（</a:t>
            </a:r>
            <a:r>
              <a:rPr kumimoji="1" lang="zh-CN" altLang="en-US" sz="2000" dirty="0">
                <a:solidFill>
                  <a:srgbClr val="C00000"/>
                </a:solidFill>
              </a:rPr>
              <a:t>问：为什么是</a:t>
            </a:r>
            <a:r>
              <a:rPr kumimoji="1" lang="en-US" altLang="zh-CN" sz="2000" dirty="0">
                <a:solidFill>
                  <a:srgbClr val="C00000"/>
                </a:solidFill>
              </a:rPr>
              <a:t>32M</a:t>
            </a:r>
            <a:r>
              <a:rPr kumimoji="1" lang="zh-CN" altLang="en-US" sz="2000" dirty="0">
                <a:solidFill>
                  <a:srgbClr val="C00000"/>
                </a:solidFill>
              </a:rPr>
              <a:t>？</a:t>
            </a:r>
            <a:r>
              <a:rPr kumimoji="1" lang="zh-CN" altLang="en-US" sz="2000" dirty="0"/>
              <a:t>）</a:t>
            </a:r>
            <a:endParaRPr kumimoji="1" lang="en-US" altLang="zh-CN" sz="2000" dirty="0"/>
          </a:p>
          <a:p>
            <a:pPr lvl="2">
              <a:lnSpc>
                <a:spcPct val="150000"/>
              </a:lnSpc>
            </a:pPr>
            <a:r>
              <a:rPr kumimoji="1" lang="zh-CN" altLang="en-US" sz="1800" dirty="0"/>
              <a:t>只有</a:t>
            </a:r>
            <a:r>
              <a:rPr kumimoji="1" lang="en-US" altLang="zh-CN" sz="1800" dirty="0"/>
              <a:t>L2</a:t>
            </a:r>
            <a:r>
              <a:rPr kumimoji="1" lang="zh-CN" altLang="en-US" sz="1800" dirty="0"/>
              <a:t>页表项支持大页</a:t>
            </a:r>
            <a:endParaRPr kumimoji="1" lang="en-US" altLang="zh-CN" sz="1800" dirty="0"/>
          </a:p>
          <a:p>
            <a:pPr lvl="1">
              <a:lnSpc>
                <a:spcPct val="150000"/>
              </a:lnSpc>
            </a:pPr>
            <a:r>
              <a:rPr kumimoji="1" lang="en-US" altLang="zh-CN" sz="2000" dirty="0"/>
              <a:t>64K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+</a:t>
            </a:r>
            <a:r>
              <a:rPr kumimoji="1" lang="zh-CN" altLang="en-US" sz="2000" dirty="0"/>
              <a:t> 大页：</a:t>
            </a:r>
            <a:r>
              <a:rPr kumimoji="1" lang="en-US" altLang="zh-CN" sz="2000" dirty="0"/>
              <a:t>512M</a:t>
            </a:r>
          </a:p>
          <a:p>
            <a:pPr lvl="2">
              <a:lnSpc>
                <a:spcPct val="150000"/>
              </a:lnSpc>
            </a:pPr>
            <a:r>
              <a:rPr kumimoji="1" lang="zh-CN" altLang="en-US" sz="1800" dirty="0"/>
              <a:t>只有</a:t>
            </a:r>
            <a:r>
              <a:rPr kumimoji="1" lang="en-US" altLang="zh-CN" sz="1800" dirty="0"/>
              <a:t>L2</a:t>
            </a:r>
            <a:r>
              <a:rPr kumimoji="1" lang="zh-CN" altLang="en-US" sz="1800" dirty="0"/>
              <a:t>页表项支持大页 （</a:t>
            </a:r>
            <a:r>
              <a:rPr kumimoji="1" lang="en-US" altLang="zh-CN" sz="1800" dirty="0"/>
              <a:t>ARMv8.2</a:t>
            </a:r>
            <a:r>
              <a:rPr kumimoji="1" lang="zh-CN" altLang="en-US" sz="1800" dirty="0"/>
              <a:t>之前）</a:t>
            </a:r>
            <a:endParaRPr kumimoji="1" lang="en-US" altLang="zh-CN" sz="1800" dirty="0"/>
          </a:p>
          <a:p>
            <a:pPr lvl="1">
              <a:lnSpc>
                <a:spcPct val="150000"/>
              </a:lnSpc>
            </a:pPr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B7D884-8D38-0541-815B-8505A1952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3514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7B5DF-870E-5720-0E68-614F9B997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6B90BF-8DB0-DFD9-5D59-A65B76BDD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900264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填写页表的策略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立即映射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延迟映射</a:t>
            </a:r>
            <a:endParaRPr kumimoji="1" lang="en-US" altLang="zh-CN" sz="2000" dirty="0"/>
          </a:p>
          <a:p>
            <a:r>
              <a:rPr kumimoji="1" lang="zh-CN" altLang="en-US" sz="2400" dirty="0"/>
              <a:t>延迟映射实现原理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硬件基础：缺页异常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软件设计：</a:t>
            </a:r>
            <a:r>
              <a:rPr kumimoji="1" lang="en-US" altLang="zh-CN" sz="2000" dirty="0"/>
              <a:t>VMA</a:t>
            </a:r>
            <a:r>
              <a:rPr kumimoji="1" lang="zh-CN" altLang="en-US" sz="2000" dirty="0"/>
              <a:t>数据结构</a:t>
            </a:r>
            <a:endParaRPr kumimoji="1" lang="en-US" altLang="zh-CN" sz="2000" dirty="0"/>
          </a:p>
          <a:p>
            <a:r>
              <a:rPr kumimoji="1" lang="zh-CN" altLang="en-US" sz="2400" dirty="0"/>
              <a:t>虚拟内存的扩展功能</a:t>
            </a:r>
            <a:endParaRPr kumimoji="1" lang="en-US" altLang="zh-CN" sz="2400" dirty="0"/>
          </a:p>
          <a:p>
            <a:pPr lvl="1"/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AD43F5-AC35-065D-807D-FEDDD5D3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88E792-79AE-6B2E-D0EB-89F8641F7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960" y="1417340"/>
            <a:ext cx="4367014" cy="1740954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65F0599D-7D4A-643C-5B6E-4EDCA137ECF3}"/>
              </a:ext>
            </a:extLst>
          </p:cNvPr>
          <p:cNvSpPr/>
          <p:nvPr/>
        </p:nvSpPr>
        <p:spPr>
          <a:xfrm>
            <a:off x="4211960" y="1792139"/>
            <a:ext cx="4680520" cy="792088"/>
          </a:xfrm>
          <a:prstGeom prst="roundRect">
            <a:avLst/>
          </a:prstGeom>
          <a:solidFill>
            <a:schemeClr val="accent1">
              <a:alpha val="29265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0510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47547</TotalTime>
  <Words>2536</Words>
  <Application>Microsoft Macintosh PowerPoint</Application>
  <PresentationFormat>On-screen Show (16:10)</PresentationFormat>
  <Paragraphs>363</Paragraphs>
  <Slides>43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DengXian</vt:lpstr>
      <vt:lpstr>Microsoft YaHei</vt:lpstr>
      <vt:lpstr>Arial</vt:lpstr>
      <vt:lpstr>Calibri</vt:lpstr>
      <vt:lpstr>Comic Sans MS</vt:lpstr>
      <vt:lpstr>Courier New</vt:lpstr>
      <vt:lpstr>Office 主题​​</vt:lpstr>
      <vt:lpstr>PowerPoint Presentation</vt:lpstr>
      <vt:lpstr>版权声明</vt:lpstr>
      <vt:lpstr>内容提纲</vt:lpstr>
      <vt:lpstr>回顾：地址翻译</vt:lpstr>
      <vt:lpstr>回顾：AARCH64体系结构下4级页表</vt:lpstr>
      <vt:lpstr>回顾：启动内存布局</vt:lpstr>
      <vt:lpstr>回顾：开启页表前后</vt:lpstr>
      <vt:lpstr>回顾：从实验内核看系统初始化</vt:lpstr>
      <vt:lpstr>内容提纲</vt:lpstr>
      <vt:lpstr>设置页表映射是操作系统的职责</vt:lpstr>
      <vt:lpstr>何时设置页表映射</vt:lpstr>
      <vt:lpstr>何时填写进程页表：立即映射</vt:lpstr>
      <vt:lpstr>分配物理页的简单实现</vt:lpstr>
      <vt:lpstr>操作系统如何填写进程页表</vt:lpstr>
      <vt:lpstr>填写进程页表的代码实现</vt:lpstr>
      <vt:lpstr>填写进程页表的代码实现</vt:lpstr>
      <vt:lpstr>立即映射的弊端</vt:lpstr>
      <vt:lpstr>延迟映射</vt:lpstr>
      <vt:lpstr>延迟映射</vt:lpstr>
      <vt:lpstr>回顾：缺页异常</vt:lpstr>
      <vt:lpstr>操作系统需要区分合法/非法缺页异常</vt:lpstr>
      <vt:lpstr>操作系统记录为进程分配的虚拟内存区域</vt:lpstr>
      <vt:lpstr>合法虚拟地址信息的记录方式</vt:lpstr>
      <vt:lpstr>VMA是如何添加的</vt:lpstr>
      <vt:lpstr>VMA是如何添加的</vt:lpstr>
      <vt:lpstr>mmap：分配一段虚拟内存区域</vt:lpstr>
      <vt:lpstr>mmap匿名映射示例</vt:lpstr>
      <vt:lpstr>示例：执行mmap后，VMA的变化</vt:lpstr>
      <vt:lpstr>示例：执行mmap后，VMA的变化</vt:lpstr>
      <vt:lpstr>mmap映射文件</vt:lpstr>
      <vt:lpstr>VMA是如何添加的</vt:lpstr>
      <vt:lpstr>根据VMA判断缺页异常的合法性</vt:lpstr>
      <vt:lpstr>延迟映射 vs. 立即映射</vt:lpstr>
      <vt:lpstr>OS可向应用提供灵活的内存管理系统调用</vt:lpstr>
      <vt:lpstr>虚拟内存的扩展功能</vt:lpstr>
      <vt:lpstr>共享内存</vt:lpstr>
      <vt:lpstr>写时拷贝（copy-on-write）</vt:lpstr>
      <vt:lpstr>内存去重</vt:lpstr>
      <vt:lpstr>内存压缩</vt:lpstr>
      <vt:lpstr>内存压缩案例</vt:lpstr>
      <vt:lpstr>大页的利弊</vt:lpstr>
      <vt:lpstr>AARCH64支持多种最小页面大小</vt:lpstr>
      <vt:lpstr>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Mingkai Dong</cp:lastModifiedBy>
  <cp:revision>1745</cp:revision>
  <cp:lastPrinted>2016-06-13T07:55:34Z</cp:lastPrinted>
  <dcterms:created xsi:type="dcterms:W3CDTF">2017-11-24T09:35:45Z</dcterms:created>
  <dcterms:modified xsi:type="dcterms:W3CDTF">2025-10-10T08:48:51Z</dcterms:modified>
</cp:coreProperties>
</file>