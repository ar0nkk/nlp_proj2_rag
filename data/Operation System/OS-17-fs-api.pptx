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35"/>
  </p:notesMasterIdLst>
  <p:handoutMasterIdLst>
    <p:handoutMasterId r:id="rId36"/>
  </p:handoutMasterIdLst>
  <p:sldIdLst>
    <p:sldId id="2769" r:id="rId3"/>
    <p:sldId id="1359" r:id="rId4"/>
    <p:sldId id="261" r:id="rId5"/>
    <p:sldId id="2250" r:id="rId6"/>
    <p:sldId id="2261" r:id="rId7"/>
    <p:sldId id="2417" r:id="rId8"/>
    <p:sldId id="2242" r:id="rId9"/>
    <p:sldId id="2244" r:id="rId10"/>
    <p:sldId id="2247" r:id="rId11"/>
    <p:sldId id="2246" r:id="rId12"/>
    <p:sldId id="2565" r:id="rId13"/>
    <p:sldId id="2566" r:id="rId14"/>
    <p:sldId id="2567" r:id="rId15"/>
    <p:sldId id="2248" r:id="rId16"/>
    <p:sldId id="2568" r:id="rId17"/>
    <p:sldId id="1411" r:id="rId18"/>
    <p:sldId id="1412" r:id="rId19"/>
    <p:sldId id="2253" r:id="rId20"/>
    <p:sldId id="2564" r:id="rId21"/>
    <p:sldId id="1398" r:id="rId22"/>
    <p:sldId id="1363" r:id="rId23"/>
    <p:sldId id="2569" r:id="rId24"/>
    <p:sldId id="438" r:id="rId25"/>
    <p:sldId id="2557" r:id="rId26"/>
    <p:sldId id="2558" r:id="rId27"/>
    <p:sldId id="2559" r:id="rId28"/>
    <p:sldId id="2560" r:id="rId29"/>
    <p:sldId id="2427" r:id="rId30"/>
    <p:sldId id="2553" r:id="rId31"/>
    <p:sldId id="2562" r:id="rId32"/>
    <p:sldId id="2563" r:id="rId33"/>
    <p:sldId id="2528" r:id="rId34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0" autoAdjust="0"/>
    <p:restoredTop sz="86382" autoAdjust="0"/>
  </p:normalViewPr>
  <p:slideViewPr>
    <p:cSldViewPr>
      <p:cViewPr varScale="1">
        <p:scale>
          <a:sx n="125" d="100"/>
          <a:sy n="125" d="100"/>
        </p:scale>
        <p:origin x="1168" y="16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40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079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5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968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619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79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550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 dirty="0"/>
              <a:t>文件系统</a:t>
            </a:r>
            <a:r>
              <a:rPr kumimoji="1" lang="en-US" altLang="zh-CN" sz="4800" dirty="0"/>
              <a:t>API</a:t>
            </a:r>
            <a:r>
              <a:rPr kumimoji="1" lang="zh-CN" altLang="en-US" sz="4800" dirty="0"/>
              <a:t> </a:t>
            </a:r>
            <a:r>
              <a:rPr kumimoji="1" lang="en-US" altLang="zh-CN" sz="4800" dirty="0"/>
              <a:t>&amp;</a:t>
            </a:r>
            <a:r>
              <a:rPr kumimoji="1" lang="zh-CN" altLang="en-US" sz="4800" dirty="0"/>
              <a:t> 崩溃一致性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UNIX</a:t>
            </a:r>
            <a:r>
              <a:rPr lang="zh-CN" altLang="en-US" dirty="0"/>
              <a:t>文件系统的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OPEN, READ, WRITE, SEEK, CLOSE</a:t>
            </a:r>
          </a:p>
          <a:p>
            <a:r>
              <a:rPr lang="en-US" altLang="zh-CN" sz="2000" dirty="0"/>
              <a:t>FSYNC</a:t>
            </a:r>
          </a:p>
          <a:p>
            <a:r>
              <a:rPr lang="en-US" altLang="zh-CN" sz="2000" dirty="0"/>
              <a:t>STAT, CHMOD, CHOWN</a:t>
            </a:r>
          </a:p>
          <a:p>
            <a:r>
              <a:rPr lang="en-US" altLang="zh-CN" sz="2000" dirty="0"/>
              <a:t>RENAME, LINK, UNLINK, SYMLINK</a:t>
            </a:r>
          </a:p>
          <a:p>
            <a:r>
              <a:rPr lang="en-US" altLang="zh-CN" sz="2000" dirty="0"/>
              <a:t>MKDIR, CHDIR, CHROOT</a:t>
            </a:r>
          </a:p>
          <a:p>
            <a:r>
              <a:rPr lang="en-US" altLang="zh-CN" sz="2000" dirty="0"/>
              <a:t>MOUNT, UNMOUNT</a:t>
            </a:r>
          </a:p>
          <a:p>
            <a:r>
              <a:rPr lang="en-US" altLang="zh-CN" sz="2000" dirty="0"/>
              <a:t>….</a:t>
            </a:r>
            <a:endParaRPr lang="zh-CN" altLang="en-US" sz="2000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E315FA61-8901-B549-B657-C9EAE3269AB0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3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633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回顾：多级</a:t>
            </a:r>
            <a:r>
              <a:rPr kumimoji="1" lang="en-US" altLang="zh-CN" dirty="0"/>
              <a:t>inode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30FF1D-FC8B-714B-AC5C-D4AE93C5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041347"/>
            <a:ext cx="5171600" cy="30151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58273C8-9606-A74B-976E-CE53F28D6B2E}"/>
              </a:ext>
            </a:extLst>
          </p:cNvPr>
          <p:cNvSpPr txBox="1"/>
          <p:nvPr/>
        </p:nvSpPr>
        <p:spPr>
          <a:xfrm>
            <a:off x="457200" y="1256164"/>
            <a:ext cx="8229600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/>
              <a:t>引入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索引块</a:t>
            </a:r>
            <a:r>
              <a:rPr kumimoji="1" lang="zh-CN" altLang="en-US" sz="1800" dirty="0"/>
              <a:t>：指向数据块</a:t>
            </a:r>
            <a:r>
              <a:rPr kumimoji="1" lang="zh-CN" altLang="en-US" dirty="0"/>
              <a:t>；以及</a:t>
            </a:r>
            <a:r>
              <a:rPr kumimoji="1" lang="zh-CN" altLang="en-US" b="1" dirty="0">
                <a:solidFill>
                  <a:schemeClr val="accent1"/>
                </a:solidFill>
              </a:rPr>
              <a:t>二级索引块</a:t>
            </a:r>
            <a:r>
              <a:rPr kumimoji="1" lang="zh-CN" altLang="en-US" dirty="0"/>
              <a:t>：指向索引块；</a:t>
            </a:r>
            <a:r>
              <a:rPr kumimoji="1" lang="en-US" altLang="zh-CN" dirty="0"/>
              <a:t>...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索引块（包括二级索引块）不在</a:t>
            </a:r>
            <a:r>
              <a:rPr lang="en-US" altLang="zh-CN" dirty="0"/>
              <a:t>inode</a:t>
            </a:r>
            <a:r>
              <a:rPr lang="zh-CN" altLang="en-US" dirty="0"/>
              <a:t>表的存储区域，而是在数据区域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E91291BB-2476-244F-AFB1-902E2CBA784E}"/>
              </a:ext>
            </a:extLst>
          </p:cNvPr>
          <p:cNvSpPr/>
          <p:nvPr/>
        </p:nvSpPr>
        <p:spPr>
          <a:xfrm rot="5400000">
            <a:off x="4735408" y="3308940"/>
            <a:ext cx="177240" cy="3672408"/>
          </a:xfrm>
          <a:prstGeom prst="rightBrace">
            <a:avLst>
              <a:gd name="adj1" fmla="val 56532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8C23E2-6C4E-FE4F-ADC8-99B91345C8C2}"/>
              </a:ext>
            </a:extLst>
          </p:cNvPr>
          <p:cNvSpPr txBox="1"/>
          <p:nvPr/>
        </p:nvSpPr>
        <p:spPr>
          <a:xfrm>
            <a:off x="3923928" y="5332245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磁盘的数据区域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29F3D2-862B-F84B-B6DE-C855A62FE802}"/>
              </a:ext>
            </a:extLst>
          </p:cNvPr>
          <p:cNvSpPr txBox="1"/>
          <p:nvPr/>
        </p:nvSpPr>
        <p:spPr>
          <a:xfrm>
            <a:off x="1272018" y="5304172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磁盘的</a:t>
            </a:r>
            <a:r>
              <a:rPr lang="en-US" altLang="zh-CN" sz="1400" b="1" dirty="0">
                <a:solidFill>
                  <a:schemeClr val="accent1"/>
                </a:solidFill>
              </a:rPr>
              <a:t>inode</a:t>
            </a:r>
            <a:r>
              <a:rPr lang="zh-CN" altLang="en-US" sz="1400" b="1" dirty="0">
                <a:solidFill>
                  <a:schemeClr val="accent1"/>
                </a:solidFill>
              </a:rPr>
              <a:t>表</a:t>
            </a:r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E554F885-A208-0E47-A254-60051D00478E}"/>
              </a:ext>
            </a:extLst>
          </p:cNvPr>
          <p:cNvSpPr/>
          <p:nvPr/>
        </p:nvSpPr>
        <p:spPr>
          <a:xfrm rot="5400000">
            <a:off x="2155506" y="4699723"/>
            <a:ext cx="177240" cy="925016"/>
          </a:xfrm>
          <a:prstGeom prst="rightBrace">
            <a:avLst>
              <a:gd name="adj1" fmla="val 37890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63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772F7-B624-9646-A860-2023ACC6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回顾：目录文件与目录项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AD5FE8-7C3A-2E4D-ACD6-62AF4EBE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887F61-F744-254B-A521-50C713C93F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06"/>
          <a:stretch/>
        </p:blipFill>
        <p:spPr>
          <a:xfrm>
            <a:off x="4427985" y="2269854"/>
            <a:ext cx="4608512" cy="212373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EAF46C-2A89-DE40-8C1A-86CAB599C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7313"/>
            <a:ext cx="5915000" cy="4308821"/>
          </a:xfrm>
        </p:spPr>
        <p:txBody>
          <a:bodyPr>
            <a:noAutofit/>
          </a:bodyPr>
          <a:lstStyle/>
          <a:p>
            <a:r>
              <a:rPr lang="zh-CN" altLang="en-US" sz="2000" dirty="0">
                <a:ea typeface="Microsoft YaHei" panose="020B0503020204020204" pitchFamily="34" charset="-122"/>
              </a:rPr>
              <a:t>目录中的每条映射称为一个</a:t>
            </a:r>
            <a:r>
              <a:rPr lang="zh-CN" altLang="en-US" sz="2000" dirty="0">
                <a:solidFill>
                  <a:schemeClr val="accent1"/>
                </a:solidFill>
                <a:ea typeface="Microsoft YaHei" panose="020B0503020204020204" pitchFamily="34" charset="-122"/>
              </a:rPr>
              <a:t>目录项</a:t>
            </a:r>
            <a:endParaRPr lang="en-US" altLang="zh-CN" sz="2000" dirty="0">
              <a:solidFill>
                <a:schemeClr val="accent1"/>
              </a:solidFill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每一条目录项记录了一个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  <a:r>
              <a:rPr lang="zh-CN" altLang="en-US" sz="1600" dirty="0">
                <a:ea typeface="Microsoft YaHei" panose="020B0503020204020204" pitchFamily="34" charset="-122"/>
              </a:rPr>
              <a:t>号与文件名字符串的映射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一个目录可以记录很多目录项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ea typeface="Microsoft YaHei" panose="020B0503020204020204" pitchFamily="34" charset="-122"/>
              </a:rPr>
              <a:t>目录文件的大小（占用空间）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与其记录的文件大小无关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2"/>
            <a:r>
              <a:rPr lang="en-US" altLang="zh-CN" sz="1600" dirty="0">
                <a:ea typeface="Microsoft YaHei" panose="020B0503020204020204" pitchFamily="34" charset="-122"/>
              </a:rPr>
              <a:t>Q</a:t>
            </a:r>
            <a:r>
              <a:rPr lang="zh-CN" altLang="en-US" sz="1600" dirty="0">
                <a:ea typeface="Microsoft YaHei" panose="020B0503020204020204" pitchFamily="34" charset="-122"/>
              </a:rPr>
              <a:t>：与什么因素有关？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“目录” </a:t>
            </a:r>
            <a:r>
              <a:rPr lang="en-US" altLang="zh-CN" sz="1600" dirty="0">
                <a:ea typeface="Microsoft YaHei" panose="020B0503020204020204" pitchFamily="34" charset="-122"/>
              </a:rPr>
              <a:t>VS.</a:t>
            </a:r>
            <a:r>
              <a:rPr lang="zh-CN" altLang="en-US" sz="1600" dirty="0">
                <a:ea typeface="Microsoft YaHei" panose="020B0503020204020204" pitchFamily="34" charset="-122"/>
              </a:rPr>
              <a:t> “文件夹”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r>
              <a:rPr lang="zh-CN" altLang="en-US" sz="1800" dirty="0">
                <a:ea typeface="Microsoft YaHei" panose="020B0503020204020204" pitchFamily="34" charset="-122"/>
              </a:rPr>
              <a:t>目录支持查找操作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给定一个目录文件和字符串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在目录文件中查找字符串，并返回对应的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</a:p>
        </p:txBody>
      </p:sp>
    </p:spTree>
    <p:extLst>
      <p:ext uri="{BB962C8B-B14F-4D97-AF65-F5344CB8AC3E}">
        <p14:creationId xmlns:p14="http://schemas.microsoft.com/office/powerpoint/2010/main" val="153978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文件系统 </a:t>
            </a:r>
            <a:r>
              <a:rPr kumimoji="1" lang="en-US" altLang="zh-CN" dirty="0"/>
              <a:t>API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54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文件系统</a:t>
            </a:r>
            <a:r>
              <a:rPr kumimoji="1" lang="en-US" altLang="zh-CN" dirty="0"/>
              <a:t>API</a:t>
            </a:r>
            <a:r>
              <a:rPr kumimoji="1" lang="zh-CN" altLang="en-US" dirty="0"/>
              <a:t>与元数据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应用程序通过</a:t>
            </a:r>
            <a:r>
              <a:rPr lang="zh-CN" altLang="en-US" b="1" dirty="0">
                <a:solidFill>
                  <a:srgbClr val="CD2327"/>
                </a:solidFill>
              </a:rPr>
              <a:t>系统调用</a:t>
            </a:r>
            <a:r>
              <a:rPr lang="zh-CN" altLang="en-US" dirty="0"/>
              <a:t>使用这些 </a:t>
            </a:r>
            <a:r>
              <a:rPr lang="en-US" altLang="zh-CN" dirty="0"/>
              <a:t>API</a:t>
            </a:r>
          </a:p>
          <a:p>
            <a:pPr lvl="1"/>
            <a:r>
              <a:rPr lang="en-US" altLang="zh-CN" dirty="0"/>
              <a:t>CHDIR, MKDIR, RMDIR</a:t>
            </a:r>
          </a:p>
          <a:p>
            <a:pPr lvl="1"/>
            <a:r>
              <a:rPr lang="en-US" altLang="zh-CN" dirty="0"/>
              <a:t>CREAT, LINK, UNLINK, RENAME</a:t>
            </a:r>
          </a:p>
          <a:p>
            <a:pPr lvl="1"/>
            <a:r>
              <a:rPr lang="en-US" altLang="zh-CN" dirty="0"/>
              <a:t>SYMLINK</a:t>
            </a:r>
          </a:p>
          <a:p>
            <a:pPr lvl="1"/>
            <a:r>
              <a:rPr lang="en-US" altLang="zh-CN" dirty="0"/>
              <a:t>MOUNT, UNMOUNT</a:t>
            </a:r>
          </a:p>
          <a:p>
            <a:pPr lvl="1"/>
            <a:r>
              <a:rPr lang="en-US" altLang="zh-CN" dirty="0"/>
              <a:t>OPEN, READ, WRITE, CLOSE</a:t>
            </a:r>
          </a:p>
          <a:p>
            <a:pPr lvl="1"/>
            <a:r>
              <a:rPr lang="en-US" altLang="zh-CN" dirty="0"/>
              <a:t>SYNC</a:t>
            </a:r>
          </a:p>
          <a:p>
            <a:r>
              <a:rPr lang="zh-CN" altLang="en-US" dirty="0"/>
              <a:t>文件系统的两类元数据</a:t>
            </a:r>
            <a:endParaRPr lang="en-US" altLang="zh-CN" dirty="0"/>
          </a:p>
          <a:p>
            <a:pPr lvl="1"/>
            <a:r>
              <a:rPr lang="zh-CN" altLang="en-US" dirty="0"/>
              <a:t>磁盘上文件的元数据：静态的、在磁盘中</a:t>
            </a:r>
            <a:endParaRPr lang="en-US" altLang="zh-CN" dirty="0"/>
          </a:p>
          <a:p>
            <a:pPr lvl="1"/>
            <a:r>
              <a:rPr lang="zh-CN" altLang="en-US" dirty="0"/>
              <a:t>被打开文件的元数据：动态的、在内存中</a:t>
            </a:r>
            <a:endParaRPr lang="en-US" altLang="zh-CN" dirty="0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7A038C7A-4AB2-0B47-9F6F-D1F5109ACEEA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7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13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文件的元数据 （磁盘中）</a:t>
            </a:r>
          </a:p>
        </p:txBody>
      </p:sp>
      <p:sp>
        <p:nvSpPr>
          <p:cNvPr id="50180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拥有者</a:t>
            </a:r>
            <a:r>
              <a:rPr lang="en-US" altLang="zh-CN" sz="2000" dirty="0"/>
              <a:t>/</a:t>
            </a:r>
            <a:r>
              <a:rPr lang="zh-CN" altLang="en-US" sz="2000" dirty="0"/>
              <a:t>所在组</a:t>
            </a:r>
            <a:r>
              <a:rPr lang="en-US" altLang="zh-CN" sz="2000" dirty="0"/>
              <a:t> ID</a:t>
            </a:r>
          </a:p>
          <a:p>
            <a:pPr lvl="1"/>
            <a:r>
              <a:rPr lang="zh-CN" altLang="en-US" sz="1800" dirty="0"/>
              <a:t>拥有该 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 的 用户</a:t>
            </a:r>
            <a:r>
              <a:rPr lang="en-US" altLang="zh-CN" sz="1800" dirty="0"/>
              <a:t> ID </a:t>
            </a:r>
            <a:r>
              <a:rPr lang="zh-CN" altLang="en-US" sz="1800" dirty="0"/>
              <a:t>和 组</a:t>
            </a:r>
            <a:r>
              <a:rPr lang="en-US" altLang="zh-CN" sz="1800" dirty="0"/>
              <a:t> ID</a:t>
            </a:r>
          </a:p>
          <a:p>
            <a:r>
              <a:rPr lang="zh-CN" altLang="en-US" sz="2000" dirty="0"/>
              <a:t>权限的类型</a:t>
            </a:r>
            <a:endParaRPr lang="en-US" altLang="zh-CN" sz="2000" dirty="0"/>
          </a:p>
          <a:p>
            <a:pPr lvl="1"/>
            <a:r>
              <a:rPr lang="zh-CN" altLang="en-US" sz="1800" dirty="0"/>
              <a:t>拥有者、所在组、其他</a:t>
            </a:r>
            <a:endParaRPr lang="en-US" altLang="zh-CN" sz="1800" dirty="0"/>
          </a:p>
          <a:p>
            <a:pPr lvl="1"/>
            <a:r>
              <a:rPr lang="zh-CN" altLang="en-US" sz="1800" dirty="0"/>
              <a:t>读、写、执行</a:t>
            </a:r>
            <a:endParaRPr lang="en-US" altLang="zh-CN" sz="1800" dirty="0"/>
          </a:p>
          <a:p>
            <a:r>
              <a:rPr lang="zh-CN" altLang="en-US" sz="2000" dirty="0"/>
              <a:t>时间戳</a:t>
            </a:r>
            <a:endParaRPr lang="en-US" altLang="zh-CN" sz="2000" dirty="0"/>
          </a:p>
          <a:p>
            <a:pPr lvl="1"/>
            <a:r>
              <a:rPr lang="zh-CN" altLang="en-US" sz="1800" dirty="0"/>
              <a:t>最后一次访问 </a:t>
            </a:r>
            <a:r>
              <a:rPr lang="en-US" altLang="zh-CN" sz="1800" dirty="0"/>
              <a:t> (</a:t>
            </a:r>
            <a:r>
              <a:rPr lang="zh-CN" altLang="en-US" sz="1800" dirty="0"/>
              <a:t>如：</a:t>
            </a:r>
            <a:r>
              <a:rPr lang="en-US" altLang="zh-CN" sz="1800" dirty="0"/>
              <a:t>READ</a:t>
            </a:r>
            <a:r>
              <a:rPr lang="zh-CN" altLang="en-US" sz="1800" dirty="0"/>
              <a:t> 操作</a:t>
            </a:r>
            <a:r>
              <a:rPr lang="en-US" altLang="zh-CN" sz="1800" dirty="0"/>
              <a:t>)</a:t>
            </a:r>
          </a:p>
          <a:p>
            <a:pPr lvl="1"/>
            <a:r>
              <a:rPr lang="zh-CN" altLang="en-US" sz="1800" dirty="0"/>
              <a:t>最后一次修改</a:t>
            </a:r>
            <a:r>
              <a:rPr lang="en-US" altLang="zh-CN" sz="1800" dirty="0"/>
              <a:t> (</a:t>
            </a:r>
            <a:r>
              <a:rPr lang="zh-CN" altLang="en-US" sz="1800" dirty="0"/>
              <a:t>如：</a:t>
            </a:r>
            <a:r>
              <a:rPr lang="en-US" altLang="zh-CN" sz="1800" dirty="0"/>
              <a:t>WRITE</a:t>
            </a:r>
            <a:r>
              <a:rPr lang="zh-CN" altLang="en-US" sz="1800" dirty="0"/>
              <a:t> 操作</a:t>
            </a:r>
            <a:r>
              <a:rPr lang="en-US" altLang="zh-CN" sz="1800" dirty="0"/>
              <a:t>)</a:t>
            </a:r>
          </a:p>
          <a:p>
            <a:pPr lvl="1"/>
            <a:r>
              <a:rPr lang="zh-CN" altLang="en-US" sz="1800" dirty="0"/>
              <a:t>最后一次 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 更新</a:t>
            </a:r>
            <a:r>
              <a:rPr lang="en-US" altLang="zh-CN" sz="1800" dirty="0"/>
              <a:t> (</a:t>
            </a:r>
            <a:r>
              <a:rPr lang="zh-CN" altLang="en-US" sz="1800" dirty="0"/>
              <a:t>如：</a:t>
            </a:r>
            <a:r>
              <a:rPr lang="en-US" altLang="zh-CN" sz="1800" dirty="0"/>
              <a:t>LINK</a:t>
            </a:r>
            <a:r>
              <a:rPr lang="zh-CN" altLang="en-US" sz="1800" dirty="0"/>
              <a:t> 操作</a:t>
            </a:r>
            <a:r>
              <a:rPr lang="en-US" altLang="zh-CN" sz="1800" dirty="0"/>
              <a:t>)</a:t>
            </a:r>
          </a:p>
          <a:p>
            <a:pPr lvl="1"/>
            <a:endParaRPr lang="zh-CN" altLang="en-US" sz="1800" dirty="0"/>
          </a:p>
        </p:txBody>
      </p:sp>
      <p:sp>
        <p:nvSpPr>
          <p:cNvPr id="5018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EC53C3BC-E2E4-5345-BAE8-9F86872ADFE7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8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A3C0305-FF2D-9849-A804-06EB2F856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569468"/>
            <a:ext cx="3994987" cy="254167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794BD00-9B38-9447-A259-6A1CD3013C29}"/>
              </a:ext>
            </a:extLst>
          </p:cNvPr>
          <p:cNvSpPr txBox="1"/>
          <p:nvPr/>
        </p:nvSpPr>
        <p:spPr>
          <a:xfrm>
            <a:off x="4953803" y="2180609"/>
            <a:ext cx="4239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D2327"/>
                </a:solidFill>
              </a:rPr>
              <a:t>POSIX</a:t>
            </a:r>
            <a:r>
              <a:rPr lang="zh-CN" altLang="en-US" sz="1600" b="1" dirty="0">
                <a:solidFill>
                  <a:srgbClr val="CD2327"/>
                </a:solidFill>
              </a:rPr>
              <a:t>定义的部分文件元数据（</a:t>
            </a:r>
            <a:r>
              <a:rPr lang="en-US" altLang="zh-CN" sz="1600" b="1" dirty="0">
                <a:solidFill>
                  <a:srgbClr val="CD2327"/>
                </a:solidFill>
              </a:rPr>
              <a:t>inode</a:t>
            </a:r>
            <a:r>
              <a:rPr lang="zh-CN" altLang="en-US" sz="1600" b="1" dirty="0">
                <a:solidFill>
                  <a:srgbClr val="CD2327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96385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被打开文件的元数据（内存中）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rmAutofit/>
          </a:bodyPr>
          <a:lstStyle/>
          <a:p>
            <a:r>
              <a:rPr lang="zh-CN" altLang="en-US" dirty="0"/>
              <a:t>整个系统维护了一个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0096FF"/>
                </a:solidFill>
              </a:rPr>
              <a:t>file_table</a:t>
            </a:r>
            <a:endParaRPr lang="en-US" altLang="zh-CN" dirty="0"/>
          </a:p>
          <a:p>
            <a:pPr lvl="1"/>
            <a:r>
              <a:rPr lang="zh-CN" altLang="en-US" dirty="0"/>
              <a:t>记录了所有打开的文件的信息</a:t>
            </a:r>
            <a:endParaRPr lang="en-US" altLang="zh-CN" dirty="0"/>
          </a:p>
          <a:p>
            <a:pPr lvl="1"/>
            <a:r>
              <a:rPr lang="zh-CN" altLang="en-US" dirty="0"/>
              <a:t>包括：文件游标（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cursor</a:t>
            </a:r>
            <a:r>
              <a:rPr lang="zh-CN" altLang="en-US" dirty="0"/>
              <a:t>）、引用数（</a:t>
            </a:r>
            <a:r>
              <a:rPr lang="en-US" altLang="zh-CN" dirty="0" err="1"/>
              <a:t>ref_count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父子进程间可以共享文件游标</a:t>
            </a:r>
            <a:endParaRPr lang="en-US" altLang="zh-CN" dirty="0"/>
          </a:p>
          <a:p>
            <a:r>
              <a:rPr lang="zh-CN" altLang="en-US" dirty="0"/>
              <a:t>每个进程维护了一个 </a:t>
            </a:r>
            <a:r>
              <a:rPr lang="en-US" altLang="zh-CN" b="1" dirty="0" err="1">
                <a:solidFill>
                  <a:srgbClr val="0096FF"/>
                </a:solidFill>
              </a:rPr>
              <a:t>fd_table</a:t>
            </a:r>
            <a:endParaRPr lang="en-US" altLang="zh-CN" dirty="0"/>
          </a:p>
          <a:p>
            <a:pPr lvl="1"/>
            <a:r>
              <a:rPr lang="zh-CN" altLang="en-US" dirty="0"/>
              <a:t>记录了该进程每个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0096FF"/>
                </a:solidFill>
              </a:rPr>
              <a:t>fd</a:t>
            </a:r>
            <a:r>
              <a:rPr lang="zh-CN" altLang="en-US" b="1" dirty="0">
                <a:solidFill>
                  <a:srgbClr val="0096FF"/>
                </a:solidFill>
              </a:rPr>
              <a:t> </a:t>
            </a:r>
            <a:r>
              <a:rPr lang="zh-CN" altLang="en-US" dirty="0"/>
              <a:t>所对应文件在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0096FF"/>
                </a:solidFill>
              </a:rPr>
              <a:t>file_table</a:t>
            </a:r>
            <a:r>
              <a:rPr lang="en-US" altLang="zh-CN" b="1" dirty="0">
                <a:solidFill>
                  <a:srgbClr val="0096FF"/>
                </a:solidFill>
              </a:rPr>
              <a:t> </a:t>
            </a:r>
            <a:r>
              <a:rPr lang="zh-CN" altLang="en-US" dirty="0"/>
              <a:t>中的索引</a:t>
            </a: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A8D140E2-2B87-B74B-B26F-2DA50DAEC8AA}" type="slidenum">
              <a:rPr lang="zh-CN" altLang="en-US" sz="1400" b="0">
                <a:latin typeface="DengXian" charset="0"/>
                <a:ea typeface="DengXian" charset="0"/>
                <a:cs typeface="DengXian" charset="0"/>
              </a:rPr>
              <a:pPr/>
              <a:t>9</a:t>
            </a:fld>
            <a:endParaRPr lang="en-US" altLang="zh-CN" sz="1400" b="0">
              <a:latin typeface="DengXian" charset="0"/>
              <a:ea typeface="DengXian" charset="0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7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文件游标</a:t>
            </a:r>
            <a:r>
              <a:rPr kumimoji="1" lang="en-US" altLang="zh-CN" dirty="0"/>
              <a:t> Cursor</a:t>
            </a:r>
            <a:endParaRPr kumimoji="1" lang="zh-CN" altLang="en-US" dirty="0"/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16287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文件游标</a:t>
            </a:r>
            <a:endParaRPr lang="en-US" altLang="zh-CN" dirty="0"/>
          </a:p>
          <a:p>
            <a:pPr lvl="1"/>
            <a:r>
              <a:rPr lang="zh-CN" altLang="en-US" dirty="0"/>
              <a:t>记录了一个文件中下一次操作的位置</a:t>
            </a:r>
            <a:endParaRPr lang="en-US" altLang="zh-CN" dirty="0"/>
          </a:p>
          <a:p>
            <a:pPr lvl="1"/>
            <a:r>
              <a:rPr lang="zh-CN" altLang="en-US" dirty="0"/>
              <a:t>可以通过</a:t>
            </a:r>
            <a:r>
              <a:rPr lang="en-US" altLang="zh-CN" dirty="0"/>
              <a:t> </a:t>
            </a:r>
            <a:r>
              <a:rPr lang="en-US" altLang="zh-CN" b="1" dirty="0"/>
              <a:t>SEEK</a:t>
            </a:r>
            <a:r>
              <a:rPr lang="en-US" altLang="zh-CN" dirty="0"/>
              <a:t> </a:t>
            </a:r>
            <a:r>
              <a:rPr lang="zh-CN" altLang="en-US" dirty="0"/>
              <a:t>操作修改</a:t>
            </a:r>
            <a:endParaRPr lang="en-US" altLang="zh-CN" dirty="0"/>
          </a:p>
          <a:p>
            <a:r>
              <a:rPr lang="zh-CN" altLang="en-US" dirty="0"/>
              <a:t>情况</a:t>
            </a:r>
            <a:r>
              <a:rPr lang="en-US" altLang="zh-CN" dirty="0"/>
              <a:t> 1: </a:t>
            </a:r>
            <a:r>
              <a:rPr lang="zh-CN" altLang="en-US" b="1" dirty="0">
                <a:solidFill>
                  <a:srgbClr val="0096FF"/>
                </a:solidFill>
              </a:rPr>
              <a:t>共享游标</a:t>
            </a:r>
            <a:endParaRPr lang="en-US" altLang="zh-CN" b="1" dirty="0">
              <a:solidFill>
                <a:srgbClr val="0096FF"/>
              </a:solidFill>
            </a:endParaRPr>
          </a:p>
          <a:p>
            <a:pPr lvl="1"/>
            <a:r>
              <a:rPr lang="zh-CN" altLang="en-US" dirty="0"/>
              <a:t>父进程将 </a:t>
            </a:r>
            <a:r>
              <a:rPr lang="en-US" altLang="zh-CN" dirty="0" err="1"/>
              <a:t>fd</a:t>
            </a:r>
            <a:r>
              <a:rPr lang="zh-CN" altLang="en-US" dirty="0"/>
              <a:t> 传递给子进程</a:t>
            </a:r>
            <a:endParaRPr lang="en-US" altLang="zh-CN" dirty="0"/>
          </a:p>
          <a:p>
            <a:pPr lvl="2"/>
            <a:r>
              <a:rPr lang="en-US" altLang="zh-CN" sz="2000" dirty="0"/>
              <a:t>UNIX</a:t>
            </a:r>
            <a:r>
              <a:rPr lang="zh-CN" altLang="en-US" dirty="0"/>
              <a:t> 中，子进程会继承父进程所有已经打开的</a:t>
            </a:r>
            <a:r>
              <a:rPr lang="en-US" altLang="zh-CN" sz="2000" dirty="0"/>
              <a:t> </a:t>
            </a:r>
            <a:r>
              <a:rPr lang="en-US" altLang="zh-CN" sz="2000" dirty="0" err="1"/>
              <a:t>fd</a:t>
            </a:r>
            <a:endParaRPr lang="en-US" altLang="zh-CN" sz="2000" dirty="0"/>
          </a:p>
          <a:p>
            <a:pPr lvl="1"/>
            <a:r>
              <a:rPr lang="zh-CN" altLang="en-US" dirty="0"/>
              <a:t>允许父子进程共享同一个文件</a:t>
            </a:r>
            <a:endParaRPr lang="en-US" altLang="zh-CN" dirty="0"/>
          </a:p>
          <a:p>
            <a:r>
              <a:rPr lang="zh-CN" altLang="en-US" dirty="0"/>
              <a:t>情况</a:t>
            </a:r>
            <a:r>
              <a:rPr lang="en-US" altLang="zh-CN" dirty="0"/>
              <a:t> 2: </a:t>
            </a:r>
            <a:r>
              <a:rPr lang="zh-CN" altLang="en-US" dirty="0">
                <a:solidFill>
                  <a:srgbClr val="0096FF"/>
                </a:solidFill>
              </a:rPr>
              <a:t>非共享游标</a:t>
            </a:r>
            <a:endParaRPr lang="en-US" altLang="zh-CN" b="1" dirty="0">
              <a:solidFill>
                <a:srgbClr val="0096FF"/>
              </a:solidFill>
            </a:endParaRPr>
          </a:p>
          <a:p>
            <a:pPr lvl="1"/>
            <a:r>
              <a:rPr lang="zh-CN" altLang="en-US" dirty="0"/>
              <a:t>两个不同的进程打开同一个文件</a:t>
            </a:r>
            <a:endParaRPr lang="en-US" altLang="zh-CN" dirty="0"/>
          </a:p>
          <a:p>
            <a:pPr lvl="2"/>
            <a:endParaRPr lang="zh-CN" altLang="en-US" sz="2000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167BDB8C-2347-FB47-A6E7-D362F98CD574}" type="slidenum">
              <a:rPr lang="zh-CN" altLang="en-US" sz="1400" b="0">
                <a:latin typeface="DengXian" charset="0"/>
                <a:ea typeface="DengXian" charset="0"/>
                <a:cs typeface="DengXian" charset="0"/>
              </a:rPr>
              <a:pPr/>
              <a:t>10</a:t>
            </a:fld>
            <a:endParaRPr lang="en-US" altLang="zh-CN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35BA49-0A90-8E40-887B-8038B0FE3737}"/>
              </a:ext>
            </a:extLst>
          </p:cNvPr>
          <p:cNvSpPr/>
          <p:nvPr/>
        </p:nvSpPr>
        <p:spPr>
          <a:xfrm>
            <a:off x="6156176" y="625252"/>
            <a:ext cx="2376264" cy="1558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上箭头 2">
            <a:extLst>
              <a:ext uri="{FF2B5EF4-FFF2-40B4-BE49-F238E27FC236}">
                <a16:creationId xmlns:a16="http://schemas.microsoft.com/office/drawing/2014/main" id="{1077FFCB-B81E-EB45-984B-874BEB135CAF}"/>
              </a:ext>
            </a:extLst>
          </p:cNvPr>
          <p:cNvSpPr/>
          <p:nvPr/>
        </p:nvSpPr>
        <p:spPr>
          <a:xfrm>
            <a:off x="6660232" y="913284"/>
            <a:ext cx="251048" cy="3482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6151B1B2-EF2A-9844-89EA-62F3429686DF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785756" y="481236"/>
            <a:ext cx="0" cy="43204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D3DC453-047F-1742-9DEF-3D11AACE34DC}"/>
              </a:ext>
            </a:extLst>
          </p:cNvPr>
          <p:cNvSpPr/>
          <p:nvPr/>
        </p:nvSpPr>
        <p:spPr>
          <a:xfrm>
            <a:off x="6386832" y="1307976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Cursor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2642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F50DA-4E08-9AB0-5A7A-6C97468B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lseek</a:t>
            </a:r>
            <a:r>
              <a:rPr kumimoji="1" lang="zh-CN" altLang="en-US" dirty="0"/>
              <a:t>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ADABC8-891B-206B-C5BC-8AB6447D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FAE01D-DCF3-3899-3DBF-2854FBC646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020"/>
          <a:stretch/>
        </p:blipFill>
        <p:spPr>
          <a:xfrm>
            <a:off x="462474" y="1336962"/>
            <a:ext cx="4974933" cy="396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D87619-12D7-34C2-102C-4CC5FE0E3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397" y="3516125"/>
            <a:ext cx="2509412" cy="180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C1E2402-1F8D-AD36-59C2-3D80219AB71A}"/>
              </a:ext>
            </a:extLst>
          </p:cNvPr>
          <p:cNvSpPr txBox="1"/>
          <p:nvPr/>
        </p:nvSpPr>
        <p:spPr>
          <a:xfrm>
            <a:off x="5724128" y="314679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运行结果：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65F21ED6-8AF9-44D6-1489-52E22B76EE12}"/>
              </a:ext>
            </a:extLst>
          </p:cNvPr>
          <p:cNvCxnSpPr/>
          <p:nvPr/>
        </p:nvCxnSpPr>
        <p:spPr>
          <a:xfrm>
            <a:off x="6084168" y="4225652"/>
            <a:ext cx="134397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D082EB42-9F61-2D60-CD9D-B2050B69C9E0}"/>
              </a:ext>
            </a:extLst>
          </p:cNvPr>
          <p:cNvCxnSpPr>
            <a:cxnSpLocks/>
          </p:cNvCxnSpPr>
          <p:nvPr/>
        </p:nvCxnSpPr>
        <p:spPr>
          <a:xfrm>
            <a:off x="899592" y="3217540"/>
            <a:ext cx="230425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017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ECBD4-EF07-5FBB-3D72-71299CF8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lseek</a:t>
            </a:r>
            <a:r>
              <a:rPr kumimoji="1" lang="zh-CN" altLang="en-US" dirty="0"/>
              <a:t>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249E8E-FEF7-84DB-7BC6-13390244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95480E-297F-59AA-8029-B65277AEAB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020"/>
          <a:stretch/>
        </p:blipFill>
        <p:spPr>
          <a:xfrm>
            <a:off x="457200" y="1333501"/>
            <a:ext cx="5004180" cy="396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691676-15BA-8A1D-097F-1431614881BD}"/>
              </a:ext>
            </a:extLst>
          </p:cNvPr>
          <p:cNvSpPr txBox="1"/>
          <p:nvPr/>
        </p:nvSpPr>
        <p:spPr>
          <a:xfrm>
            <a:off x="5726968" y="33821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运行结果：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9C06A57-0582-5C61-E2B6-F776A27FA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968" y="4069162"/>
            <a:ext cx="3237520" cy="1186822"/>
          </a:xfrm>
          <a:prstGeom prst="rect">
            <a:avLst/>
          </a:prstGeom>
        </p:spPr>
      </p:pic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C7B46507-12D9-32D8-31BA-E59600F023A7}"/>
              </a:ext>
            </a:extLst>
          </p:cNvPr>
          <p:cNvCxnSpPr/>
          <p:nvPr/>
        </p:nvCxnSpPr>
        <p:spPr>
          <a:xfrm>
            <a:off x="5796136" y="4585692"/>
            <a:ext cx="134397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372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7E279-7673-C8AF-7532-3D0BA5E2C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lseek</a:t>
            </a:r>
            <a:r>
              <a:rPr kumimoji="1" lang="zh-CN" altLang="en-US" dirty="0"/>
              <a:t>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26B870-9641-F5DC-E168-229362B5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D08924-EDE5-DFBF-E2F3-F20F61E8CD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721"/>
          <a:stretch/>
        </p:blipFill>
        <p:spPr>
          <a:xfrm>
            <a:off x="3995936" y="165422"/>
            <a:ext cx="4481418" cy="54490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74C9308-052A-960B-8129-8A28D6D01280}"/>
              </a:ext>
            </a:extLst>
          </p:cNvPr>
          <p:cNvSpPr txBox="1"/>
          <p:nvPr/>
        </p:nvSpPr>
        <p:spPr>
          <a:xfrm>
            <a:off x="323528" y="328852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运行结果：</a:t>
            </a:r>
          </a:p>
        </p:txBody>
      </p:sp>
      <p:pic>
        <p:nvPicPr>
          <p:cNvPr id="7" name="内容占位符 5">
            <a:extLst>
              <a:ext uri="{FF2B5EF4-FFF2-40B4-BE49-F238E27FC236}">
                <a16:creationId xmlns:a16="http://schemas.microsoft.com/office/drawing/2014/main" id="{91FB49E2-A405-2A79-E8F7-6AC6DCFF04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15" r="39952" b="11484"/>
          <a:stretch/>
        </p:blipFill>
        <p:spPr>
          <a:xfrm>
            <a:off x="457200" y="3787499"/>
            <a:ext cx="3403991" cy="1188000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52F89AB1-4230-1AEB-4698-D06FC2855538}"/>
              </a:ext>
            </a:extLst>
          </p:cNvPr>
          <p:cNvCxnSpPr>
            <a:cxnSpLocks/>
          </p:cNvCxnSpPr>
          <p:nvPr/>
        </p:nvCxnSpPr>
        <p:spPr>
          <a:xfrm>
            <a:off x="4427984" y="1777380"/>
            <a:ext cx="230425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0610C11F-1780-D203-FD80-86685AF2037E}"/>
              </a:ext>
            </a:extLst>
          </p:cNvPr>
          <p:cNvCxnSpPr>
            <a:cxnSpLocks/>
          </p:cNvCxnSpPr>
          <p:nvPr/>
        </p:nvCxnSpPr>
        <p:spPr>
          <a:xfrm>
            <a:off x="4427984" y="3433564"/>
            <a:ext cx="230425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1C3D19D4-3DCE-8622-DD99-65D0926BC50F}"/>
              </a:ext>
            </a:extLst>
          </p:cNvPr>
          <p:cNvCxnSpPr>
            <a:cxnSpLocks/>
          </p:cNvCxnSpPr>
          <p:nvPr/>
        </p:nvCxnSpPr>
        <p:spPr>
          <a:xfrm>
            <a:off x="4427984" y="4297660"/>
            <a:ext cx="230425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06E8C8B-7066-03D8-23F1-16B58AA4F736}"/>
              </a:ext>
            </a:extLst>
          </p:cNvPr>
          <p:cNvSpPr txBox="1"/>
          <p:nvPr/>
        </p:nvSpPr>
        <p:spPr>
          <a:xfrm flipH="1">
            <a:off x="6283803" y="4516939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FF0000"/>
                </a:solidFill>
                <a:latin typeface="+mn-ea"/>
              </a:rPr>
              <a:t>思考：注释第</a:t>
            </a:r>
            <a:r>
              <a:rPr kumimoji="1" lang="en-US" altLang="zh-CN" sz="1400" dirty="0">
                <a:solidFill>
                  <a:srgbClr val="FF0000"/>
                </a:solidFill>
                <a:latin typeface="+mn-ea"/>
              </a:rPr>
              <a:t>28</a:t>
            </a:r>
            <a:r>
              <a:rPr kumimoji="1" lang="zh-CN" altLang="en-US" sz="1400" dirty="0">
                <a:solidFill>
                  <a:srgbClr val="FF0000"/>
                </a:solidFill>
                <a:latin typeface="+mn-ea"/>
              </a:rPr>
              <a:t>行，</a:t>
            </a:r>
            <a:br>
              <a:rPr kumimoji="1" lang="en-US" altLang="zh-CN" sz="1400" dirty="0">
                <a:solidFill>
                  <a:srgbClr val="FF0000"/>
                </a:solidFill>
                <a:latin typeface="+mn-ea"/>
              </a:rPr>
            </a:br>
            <a:r>
              <a:rPr kumimoji="1" lang="zh-CN" altLang="en-US" sz="1400" dirty="0">
                <a:solidFill>
                  <a:srgbClr val="FF0000"/>
                </a:solidFill>
                <a:latin typeface="+mn-ea"/>
              </a:rPr>
              <a:t>会读到什么？</a:t>
            </a:r>
          </a:p>
        </p:txBody>
      </p:sp>
    </p:spTree>
    <p:extLst>
      <p:ext uri="{BB962C8B-B14F-4D97-AF65-F5344CB8AC3E}">
        <p14:creationId xmlns:p14="http://schemas.microsoft.com/office/powerpoint/2010/main" val="267907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文件游标共享实例</a:t>
            </a:r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F5E93B98-411B-3C4A-9927-5F26303B48AB}" type="slidenum">
              <a:rPr lang="zh-CN" altLang="en-US" sz="1400" b="0">
                <a:latin typeface="DengXian" charset="0"/>
                <a:ea typeface="DengXian" charset="0"/>
                <a:cs typeface="DengXian" charset="0"/>
              </a:rPr>
              <a:pPr/>
              <a:t>14</a:t>
            </a:fld>
            <a:endParaRPr lang="en-US" altLang="zh-CN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2205038" y="1959348"/>
            <a:ext cx="914400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3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3113088" y="1959348"/>
            <a:ext cx="920750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 dirty="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115</a:t>
            </a:r>
            <a:endParaRPr lang="zh-CN" altLang="en-US" sz="1600" dirty="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02" name="TextBox 23"/>
          <p:cNvSpPr txBox="1">
            <a:spLocks noChangeArrowheads="1"/>
          </p:cNvSpPr>
          <p:nvPr/>
        </p:nvSpPr>
        <p:spPr bwMode="auto">
          <a:xfrm>
            <a:off x="3224213" y="1677566"/>
            <a:ext cx="6985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400" b="0">
                <a:latin typeface="DengXian" charset="0"/>
                <a:ea typeface="DengXian" charset="0"/>
                <a:cs typeface="DengXian" charset="0"/>
              </a:rPr>
              <a:t>index</a:t>
            </a:r>
            <a:endParaRPr lang="zh-CN" altLang="en-US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03" name="TextBox 24"/>
          <p:cNvSpPr txBox="1">
            <a:spLocks noChangeArrowheads="1"/>
          </p:cNvSpPr>
          <p:nvPr/>
        </p:nvSpPr>
        <p:spPr bwMode="auto">
          <a:xfrm>
            <a:off x="533400" y="1895848"/>
            <a:ext cx="15636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r" eaLnBrk="1" hangingPunct="1"/>
            <a:r>
              <a:rPr lang="zh-CN" altLang="en-US" b="0" dirty="0">
                <a:latin typeface="DengXian" charset="0"/>
                <a:ea typeface="DengXian" charset="0"/>
                <a:cs typeface="DengXian" charset="0"/>
              </a:rPr>
              <a:t>进程</a:t>
            </a:r>
            <a:r>
              <a:rPr lang="en-US" altLang="zh-CN" b="0" dirty="0">
                <a:latin typeface="DengXian" charset="0"/>
                <a:ea typeface="DengXian" charset="0"/>
                <a:cs typeface="DengXian" charset="0"/>
              </a:rPr>
              <a:t> A</a:t>
            </a:r>
            <a:endParaRPr lang="zh-CN" altLang="en-US" b="0" dirty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04" name="TextBox 25"/>
          <p:cNvSpPr txBox="1">
            <a:spLocks noChangeArrowheads="1"/>
          </p:cNvSpPr>
          <p:nvPr/>
        </p:nvSpPr>
        <p:spPr bwMode="auto">
          <a:xfrm>
            <a:off x="1905000" y="1201316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2400" dirty="0" err="1">
                <a:latin typeface="DengXian" charset="0"/>
                <a:ea typeface="DengXian" charset="0"/>
                <a:cs typeface="DengXian" charset="0"/>
              </a:rPr>
              <a:t>fd_table</a:t>
            </a:r>
            <a:endParaRPr lang="zh-CN" altLang="en-US" sz="2400" dirty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05" name="TextBox 26"/>
          <p:cNvSpPr txBox="1">
            <a:spLocks noChangeArrowheads="1"/>
          </p:cNvSpPr>
          <p:nvPr/>
        </p:nvSpPr>
        <p:spPr bwMode="auto">
          <a:xfrm>
            <a:off x="2311400" y="1677566"/>
            <a:ext cx="7000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400" b="0">
                <a:latin typeface="DengXian" charset="0"/>
                <a:ea typeface="DengXian" charset="0"/>
                <a:cs typeface="DengXian" charset="0"/>
              </a:rPr>
              <a:t>fd</a:t>
            </a:r>
            <a:endParaRPr lang="zh-CN" altLang="en-US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28" name="圆角矩形 27"/>
          <p:cNvSpPr/>
          <p:nvPr/>
        </p:nvSpPr>
        <p:spPr bwMode="auto">
          <a:xfrm>
            <a:off x="2209800" y="2689598"/>
            <a:ext cx="914400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3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29" name="圆角矩形 28"/>
          <p:cNvSpPr/>
          <p:nvPr/>
        </p:nvSpPr>
        <p:spPr bwMode="auto">
          <a:xfrm>
            <a:off x="3119438" y="2689598"/>
            <a:ext cx="919162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116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08" name="TextBox 29"/>
          <p:cNvSpPr txBox="1">
            <a:spLocks noChangeArrowheads="1"/>
          </p:cNvSpPr>
          <p:nvPr/>
        </p:nvSpPr>
        <p:spPr bwMode="auto">
          <a:xfrm>
            <a:off x="3228975" y="2407816"/>
            <a:ext cx="7000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400" b="0">
                <a:latin typeface="DengXian" charset="0"/>
                <a:ea typeface="DengXian" charset="0"/>
                <a:cs typeface="DengXian" charset="0"/>
              </a:rPr>
              <a:t>index</a:t>
            </a:r>
            <a:endParaRPr lang="zh-CN" altLang="en-US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09" name="TextBox 30"/>
          <p:cNvSpPr txBox="1">
            <a:spLocks noChangeArrowheads="1"/>
          </p:cNvSpPr>
          <p:nvPr/>
        </p:nvSpPr>
        <p:spPr bwMode="auto">
          <a:xfrm>
            <a:off x="514100" y="2626098"/>
            <a:ext cx="15636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r" eaLnBrk="1" hangingPunct="1"/>
            <a:r>
              <a:rPr lang="zh-CN" altLang="en-US" b="0" dirty="0">
                <a:latin typeface="DengXian" charset="0"/>
                <a:ea typeface="DengXian" charset="0"/>
                <a:cs typeface="DengXian" charset="0"/>
              </a:rPr>
              <a:t>进程</a:t>
            </a:r>
            <a:r>
              <a:rPr lang="en-US" altLang="zh-CN" b="0" dirty="0">
                <a:latin typeface="DengXian" charset="0"/>
                <a:ea typeface="DengXian" charset="0"/>
                <a:cs typeface="DengXian" charset="0"/>
              </a:rPr>
              <a:t> B</a:t>
            </a:r>
            <a:endParaRPr lang="zh-CN" altLang="en-US" b="0" dirty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10" name="TextBox 31"/>
          <p:cNvSpPr txBox="1">
            <a:spLocks noChangeArrowheads="1"/>
          </p:cNvSpPr>
          <p:nvPr/>
        </p:nvSpPr>
        <p:spPr bwMode="auto">
          <a:xfrm>
            <a:off x="2317750" y="2407816"/>
            <a:ext cx="6985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400" b="0">
                <a:latin typeface="DengXian" charset="0"/>
                <a:ea typeface="DengXian" charset="0"/>
                <a:cs typeface="DengXian" charset="0"/>
              </a:rPr>
              <a:t>fd</a:t>
            </a:r>
            <a:endParaRPr lang="zh-CN" altLang="en-US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33" name="圆角矩形 32"/>
          <p:cNvSpPr/>
          <p:nvPr/>
        </p:nvSpPr>
        <p:spPr bwMode="auto">
          <a:xfrm>
            <a:off x="2209800" y="3451598"/>
            <a:ext cx="914400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3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34" name="圆角矩形 33"/>
          <p:cNvSpPr/>
          <p:nvPr/>
        </p:nvSpPr>
        <p:spPr bwMode="auto">
          <a:xfrm>
            <a:off x="3119438" y="3451598"/>
            <a:ext cx="919162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116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13" name="TextBox 34"/>
          <p:cNvSpPr txBox="1">
            <a:spLocks noChangeArrowheads="1"/>
          </p:cNvSpPr>
          <p:nvPr/>
        </p:nvSpPr>
        <p:spPr bwMode="auto">
          <a:xfrm>
            <a:off x="3228975" y="3169816"/>
            <a:ext cx="7000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400" b="0">
                <a:latin typeface="DengXian" charset="0"/>
                <a:ea typeface="DengXian" charset="0"/>
                <a:cs typeface="DengXian" charset="0"/>
              </a:rPr>
              <a:t>index</a:t>
            </a:r>
            <a:endParaRPr lang="zh-CN" altLang="en-US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14" name="TextBox 35"/>
          <p:cNvSpPr txBox="1">
            <a:spLocks noChangeArrowheads="1"/>
          </p:cNvSpPr>
          <p:nvPr/>
        </p:nvSpPr>
        <p:spPr bwMode="auto">
          <a:xfrm>
            <a:off x="107504" y="3388098"/>
            <a:ext cx="19943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r" eaLnBrk="1" hangingPunct="1"/>
            <a:r>
              <a:rPr lang="en-US" altLang="zh-CN" b="0" dirty="0">
                <a:latin typeface="DengXian" charset="0"/>
                <a:ea typeface="DengXian" charset="0"/>
                <a:cs typeface="DengXian" charset="0"/>
              </a:rPr>
              <a:t>C </a:t>
            </a:r>
            <a:r>
              <a:rPr lang="zh-CN" altLang="en-US" b="0" dirty="0">
                <a:latin typeface="DengXian" charset="0"/>
                <a:ea typeface="DengXian" charset="0"/>
                <a:cs typeface="DengXian" charset="0"/>
              </a:rPr>
              <a:t>是 </a:t>
            </a:r>
            <a:r>
              <a:rPr lang="en-US" altLang="zh-CN" b="0" dirty="0">
                <a:latin typeface="DengXian" charset="0"/>
                <a:ea typeface="DengXian" charset="0"/>
                <a:cs typeface="DengXian" charset="0"/>
              </a:rPr>
              <a:t>B</a:t>
            </a:r>
            <a:r>
              <a:rPr lang="zh-CN" altLang="en-US" b="0" dirty="0">
                <a:latin typeface="DengXian" charset="0"/>
                <a:ea typeface="DengXian" charset="0"/>
                <a:cs typeface="DengXian" charset="0"/>
              </a:rPr>
              <a:t> 的子进程</a:t>
            </a:r>
          </a:p>
        </p:txBody>
      </p:sp>
      <p:sp>
        <p:nvSpPr>
          <p:cNvPr id="55315" name="TextBox 36"/>
          <p:cNvSpPr txBox="1">
            <a:spLocks noChangeArrowheads="1"/>
          </p:cNvSpPr>
          <p:nvPr/>
        </p:nvSpPr>
        <p:spPr bwMode="auto">
          <a:xfrm>
            <a:off x="2317750" y="3169816"/>
            <a:ext cx="6985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400" b="0">
                <a:latin typeface="DengXian" charset="0"/>
                <a:ea typeface="DengXian" charset="0"/>
                <a:cs typeface="DengXian" charset="0"/>
              </a:rPr>
              <a:t>fd</a:t>
            </a:r>
            <a:endParaRPr lang="zh-CN" altLang="en-US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16" name="内容占位符 2"/>
          <p:cNvSpPr>
            <a:spLocks noGrp="1"/>
          </p:cNvSpPr>
          <p:nvPr>
            <p:ph idx="1"/>
          </p:nvPr>
        </p:nvSpPr>
        <p:spPr>
          <a:xfrm>
            <a:off x="550584" y="4153644"/>
            <a:ext cx="8305800" cy="11828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三个进程</a:t>
            </a:r>
            <a:r>
              <a:rPr lang="en-US" altLang="zh-CN" sz="2000" dirty="0"/>
              <a:t> A</a:t>
            </a:r>
            <a:r>
              <a:rPr lang="zh-CN" altLang="en-US" sz="2000" dirty="0"/>
              <a:t>、</a:t>
            </a:r>
            <a:r>
              <a:rPr lang="en-US" altLang="zh-CN" sz="2000" dirty="0"/>
              <a:t>B</a:t>
            </a:r>
            <a:r>
              <a:rPr lang="zh-CN" altLang="en-US" sz="2000" dirty="0"/>
              <a:t>、</a:t>
            </a:r>
            <a:r>
              <a:rPr lang="en-US" altLang="zh-CN" sz="2000" dirty="0"/>
              <a:t>C </a:t>
            </a:r>
            <a:r>
              <a:rPr lang="zh-CN" altLang="en-US" sz="2000" dirty="0"/>
              <a:t>都打开了 </a:t>
            </a:r>
            <a:r>
              <a:rPr lang="en-US" altLang="zh-CN" sz="2000" dirty="0" err="1"/>
              <a:t>inode</a:t>
            </a:r>
            <a:r>
              <a:rPr lang="zh-CN" altLang="en-US" sz="2000" dirty="0"/>
              <a:t> 号为 </a:t>
            </a:r>
            <a:r>
              <a:rPr lang="en-US" altLang="zh-CN" sz="2000" dirty="0"/>
              <a:t>23</a:t>
            </a:r>
            <a:r>
              <a:rPr lang="zh-CN" altLang="en-US" sz="2000" dirty="0"/>
              <a:t> 的文件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进程</a:t>
            </a:r>
            <a:r>
              <a:rPr lang="en-US" altLang="zh-CN" sz="2000" dirty="0"/>
              <a:t> A </a:t>
            </a:r>
            <a:r>
              <a:rPr lang="zh-CN" altLang="en-US" sz="2000" dirty="0"/>
              <a:t>和</a:t>
            </a:r>
            <a:r>
              <a:rPr lang="en-US" altLang="zh-CN" sz="2000" dirty="0"/>
              <a:t> B</a:t>
            </a:r>
            <a:r>
              <a:rPr lang="zh-CN" altLang="en-US" sz="2000" dirty="0"/>
              <a:t> 不共享文件游标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进程</a:t>
            </a:r>
            <a:r>
              <a:rPr lang="en-US" altLang="zh-CN" sz="2000" dirty="0"/>
              <a:t> B</a:t>
            </a:r>
            <a:r>
              <a:rPr lang="zh-CN" altLang="en-US" sz="2000" dirty="0"/>
              <a:t> 和 </a:t>
            </a:r>
            <a:r>
              <a:rPr lang="en-US" altLang="zh-CN" sz="2000" dirty="0"/>
              <a:t>C </a:t>
            </a:r>
            <a:r>
              <a:rPr lang="zh-CN" altLang="en-US" sz="2000" dirty="0"/>
              <a:t>共享文件游标</a:t>
            </a:r>
          </a:p>
        </p:txBody>
      </p:sp>
      <p:sp>
        <p:nvSpPr>
          <p:cNvPr id="40" name="圆角矩形 4"/>
          <p:cNvSpPr/>
          <p:nvPr/>
        </p:nvSpPr>
        <p:spPr bwMode="auto">
          <a:xfrm>
            <a:off x="5629275" y="1960670"/>
            <a:ext cx="914400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 dirty="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23</a:t>
            </a:r>
            <a:endParaRPr lang="zh-CN" altLang="en-US" sz="1600" dirty="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42" name="圆角矩形 5"/>
          <p:cNvSpPr/>
          <p:nvPr/>
        </p:nvSpPr>
        <p:spPr bwMode="auto">
          <a:xfrm>
            <a:off x="6538913" y="1960670"/>
            <a:ext cx="919162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128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45" name="圆角矩形 6"/>
          <p:cNvSpPr/>
          <p:nvPr/>
        </p:nvSpPr>
        <p:spPr bwMode="auto">
          <a:xfrm>
            <a:off x="5629275" y="2278170"/>
            <a:ext cx="914400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23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46" name="圆角矩形 7"/>
          <p:cNvSpPr/>
          <p:nvPr/>
        </p:nvSpPr>
        <p:spPr bwMode="auto">
          <a:xfrm>
            <a:off x="6538913" y="2278170"/>
            <a:ext cx="919162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240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47" name="圆角矩形 8"/>
          <p:cNvSpPr/>
          <p:nvPr/>
        </p:nvSpPr>
        <p:spPr bwMode="auto">
          <a:xfrm>
            <a:off x="5629275" y="3421170"/>
            <a:ext cx="914400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48" name="圆角矩形 9"/>
          <p:cNvSpPr/>
          <p:nvPr/>
        </p:nvSpPr>
        <p:spPr bwMode="auto">
          <a:xfrm>
            <a:off x="6538913" y="3421170"/>
            <a:ext cx="919162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49" name="直接连接符 11"/>
          <p:cNvCxnSpPr/>
          <p:nvPr/>
        </p:nvCxnSpPr>
        <p:spPr bwMode="auto">
          <a:xfrm>
            <a:off x="8377238" y="2598316"/>
            <a:ext cx="0" cy="85063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0" name="直接连接符 12"/>
          <p:cNvCxnSpPr/>
          <p:nvPr/>
        </p:nvCxnSpPr>
        <p:spPr bwMode="auto">
          <a:xfrm>
            <a:off x="5629275" y="2598317"/>
            <a:ext cx="0" cy="82285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5325" name="TextBox 13"/>
          <p:cNvSpPr txBox="1">
            <a:spLocks noChangeArrowheads="1"/>
          </p:cNvSpPr>
          <p:nvPr/>
        </p:nvSpPr>
        <p:spPr bwMode="auto">
          <a:xfrm rot="5400000">
            <a:off x="6881416" y="2821770"/>
            <a:ext cx="448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lang="en-US" altLang="zh-CN" sz="1800">
                <a:latin typeface="DengXian" charset="0"/>
                <a:ea typeface="DengXian" charset="0"/>
                <a:cs typeface="DengXian" charset="0"/>
              </a:rPr>
              <a:t>...</a:t>
            </a:r>
            <a:endParaRPr lang="zh-CN" altLang="en-US" sz="180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26" name="TextBox 14"/>
          <p:cNvSpPr txBox="1">
            <a:spLocks noChangeArrowheads="1"/>
          </p:cNvSpPr>
          <p:nvPr/>
        </p:nvSpPr>
        <p:spPr bwMode="auto">
          <a:xfrm>
            <a:off x="5579144" y="1678890"/>
            <a:ext cx="10810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lang="en-US" altLang="zh-CN" sz="1400" b="0" dirty="0" err="1">
                <a:latin typeface="DengXian" charset="0"/>
                <a:ea typeface="DengXian" charset="0"/>
                <a:cs typeface="DengXian" charset="0"/>
              </a:rPr>
              <a:t>inode</a:t>
            </a:r>
            <a:r>
              <a:rPr lang="en-US" altLang="zh-CN" sz="1400" b="0" dirty="0"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lang="zh-CN" altLang="en-US" sz="1400" b="0" dirty="0">
                <a:latin typeface="DengXian" charset="0"/>
                <a:ea typeface="DengXian" charset="0"/>
                <a:cs typeface="DengXian" charset="0"/>
              </a:rPr>
              <a:t>号</a:t>
            </a:r>
          </a:p>
        </p:txBody>
      </p:sp>
      <p:sp>
        <p:nvSpPr>
          <p:cNvPr id="55327" name="TextBox 15"/>
          <p:cNvSpPr txBox="1">
            <a:spLocks noChangeArrowheads="1"/>
          </p:cNvSpPr>
          <p:nvPr/>
        </p:nvSpPr>
        <p:spPr bwMode="auto">
          <a:xfrm>
            <a:off x="6530975" y="1678890"/>
            <a:ext cx="10795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lang="zh-CN" altLang="en-US" sz="1400" b="0" dirty="0">
                <a:latin typeface="DengXian" charset="0"/>
                <a:ea typeface="DengXian" charset="0"/>
                <a:cs typeface="DengXian" charset="0"/>
              </a:rPr>
              <a:t>文件游标</a:t>
            </a:r>
          </a:p>
        </p:txBody>
      </p:sp>
      <p:sp>
        <p:nvSpPr>
          <p:cNvPr id="55328" name="TextBox 16"/>
          <p:cNvSpPr txBox="1">
            <a:spLocks noChangeArrowheads="1"/>
          </p:cNvSpPr>
          <p:nvPr/>
        </p:nvSpPr>
        <p:spPr bwMode="auto">
          <a:xfrm>
            <a:off x="4778375" y="1678890"/>
            <a:ext cx="6985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400" b="0">
                <a:latin typeface="DengXian" charset="0"/>
                <a:ea typeface="DengXian" charset="0"/>
                <a:cs typeface="DengXian" charset="0"/>
              </a:rPr>
              <a:t>index</a:t>
            </a:r>
            <a:endParaRPr lang="zh-CN" altLang="en-US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" name="圆角矩形 17"/>
          <p:cNvSpPr/>
          <p:nvPr/>
        </p:nvSpPr>
        <p:spPr bwMode="auto">
          <a:xfrm>
            <a:off x="4867275" y="1960670"/>
            <a:ext cx="609600" cy="317500"/>
          </a:xfrm>
          <a:prstGeom prst="roundRect">
            <a:avLst>
              <a:gd name="adj" fmla="val 0"/>
            </a:avLst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115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6" name="圆角矩形 18"/>
          <p:cNvSpPr/>
          <p:nvPr/>
        </p:nvSpPr>
        <p:spPr bwMode="auto">
          <a:xfrm>
            <a:off x="4867275" y="2274202"/>
            <a:ext cx="609600" cy="317500"/>
          </a:xfrm>
          <a:prstGeom prst="roundRect">
            <a:avLst>
              <a:gd name="adj" fmla="val 0"/>
            </a:avLst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116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31" name="TextBox 20"/>
          <p:cNvSpPr txBox="1">
            <a:spLocks noChangeArrowheads="1"/>
          </p:cNvSpPr>
          <p:nvPr/>
        </p:nvSpPr>
        <p:spPr bwMode="auto">
          <a:xfrm>
            <a:off x="5867400" y="1206608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2400" dirty="0" err="1">
                <a:latin typeface="DengXian" charset="0"/>
                <a:ea typeface="DengXian" charset="0"/>
                <a:cs typeface="DengXian" charset="0"/>
              </a:rPr>
              <a:t>file_table</a:t>
            </a:r>
            <a:endParaRPr lang="zh-CN" altLang="en-US" sz="2400" dirty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8" name="圆角矩形 40"/>
          <p:cNvSpPr/>
          <p:nvPr/>
        </p:nvSpPr>
        <p:spPr bwMode="auto">
          <a:xfrm>
            <a:off x="7458076" y="1960670"/>
            <a:ext cx="919163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1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55333" name="TextBox 41"/>
          <p:cNvSpPr txBox="1">
            <a:spLocks noChangeArrowheads="1"/>
          </p:cNvSpPr>
          <p:nvPr/>
        </p:nvSpPr>
        <p:spPr bwMode="auto">
          <a:xfrm>
            <a:off x="7377114" y="1678890"/>
            <a:ext cx="10810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400" b="0">
                <a:latin typeface="DengXian" charset="0"/>
                <a:ea typeface="DengXian" charset="0"/>
                <a:cs typeface="DengXian" charset="0"/>
              </a:rPr>
              <a:t>refcnt</a:t>
            </a:r>
            <a:endParaRPr lang="zh-CN" altLang="en-US" sz="1400" b="0"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60" name="圆角矩形 42"/>
          <p:cNvSpPr/>
          <p:nvPr/>
        </p:nvSpPr>
        <p:spPr bwMode="auto">
          <a:xfrm>
            <a:off x="7458076" y="2276848"/>
            <a:ext cx="919163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DengXian" charset="0"/>
                <a:ea typeface="DengXian" charset="0"/>
                <a:cs typeface="DengXian" charset="0"/>
              </a:rPr>
              <a:t>2</a:t>
            </a:r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61" name="圆角矩形 43"/>
          <p:cNvSpPr/>
          <p:nvPr/>
        </p:nvSpPr>
        <p:spPr bwMode="auto">
          <a:xfrm>
            <a:off x="7458076" y="3421170"/>
            <a:ext cx="919163" cy="317500"/>
          </a:xfrm>
          <a:prstGeom prst="roundRect">
            <a:avLst>
              <a:gd name="adj" fmla="val 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600">
              <a:solidFill>
                <a:schemeClr val="tx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55336" name="Elbow Connector 2"/>
          <p:cNvCxnSpPr>
            <a:cxnSpLocks noChangeShapeType="1"/>
            <a:stCxn id="23" idx="3"/>
            <a:endCxn id="55" idx="1"/>
          </p:cNvCxnSpPr>
          <p:nvPr/>
        </p:nvCxnSpPr>
        <p:spPr bwMode="auto">
          <a:xfrm>
            <a:off x="4033839" y="2118098"/>
            <a:ext cx="833437" cy="132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5337" name="Elbow Connector 10"/>
          <p:cNvCxnSpPr>
            <a:cxnSpLocks noChangeShapeType="1"/>
            <a:stCxn id="29" idx="3"/>
            <a:endCxn id="56" idx="1"/>
          </p:cNvCxnSpPr>
          <p:nvPr/>
        </p:nvCxnSpPr>
        <p:spPr bwMode="auto">
          <a:xfrm flipV="1">
            <a:off x="4038601" y="2432952"/>
            <a:ext cx="828675" cy="41539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5338" name="Elbow Connector 14"/>
          <p:cNvCxnSpPr>
            <a:cxnSpLocks noChangeShapeType="1"/>
            <a:stCxn id="34" idx="3"/>
            <a:endCxn id="56" idx="1"/>
          </p:cNvCxnSpPr>
          <p:nvPr/>
        </p:nvCxnSpPr>
        <p:spPr bwMode="auto">
          <a:xfrm flipV="1">
            <a:off x="4038601" y="2432952"/>
            <a:ext cx="828675" cy="117739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99E07AE4-3305-3B46-8A23-314829E9E5B1}"/>
              </a:ext>
            </a:extLst>
          </p:cNvPr>
          <p:cNvSpPr/>
          <p:nvPr/>
        </p:nvSpPr>
        <p:spPr>
          <a:xfrm>
            <a:off x="4763983" y="380715"/>
            <a:ext cx="4193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注意：这个</a:t>
            </a:r>
            <a:r>
              <a:rPr kumimoji="1"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refcnt</a:t>
            </a:r>
            <a:r>
              <a: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与</a:t>
            </a:r>
            <a:r>
              <a:rPr kumimoji="1"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inode</a:t>
            </a:r>
            <a:r>
              <a: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的</a:t>
            </a:r>
            <a:r>
              <a:rPr kumimoji="1"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refcnt</a:t>
            </a:r>
            <a:r>
              <a: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不同！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5CD93E38-44C2-4849-AA2E-9585CF3AE26F}"/>
              </a:ext>
            </a:extLst>
          </p:cNvPr>
          <p:cNvCxnSpPr>
            <a:endCxn id="55333" idx="0"/>
          </p:cNvCxnSpPr>
          <p:nvPr/>
        </p:nvCxnSpPr>
        <p:spPr>
          <a:xfrm flipH="1">
            <a:off x="7917658" y="776973"/>
            <a:ext cx="388142" cy="90191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382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write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write()</a:t>
            </a:r>
            <a:r>
              <a:rPr lang="en-US" altLang="zh-CN" sz="2400" dirty="0"/>
              <a:t> </a:t>
            </a:r>
            <a:r>
              <a:rPr lang="zh-CN" altLang="en-US" sz="2400" dirty="0"/>
              <a:t>与 </a:t>
            </a:r>
            <a:r>
              <a:rPr lang="en-US" altLang="zh-CN" sz="2400" dirty="0"/>
              <a:t>read()</a:t>
            </a:r>
            <a:r>
              <a:rPr lang="zh-CN" altLang="en-US" sz="2400" b="1" dirty="0"/>
              <a:t> 类似</a:t>
            </a:r>
            <a:endParaRPr lang="en-US" altLang="zh-CN" sz="2400" b="1" dirty="0"/>
          </a:p>
          <a:p>
            <a:pPr lvl="1"/>
            <a:r>
              <a:rPr lang="zh-CN" altLang="en-US" sz="2000" dirty="0"/>
              <a:t>可能需要分配新的 </a:t>
            </a:r>
            <a:r>
              <a:rPr lang="en-US" altLang="zh-CN" sz="2000" dirty="0"/>
              <a:t>block</a:t>
            </a:r>
          </a:p>
          <a:p>
            <a:pPr lvl="1"/>
            <a:r>
              <a:rPr lang="zh-CN" altLang="en-US" sz="2000" dirty="0"/>
              <a:t>更新 </a:t>
            </a:r>
            <a:r>
              <a:rPr lang="en-US" altLang="zh-CN" sz="2000" dirty="0" err="1"/>
              <a:t>inode</a:t>
            </a:r>
            <a:r>
              <a:rPr lang="zh-CN" altLang="en-US" sz="2000" dirty="0"/>
              <a:t> 的 </a:t>
            </a:r>
            <a:r>
              <a:rPr lang="en-US" altLang="zh-CN" sz="2000" dirty="0"/>
              <a:t>size</a:t>
            </a:r>
            <a:r>
              <a:rPr lang="zh-CN" altLang="en-US" sz="2000" dirty="0"/>
              <a:t> 和 </a:t>
            </a:r>
            <a:r>
              <a:rPr lang="en-US" altLang="zh-CN" sz="2000" dirty="0" err="1"/>
              <a:t>mtime</a:t>
            </a:r>
            <a:endParaRPr lang="en-US" altLang="zh-CN" sz="2000" i="1" dirty="0"/>
          </a:p>
          <a:p>
            <a:r>
              <a:rPr lang="en-US" altLang="zh-CN" sz="2400" dirty="0"/>
              <a:t>close()</a:t>
            </a:r>
            <a:endParaRPr lang="en-US" altLang="zh-CN" sz="2400" b="1" dirty="0"/>
          </a:p>
          <a:p>
            <a:pPr lvl="1"/>
            <a:r>
              <a:rPr lang="zh-CN" altLang="en-US" sz="2000" dirty="0"/>
              <a:t>释放</a:t>
            </a:r>
            <a:r>
              <a:rPr lang="en-US" altLang="zh-CN" sz="2000" dirty="0"/>
              <a:t> </a:t>
            </a:r>
            <a:r>
              <a:rPr lang="en-US" altLang="zh-CN" sz="2000" dirty="0" err="1"/>
              <a:t>fd_table</a:t>
            </a:r>
            <a:r>
              <a:rPr lang="en-US" altLang="zh-CN" sz="2000" dirty="0"/>
              <a:t> </a:t>
            </a:r>
            <a:r>
              <a:rPr lang="zh-CN" altLang="en-US" sz="2000" dirty="0"/>
              <a:t>中的相关项</a:t>
            </a:r>
            <a:endParaRPr lang="en-US" altLang="zh-CN" sz="2000" dirty="0"/>
          </a:p>
          <a:p>
            <a:pPr lvl="1"/>
            <a:r>
              <a:rPr lang="zh-CN" altLang="en-US" sz="2000" dirty="0"/>
              <a:t>减小 </a:t>
            </a:r>
            <a:r>
              <a:rPr lang="en-US" altLang="zh-CN" sz="2000" dirty="0"/>
              <a:t>file table</a:t>
            </a:r>
            <a:r>
              <a:rPr lang="zh-CN" altLang="en-US" sz="2000" dirty="0"/>
              <a:t> 中相关项的 </a:t>
            </a:r>
            <a:r>
              <a:rPr lang="en-US" altLang="zh-CN" sz="2000" dirty="0" err="1"/>
              <a:t>refcnt</a:t>
            </a:r>
            <a:endParaRPr lang="en-US" altLang="zh-CN" sz="2000" dirty="0"/>
          </a:p>
          <a:p>
            <a:pPr lvl="1"/>
            <a:r>
              <a:rPr lang="zh-CN" altLang="en-US" sz="2000" dirty="0"/>
              <a:t>如果 </a:t>
            </a:r>
            <a:r>
              <a:rPr lang="en-US" altLang="zh-CN" sz="2000" dirty="0"/>
              <a:t>file</a:t>
            </a:r>
            <a:r>
              <a:rPr lang="zh-CN" altLang="en-US" sz="2000" dirty="0"/>
              <a:t> </a:t>
            </a:r>
            <a:r>
              <a:rPr lang="en-US" altLang="zh-CN" sz="2000" dirty="0"/>
              <a:t>table</a:t>
            </a:r>
            <a:r>
              <a:rPr lang="zh-CN" altLang="en-US" sz="2000" dirty="0"/>
              <a:t> 中相关项 </a:t>
            </a:r>
            <a:r>
              <a:rPr lang="en-US" altLang="zh-CN" sz="2000" dirty="0" err="1"/>
              <a:t>refcnt</a:t>
            </a:r>
            <a:r>
              <a:rPr lang="zh-CN" altLang="en-US" sz="2000" dirty="0"/>
              <a:t> 为 </a:t>
            </a:r>
            <a:r>
              <a:rPr lang="en-US" altLang="zh-CN" sz="2000" dirty="0"/>
              <a:t>0</a:t>
            </a:r>
            <a:r>
              <a:rPr lang="zh-CN" altLang="en-US" sz="2000" dirty="0"/>
              <a:t>，则将其释放</a:t>
            </a:r>
            <a:endParaRPr lang="zh-CN" altLang="en-US" sz="2400" i="1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FD40AA32-A82E-8C4B-944E-AB7102F425D0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15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460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删除一个打开的文件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进程</a:t>
            </a:r>
            <a:r>
              <a:rPr lang="en-US" altLang="zh-CN" sz="2000" dirty="0"/>
              <a:t>P1</a:t>
            </a:r>
            <a:r>
              <a:rPr lang="zh-CN" altLang="en-US" sz="2000" dirty="0"/>
              <a:t>打开了文件 </a:t>
            </a:r>
            <a:r>
              <a:rPr lang="en-US" altLang="zh-CN" sz="2000" dirty="0"/>
              <a:t>A</a:t>
            </a:r>
          </a:p>
          <a:p>
            <a:pPr lvl="1"/>
            <a:r>
              <a:rPr lang="zh-CN" altLang="en-US" sz="1800" dirty="0"/>
              <a:t>运行 </a:t>
            </a:r>
            <a:r>
              <a:rPr lang="en-US" altLang="zh-CN" sz="1800" dirty="0"/>
              <a:t>open</a:t>
            </a:r>
            <a:r>
              <a:rPr lang="zh-CN" altLang="en-US" sz="1800" dirty="0"/>
              <a:t>，在 </a:t>
            </a:r>
            <a:r>
              <a:rPr lang="en-US" altLang="zh-CN" sz="1800" dirty="0" err="1"/>
              <a:t>file_table</a:t>
            </a:r>
            <a:r>
              <a:rPr lang="zh-CN" altLang="en-US" sz="1800" dirty="0"/>
              <a:t> 和 </a:t>
            </a:r>
            <a:r>
              <a:rPr lang="en-US" altLang="zh-CN" sz="1800" dirty="0" err="1"/>
              <a:t>fd_table</a:t>
            </a:r>
            <a:r>
              <a:rPr lang="zh-CN" altLang="en-US" sz="1800" dirty="0"/>
              <a:t> 中都增加了一项</a:t>
            </a:r>
            <a:endParaRPr lang="en-US" altLang="zh-CN" sz="1800" dirty="0"/>
          </a:p>
          <a:p>
            <a:r>
              <a:rPr lang="zh-CN" altLang="en-US" sz="2000" dirty="0"/>
              <a:t>进程</a:t>
            </a:r>
            <a:r>
              <a:rPr lang="en-US" altLang="zh-CN" sz="2000" dirty="0"/>
              <a:t>P2</a:t>
            </a:r>
            <a:r>
              <a:rPr lang="zh-CN" altLang="en-US" sz="2000" dirty="0"/>
              <a:t>将文件 </a:t>
            </a:r>
            <a:r>
              <a:rPr lang="en-US" altLang="zh-CN" sz="2000" dirty="0"/>
              <a:t>A</a:t>
            </a:r>
            <a:r>
              <a:rPr lang="zh-CN" altLang="en-US" sz="2000" dirty="0"/>
              <a:t> 删除</a:t>
            </a:r>
            <a:endParaRPr lang="en-US" altLang="zh-CN" sz="2000" dirty="0"/>
          </a:p>
          <a:p>
            <a:pPr lvl="1"/>
            <a:r>
              <a:rPr lang="zh-CN" altLang="en-US" sz="2000" dirty="0"/>
              <a:t>删掉了指向文件 </a:t>
            </a:r>
            <a:r>
              <a:rPr lang="en-US" altLang="zh-CN" sz="2000" dirty="0"/>
              <a:t>A</a:t>
            </a:r>
            <a:r>
              <a:rPr lang="zh-CN" altLang="en-US" sz="2000" dirty="0"/>
              <a:t> 的最后一个目录项</a:t>
            </a:r>
            <a:endParaRPr lang="en-US" altLang="zh-CN" sz="2000" dirty="0"/>
          </a:p>
          <a:p>
            <a:pPr lvl="1"/>
            <a:r>
              <a:rPr lang="zh-CN" altLang="en-US" sz="1800" dirty="0"/>
              <a:t>文件 </a:t>
            </a:r>
            <a:r>
              <a:rPr lang="en-US" altLang="zh-CN" sz="1800" dirty="0"/>
              <a:t>A</a:t>
            </a:r>
            <a:r>
              <a:rPr lang="zh-CN" altLang="en-US" sz="1800" dirty="0"/>
              <a:t>  的 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 引用数变成了</a:t>
            </a:r>
            <a:r>
              <a:rPr lang="en-US" altLang="zh-CN" sz="1800" dirty="0"/>
              <a:t> 0</a:t>
            </a:r>
          </a:p>
          <a:p>
            <a:r>
              <a:rPr lang="zh-CN" altLang="en-US" sz="2000" dirty="0"/>
              <a:t>文件 </a:t>
            </a:r>
            <a:r>
              <a:rPr lang="en-US" altLang="zh-CN" sz="2000" dirty="0"/>
              <a:t>A</a:t>
            </a:r>
            <a:r>
              <a:rPr lang="zh-CN" altLang="en-US" sz="2000" dirty="0"/>
              <a:t> 的 </a:t>
            </a:r>
            <a:r>
              <a:rPr lang="en-US" altLang="zh-CN" sz="2000" dirty="0" err="1"/>
              <a:t>inode</a:t>
            </a:r>
            <a:r>
              <a:rPr lang="zh-CN" altLang="en-US" sz="2000" dirty="0"/>
              <a:t> </a:t>
            </a:r>
            <a:r>
              <a:rPr lang="zh-CN" altLang="en-US" sz="2000" dirty="0">
                <a:solidFill>
                  <a:schemeClr val="accent1"/>
                </a:solidFill>
              </a:rPr>
              <a:t>不会被立即释放和删除</a:t>
            </a:r>
            <a:endParaRPr lang="en-US" altLang="zh-CN" sz="2000" dirty="0"/>
          </a:p>
          <a:p>
            <a:pPr lvl="1"/>
            <a:r>
              <a:rPr lang="zh-CN" altLang="en-US" sz="1800" dirty="0"/>
              <a:t>直到前一个进程调用 </a:t>
            </a:r>
            <a:r>
              <a:rPr lang="en-US" altLang="zh-CN" sz="1800" dirty="0"/>
              <a:t>close</a:t>
            </a:r>
            <a:r>
              <a:rPr lang="zh-CN" altLang="en-US" sz="1800" dirty="0"/>
              <a:t> 将其关闭</a:t>
            </a:r>
            <a:endParaRPr lang="en-US" altLang="zh-CN" sz="1800" dirty="0"/>
          </a:p>
          <a:p>
            <a:pPr lvl="1"/>
            <a:r>
              <a:rPr lang="zh-CN" altLang="en-US" sz="2000" dirty="0"/>
              <a:t>（在 </a:t>
            </a:r>
            <a:r>
              <a:rPr lang="en-US" altLang="zh-CN" sz="2000" dirty="0"/>
              <a:t>Windows</a:t>
            </a:r>
            <a:r>
              <a:rPr lang="zh-CN" altLang="en-US" sz="2000" dirty="0"/>
              <a:t> 上，则通过</a:t>
            </a:r>
            <a:r>
              <a:rPr lang="en-US" altLang="zh-CN" sz="2000" dirty="0"/>
              <a:t>"</a:t>
            </a:r>
            <a:r>
              <a:rPr lang="zh-CN" altLang="en-US" sz="2000" dirty="0"/>
              <a:t>禁止删除打开的文件</a:t>
            </a:r>
            <a:r>
              <a:rPr lang="en-US" altLang="zh-CN" sz="2000" dirty="0"/>
              <a:t>"</a:t>
            </a:r>
            <a:r>
              <a:rPr lang="zh-CN" altLang="en-US" sz="2000" dirty="0"/>
              <a:t>实现类似效果）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EC16947D-8954-8045-A51D-70A54E8B6949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16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51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fsync</a:t>
            </a:r>
            <a:endParaRPr kumimoji="1" lang="zh-CN" altLang="en-US" dirty="0"/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Block cache</a:t>
            </a:r>
          </a:p>
          <a:p>
            <a:pPr lvl="1"/>
            <a:r>
              <a:rPr lang="zh-CN" altLang="en-US" sz="2000" dirty="0"/>
              <a:t>缓存了最近被使用的磁盘块</a:t>
            </a:r>
            <a:endParaRPr lang="en-US" altLang="zh-CN" sz="2000" dirty="0"/>
          </a:p>
          <a:p>
            <a:pPr lvl="1"/>
            <a:r>
              <a:rPr lang="zh-CN" altLang="en-US" sz="2000" dirty="0"/>
              <a:t>缓存缺失时，从磁盘中读取</a:t>
            </a:r>
            <a:endParaRPr lang="en-US" altLang="zh-CN" sz="2000" dirty="0"/>
          </a:p>
          <a:p>
            <a:pPr lvl="1"/>
            <a:r>
              <a:rPr lang="zh-CN" altLang="en-US" sz="2000" dirty="0"/>
              <a:t>推迟数据向磁盘的写入</a:t>
            </a:r>
            <a:endParaRPr lang="en-US" altLang="zh-CN" sz="2000" dirty="0"/>
          </a:p>
          <a:p>
            <a:pPr lvl="1"/>
            <a:r>
              <a:rPr lang="zh-CN" altLang="en-US" sz="2000" dirty="0"/>
              <a:t>寻求机会批量写入，提升性能</a:t>
            </a:r>
            <a:endParaRPr lang="en-US" altLang="zh-CN" sz="2000" dirty="0"/>
          </a:p>
          <a:p>
            <a:pPr lvl="1"/>
            <a:r>
              <a:rPr lang="zh-CN" altLang="en-US" sz="2000" dirty="0"/>
              <a:t>问题：如果在写入前发生故障，可能会造成不一致</a:t>
            </a:r>
            <a:endParaRPr lang="en-US" altLang="zh-CN" sz="2000" dirty="0"/>
          </a:p>
          <a:p>
            <a:r>
              <a:rPr lang="en-US" altLang="zh-CN" sz="2400" dirty="0"/>
              <a:t>SYNC</a:t>
            </a:r>
          </a:p>
          <a:p>
            <a:pPr lvl="1"/>
            <a:r>
              <a:rPr lang="zh-CN" altLang="en-US" sz="2000" dirty="0"/>
              <a:t>保证对文件的所有修改被写入到存储设备</a:t>
            </a:r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4DF509B4-1C50-AC4A-BAEF-4C2320813263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17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16C425-56B7-F34A-B97D-EF61C9326FD2}"/>
              </a:ext>
            </a:extLst>
          </p:cNvPr>
          <p:cNvSpPr/>
          <p:nvPr/>
        </p:nvSpPr>
        <p:spPr>
          <a:xfrm>
            <a:off x="6619468" y="2857500"/>
            <a:ext cx="1979240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磁盘盘面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065686-A247-0A41-B5B9-437E6E97A276}"/>
              </a:ext>
            </a:extLst>
          </p:cNvPr>
          <p:cNvSpPr/>
          <p:nvPr/>
        </p:nvSpPr>
        <p:spPr>
          <a:xfrm>
            <a:off x="6619468" y="1828853"/>
            <a:ext cx="1979240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磁盘驱动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85C819-8892-9140-A0AB-D8306072134B}"/>
              </a:ext>
            </a:extLst>
          </p:cNvPr>
          <p:cNvSpPr/>
          <p:nvPr/>
        </p:nvSpPr>
        <p:spPr>
          <a:xfrm>
            <a:off x="6619468" y="1331642"/>
            <a:ext cx="1979240" cy="3600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r>
              <a:rPr kumimoji="1"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endParaRPr kumimoji="1"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DE1F1C-BB67-824F-9C3D-1F17DF1D641C}"/>
              </a:ext>
            </a:extLst>
          </p:cNvPr>
          <p:cNvSpPr/>
          <p:nvPr/>
        </p:nvSpPr>
        <p:spPr>
          <a:xfrm>
            <a:off x="6619468" y="834431"/>
            <a:ext cx="1979240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文件系统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FA8053-2ED4-514B-8915-035EEBAAB097}"/>
              </a:ext>
            </a:extLst>
          </p:cNvPr>
          <p:cNvSpPr/>
          <p:nvPr/>
        </p:nvSpPr>
        <p:spPr>
          <a:xfrm>
            <a:off x="6619468" y="265212"/>
            <a:ext cx="1979240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应用程序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B2F78907-D4AE-B94C-B818-BF87C3D826A3}"/>
              </a:ext>
            </a:extLst>
          </p:cNvPr>
          <p:cNvCxnSpPr/>
          <p:nvPr/>
        </p:nvCxnSpPr>
        <p:spPr>
          <a:xfrm>
            <a:off x="6444208" y="769268"/>
            <a:ext cx="23146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24EB9C84-E442-B14C-95A4-2A3FE999DFD9}"/>
              </a:ext>
            </a:extLst>
          </p:cNvPr>
          <p:cNvCxnSpPr>
            <a:cxnSpLocks/>
          </p:cNvCxnSpPr>
          <p:nvPr/>
        </p:nvCxnSpPr>
        <p:spPr>
          <a:xfrm>
            <a:off x="6444208" y="2281436"/>
            <a:ext cx="23146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A1EF79F-5BBB-4641-A1B3-78F132FC119D}"/>
              </a:ext>
            </a:extLst>
          </p:cNvPr>
          <p:cNvSpPr/>
          <p:nvPr/>
        </p:nvSpPr>
        <p:spPr>
          <a:xfrm>
            <a:off x="6619468" y="2360289"/>
            <a:ext cx="1979240" cy="3600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磁盘内存（硬件）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9E97C0-DA5C-A04D-AD63-91F6B6F6D1C3}"/>
              </a:ext>
            </a:extLst>
          </p:cNvPr>
          <p:cNvSpPr/>
          <p:nvPr/>
        </p:nvSpPr>
        <p:spPr>
          <a:xfrm>
            <a:off x="4408606" y="584602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fsync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（系统调用）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42158B-BC34-1F49-82A8-1E08C570C9BD}"/>
              </a:ext>
            </a:extLst>
          </p:cNvPr>
          <p:cNvSpPr/>
          <p:nvPr/>
        </p:nvSpPr>
        <p:spPr>
          <a:xfrm>
            <a:off x="4442724" y="2096770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flush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（磁盘操作）</a:t>
            </a:r>
          </a:p>
        </p:txBody>
      </p:sp>
    </p:spTree>
    <p:extLst>
      <p:ext uri="{BB962C8B-B14F-4D97-AF65-F5344CB8AC3E}">
        <p14:creationId xmlns:p14="http://schemas.microsoft.com/office/powerpoint/2010/main" val="238090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b="0" dirty="0"/>
              <a:t>一次 </a:t>
            </a:r>
            <a:r>
              <a:rPr kumimoji="1" lang="en-US" altLang="zh-CN" b="0" dirty="0"/>
              <a:t>OPEN</a:t>
            </a:r>
            <a:r>
              <a:rPr kumimoji="1" lang="zh-CN" altLang="en-US" b="0" dirty="0"/>
              <a:t> 中有多少磁盘读写</a:t>
            </a:r>
            <a:r>
              <a:rPr kumimoji="1" lang="en-US" altLang="zh-CN" b="0" dirty="0"/>
              <a:t>?</a:t>
            </a:r>
          </a:p>
          <a:p>
            <a:r>
              <a:rPr kumimoji="1" lang="zh-CN" altLang="en-US" b="0" dirty="0"/>
              <a:t>一次 </a:t>
            </a:r>
            <a:r>
              <a:rPr kumimoji="1" lang="en-US" altLang="zh-CN" b="0" dirty="0"/>
              <a:t>READ</a:t>
            </a:r>
            <a:r>
              <a:rPr kumimoji="1" lang="zh-CN" altLang="en-US" b="0" dirty="0"/>
              <a:t> 中有多少磁盘读写</a:t>
            </a:r>
            <a:r>
              <a:rPr kumimoji="1" lang="en-US" altLang="zh-CN" b="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89347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D2324D9-9D04-C14A-BCB5-533FD464FA5B}"/>
              </a:ext>
            </a:extLst>
          </p:cNvPr>
          <p:cNvSpPr/>
          <p:nvPr/>
        </p:nvSpPr>
        <p:spPr>
          <a:xfrm>
            <a:off x="3144972" y="985292"/>
            <a:ext cx="718944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0E6633-D493-C34C-B5EA-0BC284ED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B234AA-231E-9046-9CB3-4CFF809027B5}"/>
              </a:ext>
            </a:extLst>
          </p:cNvPr>
          <p:cNvSpPr/>
          <p:nvPr/>
        </p:nvSpPr>
        <p:spPr>
          <a:xfrm>
            <a:off x="1704812" y="985292"/>
            <a:ext cx="720080" cy="72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E3348E-5039-F146-923F-37DE1E2E8516}"/>
              </a:ext>
            </a:extLst>
          </p:cNvPr>
          <p:cNvSpPr/>
          <p:nvPr/>
        </p:nvSpPr>
        <p:spPr>
          <a:xfrm>
            <a:off x="2424892" y="985292"/>
            <a:ext cx="720080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447635-E0DC-6C41-8D50-A80A6BFE01ED}"/>
              </a:ext>
            </a:extLst>
          </p:cNvPr>
          <p:cNvSpPr/>
          <p:nvPr/>
        </p:nvSpPr>
        <p:spPr>
          <a:xfrm>
            <a:off x="4579702" y="985292"/>
            <a:ext cx="720080" cy="720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root</a:t>
            </a:r>
            <a:endParaRPr kumimoji="1" lang="en-US" altLang="zh-CN" sz="1100" dirty="0">
              <a:solidFill>
                <a:srgbClr val="000000"/>
              </a:solidFill>
              <a:latin typeface="Arial" panose="020B0604020202020204"/>
              <a:ea typeface="微软雅黑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block[0]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36B429-8AC8-1C45-9E7E-154A442F479A}"/>
              </a:ext>
            </a:extLst>
          </p:cNvPr>
          <p:cNvSpPr/>
          <p:nvPr/>
        </p:nvSpPr>
        <p:spPr>
          <a:xfrm>
            <a:off x="5298646" y="985292"/>
            <a:ext cx="720080" cy="720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</a:rPr>
              <a:t>etc</a:t>
            </a:r>
            <a:endParaRPr kumimoji="1" lang="en-US" altLang="zh-CN" sz="1100" dirty="0">
              <a:solidFill>
                <a:schemeClr val="tx1"/>
              </a:solidFill>
            </a:endParaRPr>
          </a:p>
          <a:p>
            <a:pPr algn="ctr"/>
            <a:endParaRPr kumimoji="1" lang="en-US" altLang="zh-CN" sz="11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block[1]</a:t>
            </a:r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A82C892-0E9D-624B-8195-D6D357CE5BFA}"/>
              </a:ext>
            </a:extLst>
          </p:cNvPr>
          <p:cNvSpPr/>
          <p:nvPr/>
        </p:nvSpPr>
        <p:spPr>
          <a:xfrm>
            <a:off x="1992087" y="1056475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0987CC-AF8A-9F43-A4B4-2C669AF75EE0}"/>
              </a:ext>
            </a:extLst>
          </p:cNvPr>
          <p:cNvSpPr/>
          <p:nvPr/>
        </p:nvSpPr>
        <p:spPr>
          <a:xfrm>
            <a:off x="1793155" y="1056475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111752C-F299-4B47-B9A5-8F986F6A6777}"/>
              </a:ext>
            </a:extLst>
          </p:cNvPr>
          <p:cNvSpPr/>
          <p:nvPr/>
        </p:nvSpPr>
        <p:spPr>
          <a:xfrm>
            <a:off x="2190262" y="1056475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7190B7F-B084-844E-BFB5-F1AC6FE79802}"/>
              </a:ext>
            </a:extLst>
          </p:cNvPr>
          <p:cNvSpPr/>
          <p:nvPr/>
        </p:nvSpPr>
        <p:spPr>
          <a:xfrm>
            <a:off x="1992844" y="1272499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5ADCBD3-3E9C-FB42-9480-9D91D3300B73}"/>
              </a:ext>
            </a:extLst>
          </p:cNvPr>
          <p:cNvSpPr/>
          <p:nvPr/>
        </p:nvSpPr>
        <p:spPr>
          <a:xfrm>
            <a:off x="1793912" y="1272499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3066841-D833-4D42-BCC6-35843D3C5536}"/>
              </a:ext>
            </a:extLst>
          </p:cNvPr>
          <p:cNvSpPr/>
          <p:nvPr/>
        </p:nvSpPr>
        <p:spPr>
          <a:xfrm>
            <a:off x="2191019" y="1272499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11204CE-F6F3-1242-ABB7-AD9243ABFAB5}"/>
              </a:ext>
            </a:extLst>
          </p:cNvPr>
          <p:cNvSpPr/>
          <p:nvPr/>
        </p:nvSpPr>
        <p:spPr>
          <a:xfrm>
            <a:off x="1992087" y="1488523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26F09AD-E0BB-7140-8386-681006FA252A}"/>
              </a:ext>
            </a:extLst>
          </p:cNvPr>
          <p:cNvSpPr/>
          <p:nvPr/>
        </p:nvSpPr>
        <p:spPr>
          <a:xfrm>
            <a:off x="1793155" y="1488523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978BCEF-7BAD-134E-B729-BE9CFCFAED7A}"/>
              </a:ext>
            </a:extLst>
          </p:cNvPr>
          <p:cNvSpPr/>
          <p:nvPr/>
        </p:nvSpPr>
        <p:spPr>
          <a:xfrm>
            <a:off x="2190262" y="1488523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4CC76E9-1C21-2444-BEAD-A59E09995007}"/>
              </a:ext>
            </a:extLst>
          </p:cNvPr>
          <p:cNvSpPr/>
          <p:nvPr/>
        </p:nvSpPr>
        <p:spPr>
          <a:xfrm>
            <a:off x="2713681" y="1061737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9C75939-6D32-9347-92DE-6F90E96C8F03}"/>
              </a:ext>
            </a:extLst>
          </p:cNvPr>
          <p:cNvSpPr/>
          <p:nvPr/>
        </p:nvSpPr>
        <p:spPr>
          <a:xfrm>
            <a:off x="2514749" y="1061737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9545507-3058-5A46-BD66-719A4A915701}"/>
              </a:ext>
            </a:extLst>
          </p:cNvPr>
          <p:cNvSpPr/>
          <p:nvPr/>
        </p:nvSpPr>
        <p:spPr>
          <a:xfrm>
            <a:off x="2911856" y="1061737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AEAD467-2D18-D248-9EAE-76AB7AFD36D5}"/>
              </a:ext>
            </a:extLst>
          </p:cNvPr>
          <p:cNvSpPr/>
          <p:nvPr/>
        </p:nvSpPr>
        <p:spPr>
          <a:xfrm>
            <a:off x="2714438" y="1277761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3A0E3A3-ACC3-AD48-B0AC-D3FC39524F22}"/>
              </a:ext>
            </a:extLst>
          </p:cNvPr>
          <p:cNvSpPr/>
          <p:nvPr/>
        </p:nvSpPr>
        <p:spPr>
          <a:xfrm>
            <a:off x="2515506" y="1277761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583DF57-BCE2-6646-AC19-B8EDE600B63E}"/>
              </a:ext>
            </a:extLst>
          </p:cNvPr>
          <p:cNvSpPr/>
          <p:nvPr/>
        </p:nvSpPr>
        <p:spPr>
          <a:xfrm>
            <a:off x="2912613" y="1277761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85EF043-AE95-6542-99D5-D432B049DD73}"/>
              </a:ext>
            </a:extLst>
          </p:cNvPr>
          <p:cNvSpPr/>
          <p:nvPr/>
        </p:nvSpPr>
        <p:spPr>
          <a:xfrm>
            <a:off x="2713681" y="1493785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D642AFC-12E4-F746-99CD-BDFF5A72342B}"/>
              </a:ext>
            </a:extLst>
          </p:cNvPr>
          <p:cNvSpPr/>
          <p:nvPr/>
        </p:nvSpPr>
        <p:spPr>
          <a:xfrm>
            <a:off x="2514749" y="1493785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158321E-899E-344A-BD77-E24C2CAC702F}"/>
              </a:ext>
            </a:extLst>
          </p:cNvPr>
          <p:cNvSpPr/>
          <p:nvPr/>
        </p:nvSpPr>
        <p:spPr>
          <a:xfrm>
            <a:off x="2911856" y="1493785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AB322F-B29A-284F-A50D-F621BD091865}"/>
              </a:ext>
            </a:extLst>
          </p:cNvPr>
          <p:cNvSpPr/>
          <p:nvPr/>
        </p:nvSpPr>
        <p:spPr>
          <a:xfrm>
            <a:off x="3144972" y="985292"/>
            <a:ext cx="144773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65F398E-BC3B-0241-9261-FBAC76A5EF60}"/>
              </a:ext>
            </a:extLst>
          </p:cNvPr>
          <p:cNvSpPr/>
          <p:nvPr/>
        </p:nvSpPr>
        <p:spPr>
          <a:xfrm>
            <a:off x="3286717" y="985292"/>
            <a:ext cx="144773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9E639C3-285C-8243-92DE-0C0EA82E0861}"/>
              </a:ext>
            </a:extLst>
          </p:cNvPr>
          <p:cNvSpPr/>
          <p:nvPr/>
        </p:nvSpPr>
        <p:spPr>
          <a:xfrm>
            <a:off x="3576765" y="985292"/>
            <a:ext cx="144773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79671B8-B9F5-A741-BFAA-26A3BFB7F8B5}"/>
              </a:ext>
            </a:extLst>
          </p:cNvPr>
          <p:cNvSpPr/>
          <p:nvPr/>
        </p:nvSpPr>
        <p:spPr>
          <a:xfrm>
            <a:off x="3719143" y="985292"/>
            <a:ext cx="144773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D9FB51A-5011-384B-9633-43340289FD52}"/>
              </a:ext>
            </a:extLst>
          </p:cNvPr>
          <p:cNvSpPr/>
          <p:nvPr/>
        </p:nvSpPr>
        <p:spPr>
          <a:xfrm>
            <a:off x="3864419" y="985292"/>
            <a:ext cx="718944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0484D29-51C4-0946-8B86-0B089D27EB04}"/>
              </a:ext>
            </a:extLst>
          </p:cNvPr>
          <p:cNvSpPr/>
          <p:nvPr/>
        </p:nvSpPr>
        <p:spPr>
          <a:xfrm>
            <a:off x="3864419" y="985292"/>
            <a:ext cx="144773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0FB7DD4-DBE3-614D-97CD-EF008ED8F4A3}"/>
              </a:ext>
            </a:extLst>
          </p:cNvPr>
          <p:cNvSpPr/>
          <p:nvPr/>
        </p:nvSpPr>
        <p:spPr>
          <a:xfrm>
            <a:off x="4006164" y="985292"/>
            <a:ext cx="144773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D9EB193-F050-C447-9BA7-761DC848478D}"/>
              </a:ext>
            </a:extLst>
          </p:cNvPr>
          <p:cNvSpPr/>
          <p:nvPr/>
        </p:nvSpPr>
        <p:spPr>
          <a:xfrm>
            <a:off x="4296212" y="985292"/>
            <a:ext cx="144773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8CDF5E-E2F1-CA43-89BB-0A2B2614701D}"/>
              </a:ext>
            </a:extLst>
          </p:cNvPr>
          <p:cNvSpPr/>
          <p:nvPr/>
        </p:nvSpPr>
        <p:spPr>
          <a:xfrm>
            <a:off x="4438590" y="985292"/>
            <a:ext cx="144773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8124AB1-29F6-5843-94C0-7B06FC7A8BBE}"/>
              </a:ext>
            </a:extLst>
          </p:cNvPr>
          <p:cNvSpPr/>
          <p:nvPr/>
        </p:nvSpPr>
        <p:spPr>
          <a:xfrm>
            <a:off x="6013929" y="985292"/>
            <a:ext cx="720080" cy="720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dirty="0">
                <a:solidFill>
                  <a:srgbClr val="000000"/>
                </a:solidFill>
                <a:latin typeface="Arial" panose="020B0604020202020204"/>
                <a:ea typeface="微软雅黑"/>
              </a:rPr>
              <a:t>hosts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block[2]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8B20989-F81C-9547-A0B7-67E28188FA44}"/>
              </a:ext>
            </a:extLst>
          </p:cNvPr>
          <p:cNvSpPr/>
          <p:nvPr/>
        </p:nvSpPr>
        <p:spPr>
          <a:xfrm>
            <a:off x="6732873" y="985292"/>
            <a:ext cx="720080" cy="720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hosts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block[3]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634DCE8-49C6-1B4B-93C4-36EFA357500B}"/>
              </a:ext>
            </a:extLst>
          </p:cNvPr>
          <p:cNvSpPr/>
          <p:nvPr/>
        </p:nvSpPr>
        <p:spPr>
          <a:xfrm>
            <a:off x="7448156" y="985292"/>
            <a:ext cx="720080" cy="720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hosts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block[4]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3386CE3-E904-F641-BFFC-558B6AE215C1}"/>
              </a:ext>
            </a:extLst>
          </p:cNvPr>
          <p:cNvSpPr/>
          <p:nvPr/>
        </p:nvSpPr>
        <p:spPr>
          <a:xfrm>
            <a:off x="988266" y="985292"/>
            <a:ext cx="720080" cy="72008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9F42E58-F200-A545-94AA-06FBA108580F}"/>
              </a:ext>
            </a:extLst>
          </p:cNvPr>
          <p:cNvSpPr txBox="1"/>
          <p:nvPr/>
        </p:nvSpPr>
        <p:spPr>
          <a:xfrm>
            <a:off x="994399" y="433182"/>
            <a:ext cx="70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CD2327"/>
                </a:solidFill>
              </a:rPr>
              <a:t>Super</a:t>
            </a:r>
          </a:p>
          <a:p>
            <a:pPr algn="ctr"/>
            <a:r>
              <a:rPr lang="en-US" altLang="zh-CN" sz="1200" dirty="0">
                <a:solidFill>
                  <a:srgbClr val="CD2327"/>
                </a:solidFill>
              </a:rPr>
              <a:t>Block</a:t>
            </a:r>
            <a:endParaRPr lang="zh-CN" altLang="en-US" sz="1200" dirty="0">
              <a:solidFill>
                <a:srgbClr val="CD2327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3484795-67FF-A543-9418-DE11E599EED8}"/>
              </a:ext>
            </a:extLst>
          </p:cNvPr>
          <p:cNvSpPr txBox="1"/>
          <p:nvPr/>
        </p:nvSpPr>
        <p:spPr>
          <a:xfrm>
            <a:off x="1704812" y="433181"/>
            <a:ext cx="72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CD2327"/>
                </a:solidFill>
              </a:rPr>
              <a:t>block</a:t>
            </a:r>
            <a:r>
              <a:rPr lang="zh-CN" altLang="en-US" sz="1200" dirty="0">
                <a:solidFill>
                  <a:srgbClr val="CD2327"/>
                </a:solidFill>
              </a:rPr>
              <a:t> </a:t>
            </a:r>
            <a:endParaRPr lang="en-US" altLang="zh-CN" sz="1200" dirty="0">
              <a:solidFill>
                <a:srgbClr val="CD2327"/>
              </a:solidFill>
            </a:endParaRPr>
          </a:p>
          <a:p>
            <a:pPr algn="ctr"/>
            <a:r>
              <a:rPr lang="en-US" altLang="zh-CN" sz="1200" dirty="0">
                <a:solidFill>
                  <a:srgbClr val="CD2327"/>
                </a:solidFill>
              </a:rPr>
              <a:t>bitmap</a:t>
            </a:r>
            <a:endParaRPr lang="zh-CN" altLang="en-US" sz="1200" dirty="0">
              <a:solidFill>
                <a:srgbClr val="CD2327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5BD2715-4C0A-9343-9703-FD30A53BDBAF}"/>
              </a:ext>
            </a:extLst>
          </p:cNvPr>
          <p:cNvSpPr txBox="1"/>
          <p:nvPr/>
        </p:nvSpPr>
        <p:spPr>
          <a:xfrm>
            <a:off x="2424892" y="429466"/>
            <a:ext cx="72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CD2327"/>
                </a:solidFill>
              </a:rPr>
              <a:t>inode</a:t>
            </a:r>
            <a:r>
              <a:rPr lang="zh-CN" altLang="en-US" sz="1200" dirty="0">
                <a:solidFill>
                  <a:srgbClr val="CD2327"/>
                </a:solidFill>
              </a:rPr>
              <a:t> </a:t>
            </a:r>
            <a:endParaRPr lang="en-US" altLang="zh-CN" sz="1200" dirty="0">
              <a:solidFill>
                <a:srgbClr val="CD2327"/>
              </a:solidFill>
            </a:endParaRPr>
          </a:p>
          <a:p>
            <a:pPr algn="ctr"/>
            <a:r>
              <a:rPr lang="en-US" altLang="zh-CN" sz="1200" dirty="0">
                <a:solidFill>
                  <a:srgbClr val="CD2327"/>
                </a:solidFill>
              </a:rPr>
              <a:t>bitmap</a:t>
            </a:r>
            <a:endParaRPr lang="zh-CN" altLang="en-US" sz="1200" dirty="0">
              <a:solidFill>
                <a:srgbClr val="CD2327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C1E3684-968B-CA47-874E-62B07298CB1F}"/>
              </a:ext>
            </a:extLst>
          </p:cNvPr>
          <p:cNvSpPr txBox="1"/>
          <p:nvPr/>
        </p:nvSpPr>
        <p:spPr>
          <a:xfrm>
            <a:off x="3144972" y="433181"/>
            <a:ext cx="1427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CD2327"/>
                </a:solidFill>
              </a:rPr>
              <a:t>inode</a:t>
            </a:r>
            <a:r>
              <a:rPr lang="zh-CN" altLang="en-US" sz="1200" dirty="0">
                <a:solidFill>
                  <a:srgbClr val="CD2327"/>
                </a:solidFill>
              </a:rPr>
              <a:t>  </a:t>
            </a:r>
            <a:r>
              <a:rPr lang="en-US" altLang="zh-CN" sz="1200" dirty="0">
                <a:solidFill>
                  <a:srgbClr val="CD2327"/>
                </a:solidFill>
              </a:rPr>
              <a:t>table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C62AE20-8B38-5A42-B005-9754B27CEF7A}"/>
              </a:ext>
            </a:extLst>
          </p:cNvPr>
          <p:cNvSpPr txBox="1"/>
          <p:nvPr/>
        </p:nvSpPr>
        <p:spPr>
          <a:xfrm>
            <a:off x="4579702" y="409228"/>
            <a:ext cx="3588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CD2327"/>
                </a:solidFill>
              </a:rPr>
              <a:t>data</a:t>
            </a:r>
            <a:r>
              <a:rPr lang="zh-CN" altLang="en-US" sz="1200" dirty="0">
                <a:solidFill>
                  <a:srgbClr val="CD2327"/>
                </a:solidFill>
              </a:rPr>
              <a:t> </a:t>
            </a:r>
            <a:r>
              <a:rPr lang="en-US" altLang="zh-CN" sz="1200" dirty="0">
                <a:solidFill>
                  <a:srgbClr val="CD2327"/>
                </a:solidFill>
              </a:rPr>
              <a:t>blocks</a:t>
            </a:r>
          </a:p>
        </p:txBody>
      </p:sp>
      <p:sp>
        <p:nvSpPr>
          <p:cNvPr id="52" name="右大括号 51">
            <a:extLst>
              <a:ext uri="{FF2B5EF4-FFF2-40B4-BE49-F238E27FC236}">
                <a16:creationId xmlns:a16="http://schemas.microsoft.com/office/drawing/2014/main" id="{C776DBC8-0A63-CF4B-A877-CE57B8B388D9}"/>
              </a:ext>
            </a:extLst>
          </p:cNvPr>
          <p:cNvSpPr/>
          <p:nvPr/>
        </p:nvSpPr>
        <p:spPr>
          <a:xfrm rot="16200000">
            <a:off x="3784964" y="56133"/>
            <a:ext cx="144774" cy="1427029"/>
          </a:xfrm>
          <a:prstGeom prst="rightBrace">
            <a:avLst>
              <a:gd name="adj1" fmla="val 4777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53" name="右大括号 52">
            <a:extLst>
              <a:ext uri="{FF2B5EF4-FFF2-40B4-BE49-F238E27FC236}">
                <a16:creationId xmlns:a16="http://schemas.microsoft.com/office/drawing/2014/main" id="{CE4CF959-F11E-5745-9FE9-A3BDDEA1E0FA}"/>
              </a:ext>
            </a:extLst>
          </p:cNvPr>
          <p:cNvSpPr/>
          <p:nvPr/>
        </p:nvSpPr>
        <p:spPr>
          <a:xfrm rot="16200000">
            <a:off x="6301582" y="-1024619"/>
            <a:ext cx="144774" cy="3588534"/>
          </a:xfrm>
          <a:prstGeom prst="rightBrace">
            <a:avLst>
              <a:gd name="adj1" fmla="val 4777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425249E-F360-1C44-8B0F-5D5D34C06FF3}"/>
              </a:ext>
            </a:extLst>
          </p:cNvPr>
          <p:cNvSpPr txBox="1"/>
          <p:nvPr/>
        </p:nvSpPr>
        <p:spPr>
          <a:xfrm>
            <a:off x="2884426" y="1767442"/>
            <a:ext cx="665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4">
                    <a:lumMod val="50000"/>
                  </a:schemeClr>
                </a:solidFill>
              </a:rPr>
              <a:t>root</a:t>
            </a:r>
          </a:p>
          <a:p>
            <a:pPr algn="ctr"/>
            <a:r>
              <a:rPr lang="en-US" altLang="zh-CN" sz="1200" dirty="0">
                <a:solidFill>
                  <a:schemeClr val="accent4">
                    <a:lumMod val="50000"/>
                  </a:schemeClr>
                </a:solidFill>
              </a:rPr>
              <a:t>inode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5BE4D79-36A5-494C-B705-E7CBBC85760B}"/>
              </a:ext>
            </a:extLst>
          </p:cNvPr>
          <p:cNvSpPr txBox="1"/>
          <p:nvPr/>
        </p:nvSpPr>
        <p:spPr>
          <a:xfrm>
            <a:off x="3488928" y="1777380"/>
            <a:ext cx="60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 err="1">
                <a:solidFill>
                  <a:schemeClr val="accent4">
                    <a:lumMod val="50000"/>
                  </a:schemeClr>
                </a:solidFill>
              </a:rPr>
              <a:t>etc</a:t>
            </a:r>
            <a:endParaRPr lang="en-US" altLang="zh-CN" sz="1200" dirty="0">
              <a:solidFill>
                <a:schemeClr val="accent4">
                  <a:lumMod val="50000"/>
                </a:schemeClr>
              </a:solidFill>
            </a:endParaRPr>
          </a:p>
          <a:p>
            <a:pPr algn="ctr"/>
            <a:r>
              <a:rPr lang="en-US" altLang="zh-CN" sz="1200" dirty="0">
                <a:solidFill>
                  <a:schemeClr val="accent4">
                    <a:lumMod val="50000"/>
                  </a:schemeClr>
                </a:solidFill>
              </a:rPr>
              <a:t>inode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61B2892-8F4C-B843-8F1D-BF4C7694949A}"/>
              </a:ext>
            </a:extLst>
          </p:cNvPr>
          <p:cNvSpPr txBox="1"/>
          <p:nvPr/>
        </p:nvSpPr>
        <p:spPr>
          <a:xfrm>
            <a:off x="3832525" y="1763780"/>
            <a:ext cx="1072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4">
                    <a:lumMod val="50000"/>
                  </a:schemeClr>
                </a:solidFill>
              </a:rPr>
              <a:t>hosts</a:t>
            </a:r>
          </a:p>
          <a:p>
            <a:pPr algn="ctr"/>
            <a:r>
              <a:rPr lang="en-US" altLang="zh-CN" sz="1200" dirty="0">
                <a:solidFill>
                  <a:schemeClr val="accent4">
                    <a:lumMod val="50000"/>
                  </a:schemeClr>
                </a:solidFill>
              </a:rPr>
              <a:t>inode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4481178-64A1-2344-BA2C-E188C48C95C8}"/>
              </a:ext>
            </a:extLst>
          </p:cNvPr>
          <p:cNvSpPr txBox="1"/>
          <p:nvPr/>
        </p:nvSpPr>
        <p:spPr>
          <a:xfrm>
            <a:off x="2884426" y="2342600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4005EF7-BC86-6844-BDEC-076C7BEAB1E3}"/>
              </a:ext>
            </a:extLst>
          </p:cNvPr>
          <p:cNvSpPr txBox="1"/>
          <p:nvPr/>
        </p:nvSpPr>
        <p:spPr>
          <a:xfrm>
            <a:off x="4626174" y="2596816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57088DF-603D-BF4C-B9B2-CAF3CD19E6AA}"/>
              </a:ext>
            </a:extLst>
          </p:cNvPr>
          <p:cNvSpPr txBox="1"/>
          <p:nvPr/>
        </p:nvSpPr>
        <p:spPr>
          <a:xfrm>
            <a:off x="3511561" y="2851032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1F72BC3-9008-9044-BAC0-2BE79B0E080F}"/>
              </a:ext>
            </a:extLst>
          </p:cNvPr>
          <p:cNvSpPr txBox="1"/>
          <p:nvPr/>
        </p:nvSpPr>
        <p:spPr>
          <a:xfrm>
            <a:off x="5345118" y="3105248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B704990-F5D6-A744-A077-EA9A03D6211D}"/>
              </a:ext>
            </a:extLst>
          </p:cNvPr>
          <p:cNvSpPr txBox="1"/>
          <p:nvPr/>
        </p:nvSpPr>
        <p:spPr>
          <a:xfrm>
            <a:off x="4055030" y="3359464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D544488-C616-6D44-B23C-549D67C08DE2}"/>
              </a:ext>
            </a:extLst>
          </p:cNvPr>
          <p:cNvSpPr txBox="1"/>
          <p:nvPr/>
        </p:nvSpPr>
        <p:spPr>
          <a:xfrm>
            <a:off x="4055029" y="3613680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881A94B-BFE9-1646-9706-DB5D1B8BF606}"/>
              </a:ext>
            </a:extLst>
          </p:cNvPr>
          <p:cNvSpPr txBox="1"/>
          <p:nvPr/>
        </p:nvSpPr>
        <p:spPr>
          <a:xfrm>
            <a:off x="6060401" y="3867896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8EE50BD-25D9-354A-A2DB-ECE5EF08BDE6}"/>
              </a:ext>
            </a:extLst>
          </p:cNvPr>
          <p:cNvSpPr txBox="1"/>
          <p:nvPr/>
        </p:nvSpPr>
        <p:spPr>
          <a:xfrm>
            <a:off x="4055028" y="4122112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accent1"/>
                </a:solidFill>
              </a:rPr>
              <a:t>write</a:t>
            </a:r>
            <a:endParaRPr kumimoji="1"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B5CFA37-EC49-5E44-946F-87810B2B06B8}"/>
              </a:ext>
            </a:extLst>
          </p:cNvPr>
          <p:cNvSpPr txBox="1"/>
          <p:nvPr/>
        </p:nvSpPr>
        <p:spPr>
          <a:xfrm>
            <a:off x="4055028" y="4376328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43538DC-0525-EE45-9DDB-6ABF27F0C528}"/>
              </a:ext>
            </a:extLst>
          </p:cNvPr>
          <p:cNvSpPr txBox="1"/>
          <p:nvPr/>
        </p:nvSpPr>
        <p:spPr>
          <a:xfrm>
            <a:off x="6779345" y="4630544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1ED3B2E-BEE0-5941-9CD1-918F31B5EB93}"/>
              </a:ext>
            </a:extLst>
          </p:cNvPr>
          <p:cNvSpPr txBox="1"/>
          <p:nvPr/>
        </p:nvSpPr>
        <p:spPr>
          <a:xfrm>
            <a:off x="4055028" y="4884757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accent1"/>
                </a:solidFill>
              </a:rPr>
              <a:t>write</a:t>
            </a:r>
            <a:endParaRPr kumimoji="1" lang="zh-CN" altLang="en-US" sz="1200" dirty="0">
              <a:solidFill>
                <a:schemeClr val="accent1"/>
              </a:solidFill>
            </a:endParaRPr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4A3AFC31-B83D-7F44-9CAD-3196211461FD}"/>
              </a:ext>
            </a:extLst>
          </p:cNvPr>
          <p:cNvCxnSpPr/>
          <p:nvPr/>
        </p:nvCxnSpPr>
        <p:spPr>
          <a:xfrm>
            <a:off x="988266" y="2342600"/>
            <a:ext cx="71799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A57ED0CA-0D48-DA44-B02C-326069C3DB6E}"/>
              </a:ext>
            </a:extLst>
          </p:cNvPr>
          <p:cNvCxnSpPr/>
          <p:nvPr/>
        </p:nvCxnSpPr>
        <p:spPr>
          <a:xfrm>
            <a:off x="1036189" y="3636463"/>
            <a:ext cx="71799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8697E2FB-1A07-EA40-99C6-671D1082C8BC}"/>
              </a:ext>
            </a:extLst>
          </p:cNvPr>
          <p:cNvCxnSpPr/>
          <p:nvPr/>
        </p:nvCxnSpPr>
        <p:spPr>
          <a:xfrm>
            <a:off x="1036189" y="4399111"/>
            <a:ext cx="71799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6C22573D-6650-F74C-AFA9-55780FB893AE}"/>
              </a:ext>
            </a:extLst>
          </p:cNvPr>
          <p:cNvCxnSpPr/>
          <p:nvPr/>
        </p:nvCxnSpPr>
        <p:spPr>
          <a:xfrm>
            <a:off x="1036189" y="5137577"/>
            <a:ext cx="71799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A170A87F-26FD-E243-8D23-45BD746E3EEC}"/>
              </a:ext>
            </a:extLst>
          </p:cNvPr>
          <p:cNvSpPr txBox="1"/>
          <p:nvPr/>
        </p:nvSpPr>
        <p:spPr>
          <a:xfrm>
            <a:off x="988266" y="2851032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open()</a:t>
            </a:r>
            <a:endParaRPr kumimoji="1" lang="zh-CN" altLang="en-US" sz="1200" b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DCA2A-DB13-E947-B9C4-E2CCF72EAA23}"/>
              </a:ext>
            </a:extLst>
          </p:cNvPr>
          <p:cNvSpPr txBox="1"/>
          <p:nvPr/>
        </p:nvSpPr>
        <p:spPr>
          <a:xfrm>
            <a:off x="988266" y="3867896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read()</a:t>
            </a:r>
            <a:endParaRPr kumimoji="1" lang="zh-CN" altLang="en-US" sz="1200" b="1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6F791A4-DF6D-1344-85AB-2773883D35DA}"/>
              </a:ext>
            </a:extLst>
          </p:cNvPr>
          <p:cNvSpPr txBox="1"/>
          <p:nvPr/>
        </p:nvSpPr>
        <p:spPr>
          <a:xfrm>
            <a:off x="988266" y="4618453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read()</a:t>
            </a:r>
            <a:endParaRPr kumimoji="1" lang="zh-CN" altLang="en-US" sz="1200" b="1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8171775-3B98-254D-855F-49C69C691BB9}"/>
              </a:ext>
            </a:extLst>
          </p:cNvPr>
          <p:cNvCxnSpPr>
            <a:stCxn id="57" idx="3"/>
            <a:endCxn id="58" idx="1"/>
          </p:cNvCxnSpPr>
          <p:nvPr/>
        </p:nvCxnSpPr>
        <p:spPr>
          <a:xfrm>
            <a:off x="3511561" y="2481100"/>
            <a:ext cx="1114613" cy="25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5131B483-D8B4-5F46-B376-997B8D64C825}"/>
              </a:ext>
            </a:extLst>
          </p:cNvPr>
          <p:cNvCxnSpPr>
            <a:cxnSpLocks/>
            <a:stCxn id="58" idx="1"/>
            <a:endCxn id="59" idx="3"/>
          </p:cNvCxnSpPr>
          <p:nvPr/>
        </p:nvCxnSpPr>
        <p:spPr>
          <a:xfrm flipH="1">
            <a:off x="4138696" y="2735316"/>
            <a:ext cx="487478" cy="25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E00E2329-D015-F14A-A077-62CFF0F63E6F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4138696" y="2989532"/>
            <a:ext cx="1206422" cy="25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4E9D5D22-98BC-8140-9895-075959C5DB6A}"/>
              </a:ext>
            </a:extLst>
          </p:cNvPr>
          <p:cNvCxnSpPr>
            <a:cxnSpLocks/>
            <a:stCxn id="60" idx="1"/>
            <a:endCxn id="61" idx="3"/>
          </p:cNvCxnSpPr>
          <p:nvPr/>
        </p:nvCxnSpPr>
        <p:spPr>
          <a:xfrm flipH="1">
            <a:off x="4682165" y="3243748"/>
            <a:ext cx="662953" cy="25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39C01DAB-A25A-D345-A905-865E7C8D9A88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4682164" y="3752180"/>
            <a:ext cx="1378237" cy="25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29830DCD-FAB1-5745-8025-E28F9E5B5319}"/>
              </a:ext>
            </a:extLst>
          </p:cNvPr>
          <p:cNvCxnSpPr>
            <a:cxnSpLocks/>
            <a:stCxn id="63" idx="1"/>
            <a:endCxn id="64" idx="3"/>
          </p:cNvCxnSpPr>
          <p:nvPr/>
        </p:nvCxnSpPr>
        <p:spPr>
          <a:xfrm flipH="1">
            <a:off x="4682163" y="4006396"/>
            <a:ext cx="1378238" cy="25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94B032C9-E114-2A43-8031-B30069383496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4682163" y="4514828"/>
            <a:ext cx="2097182" cy="25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9F5BC02-B2BD-BF4F-8B8B-3C407AF3C879}"/>
              </a:ext>
            </a:extLst>
          </p:cNvPr>
          <p:cNvCxnSpPr>
            <a:cxnSpLocks/>
            <a:stCxn id="66" idx="1"/>
            <a:endCxn id="67" idx="3"/>
          </p:cNvCxnSpPr>
          <p:nvPr/>
        </p:nvCxnSpPr>
        <p:spPr>
          <a:xfrm flipH="1">
            <a:off x="4682163" y="4769044"/>
            <a:ext cx="2097182" cy="254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165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F0EFE-19C6-C84A-9F9E-4304AFAC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文件系统的崩溃一致性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0C185A-41DA-D340-B972-C3B15D8C7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10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7117-79D7-EC4D-84E9-B19DB85BA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文件系统的崩溃一致性</a:t>
            </a:r>
            <a:endParaRPr lang="en-C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82231-B9BA-6E4F-8880-296FB8045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sz="2000" dirty="0"/>
              <a:t>文件系统中</a:t>
            </a:r>
            <a:r>
              <a:rPr lang="zh-CN" altLang="en-US" sz="2000" dirty="0"/>
              <a:t>保存了多种数据结构</a:t>
            </a:r>
            <a:endParaRPr lang="en-US" altLang="zh-CN" sz="2000" dirty="0"/>
          </a:p>
          <a:p>
            <a:r>
              <a:rPr lang="zh-CN" altLang="en-US" sz="2000" dirty="0"/>
              <a:t>各种数据结构之间存在依赖关系与一致性要求</a:t>
            </a:r>
            <a:endParaRPr lang="en-US" altLang="zh-CN" sz="2000" dirty="0"/>
          </a:p>
          <a:p>
            <a:pPr lvl="1"/>
            <a:r>
              <a:rPr lang="en-US" altLang="zh-CN" sz="1800" dirty="0" err="1"/>
              <a:t>inode</a:t>
            </a:r>
            <a:r>
              <a:rPr lang="zh-CN" altLang="en-US" sz="1800" dirty="0"/>
              <a:t>中保存的文件大小，应该与其索引中保存的数据块个数相匹配</a:t>
            </a:r>
            <a:endParaRPr lang="en-US" altLang="zh-CN" sz="1800" dirty="0"/>
          </a:p>
          <a:p>
            <a:pPr lvl="1"/>
            <a:r>
              <a:rPr lang="en-US" altLang="zh-CN" sz="1800" dirty="0" err="1"/>
              <a:t>inode</a:t>
            </a:r>
            <a:r>
              <a:rPr lang="zh-CN" altLang="en-US" sz="1800" dirty="0"/>
              <a:t>中保存的链接数，应与指向其的目录项个数相同</a:t>
            </a:r>
            <a:endParaRPr lang="en-US" altLang="zh-CN" sz="1800" dirty="0"/>
          </a:p>
          <a:p>
            <a:pPr lvl="1"/>
            <a:r>
              <a:rPr lang="zh-CN" altLang="en-US" sz="1800" dirty="0"/>
              <a:t>超级块中保存的文件系统大小，应该与文件系统所管理的空间大小相同</a:t>
            </a:r>
            <a:endParaRPr lang="en-US" altLang="zh-CN" sz="1800" dirty="0"/>
          </a:p>
          <a:p>
            <a:pPr lvl="1"/>
            <a:r>
              <a:rPr lang="zh-CN" altLang="en-US" sz="1800" dirty="0"/>
              <a:t>所有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分配表中标记为空闲的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均未被使用；标记为已用的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均可以通过文件系统操作访问</a:t>
            </a:r>
            <a:endParaRPr lang="en-US" altLang="zh-CN" sz="1800" dirty="0"/>
          </a:p>
          <a:p>
            <a:pPr lvl="1"/>
            <a:r>
              <a:rPr lang="en-US" altLang="zh-CN" sz="1800" dirty="0"/>
              <a:t>……</a:t>
            </a:r>
          </a:p>
          <a:p>
            <a:r>
              <a:rPr lang="zh-CN" altLang="en-US" sz="2000" dirty="0"/>
              <a:t>突发状况（崩溃）可能会造成这些一致性被打破！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6DC56-0890-3547-A451-5636BFC6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z="1100" smtClean="0"/>
              <a:t>21</a:t>
            </a:fld>
            <a:endParaRPr lang="zh-CN" altLang="en-US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AA162-7CEB-5241-ACFD-E886B60CC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188595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D2324D9-9D04-C14A-BCB5-533FD464FA5B}"/>
              </a:ext>
            </a:extLst>
          </p:cNvPr>
          <p:cNvSpPr/>
          <p:nvPr/>
        </p:nvSpPr>
        <p:spPr>
          <a:xfrm>
            <a:off x="2800049" y="985292"/>
            <a:ext cx="718944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0E6633-D493-C34C-B5EA-0BC284ED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B234AA-231E-9046-9CB3-4CFF809027B5}"/>
              </a:ext>
            </a:extLst>
          </p:cNvPr>
          <p:cNvSpPr/>
          <p:nvPr/>
        </p:nvSpPr>
        <p:spPr>
          <a:xfrm>
            <a:off x="1359889" y="98529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E3348E-5039-F146-923F-37DE1E2E8516}"/>
              </a:ext>
            </a:extLst>
          </p:cNvPr>
          <p:cNvSpPr/>
          <p:nvPr/>
        </p:nvSpPr>
        <p:spPr>
          <a:xfrm>
            <a:off x="2079969" y="98529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447635-E0DC-6C41-8D50-A80A6BFE01ED}"/>
              </a:ext>
            </a:extLst>
          </p:cNvPr>
          <p:cNvSpPr/>
          <p:nvPr/>
        </p:nvSpPr>
        <p:spPr>
          <a:xfrm>
            <a:off x="4234779" y="98529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root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block[0]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36B429-8AC8-1C45-9E7E-154A442F479A}"/>
              </a:ext>
            </a:extLst>
          </p:cNvPr>
          <p:cNvSpPr/>
          <p:nvPr/>
        </p:nvSpPr>
        <p:spPr>
          <a:xfrm>
            <a:off x="4953723" y="98529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</a:rPr>
              <a:t>etc</a:t>
            </a:r>
            <a:endParaRPr kumimoji="1" lang="en-US" altLang="zh-CN" sz="1100" dirty="0">
              <a:solidFill>
                <a:schemeClr val="tx1"/>
              </a:solidFill>
            </a:endParaRPr>
          </a:p>
          <a:p>
            <a:pPr algn="ctr"/>
            <a:endParaRPr kumimoji="1" lang="en-US" altLang="zh-CN" sz="11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block[1]</a:t>
            </a:r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A82C892-0E9D-624B-8195-D6D357CE5BFA}"/>
              </a:ext>
            </a:extLst>
          </p:cNvPr>
          <p:cNvSpPr/>
          <p:nvPr/>
        </p:nvSpPr>
        <p:spPr>
          <a:xfrm>
            <a:off x="1647164" y="1056475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0987CC-AF8A-9F43-A4B4-2C669AF75EE0}"/>
              </a:ext>
            </a:extLst>
          </p:cNvPr>
          <p:cNvSpPr/>
          <p:nvPr/>
        </p:nvSpPr>
        <p:spPr>
          <a:xfrm>
            <a:off x="1448232" y="1056475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111752C-F299-4B47-B9A5-8F986F6A6777}"/>
              </a:ext>
            </a:extLst>
          </p:cNvPr>
          <p:cNvSpPr/>
          <p:nvPr/>
        </p:nvSpPr>
        <p:spPr>
          <a:xfrm>
            <a:off x="1845339" y="1056475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7190B7F-B084-844E-BFB5-F1AC6FE79802}"/>
              </a:ext>
            </a:extLst>
          </p:cNvPr>
          <p:cNvSpPr/>
          <p:nvPr/>
        </p:nvSpPr>
        <p:spPr>
          <a:xfrm>
            <a:off x="1647921" y="1272499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5ADCBD3-3E9C-FB42-9480-9D91D3300B73}"/>
              </a:ext>
            </a:extLst>
          </p:cNvPr>
          <p:cNvSpPr/>
          <p:nvPr/>
        </p:nvSpPr>
        <p:spPr>
          <a:xfrm>
            <a:off x="1448989" y="1272499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3066841-D833-4D42-BCC6-35843D3C5536}"/>
              </a:ext>
            </a:extLst>
          </p:cNvPr>
          <p:cNvSpPr/>
          <p:nvPr/>
        </p:nvSpPr>
        <p:spPr>
          <a:xfrm>
            <a:off x="1846096" y="1272499"/>
            <a:ext cx="144016" cy="144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11204CE-F6F3-1242-ABB7-AD9243ABFAB5}"/>
              </a:ext>
            </a:extLst>
          </p:cNvPr>
          <p:cNvSpPr/>
          <p:nvPr/>
        </p:nvSpPr>
        <p:spPr>
          <a:xfrm>
            <a:off x="1647164" y="1488523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26F09AD-E0BB-7140-8386-681006FA252A}"/>
              </a:ext>
            </a:extLst>
          </p:cNvPr>
          <p:cNvSpPr/>
          <p:nvPr/>
        </p:nvSpPr>
        <p:spPr>
          <a:xfrm>
            <a:off x="1448232" y="1488523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978BCEF-7BAD-134E-B729-BE9CFCFAED7A}"/>
              </a:ext>
            </a:extLst>
          </p:cNvPr>
          <p:cNvSpPr/>
          <p:nvPr/>
        </p:nvSpPr>
        <p:spPr>
          <a:xfrm>
            <a:off x="1845339" y="1488523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4CC76E9-1C21-2444-BEAD-A59E09995007}"/>
              </a:ext>
            </a:extLst>
          </p:cNvPr>
          <p:cNvSpPr/>
          <p:nvPr/>
        </p:nvSpPr>
        <p:spPr>
          <a:xfrm>
            <a:off x="2368758" y="1061737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9C75939-6D32-9347-92DE-6F90E96C8F03}"/>
              </a:ext>
            </a:extLst>
          </p:cNvPr>
          <p:cNvSpPr/>
          <p:nvPr/>
        </p:nvSpPr>
        <p:spPr>
          <a:xfrm>
            <a:off x="2169826" y="1061737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9545507-3058-5A46-BD66-719A4A915701}"/>
              </a:ext>
            </a:extLst>
          </p:cNvPr>
          <p:cNvSpPr/>
          <p:nvPr/>
        </p:nvSpPr>
        <p:spPr>
          <a:xfrm>
            <a:off x="2566933" y="1061737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AEAD467-2D18-D248-9EAE-76AB7AFD36D5}"/>
              </a:ext>
            </a:extLst>
          </p:cNvPr>
          <p:cNvSpPr/>
          <p:nvPr/>
        </p:nvSpPr>
        <p:spPr>
          <a:xfrm>
            <a:off x="2369515" y="1277761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3A0E3A3-ACC3-AD48-B0AC-D3FC39524F22}"/>
              </a:ext>
            </a:extLst>
          </p:cNvPr>
          <p:cNvSpPr/>
          <p:nvPr/>
        </p:nvSpPr>
        <p:spPr>
          <a:xfrm>
            <a:off x="2170583" y="1277761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583DF57-BCE2-6646-AC19-B8EDE600B63E}"/>
              </a:ext>
            </a:extLst>
          </p:cNvPr>
          <p:cNvSpPr/>
          <p:nvPr/>
        </p:nvSpPr>
        <p:spPr>
          <a:xfrm>
            <a:off x="2567690" y="1277761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85EF043-AE95-6542-99D5-D432B049DD73}"/>
              </a:ext>
            </a:extLst>
          </p:cNvPr>
          <p:cNvSpPr/>
          <p:nvPr/>
        </p:nvSpPr>
        <p:spPr>
          <a:xfrm>
            <a:off x="2368758" y="1493785"/>
            <a:ext cx="144016" cy="1440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D642AFC-12E4-F746-99CD-BDFF5A72342B}"/>
              </a:ext>
            </a:extLst>
          </p:cNvPr>
          <p:cNvSpPr/>
          <p:nvPr/>
        </p:nvSpPr>
        <p:spPr>
          <a:xfrm>
            <a:off x="2169826" y="1493785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158321E-899E-344A-BD77-E24C2CAC702F}"/>
              </a:ext>
            </a:extLst>
          </p:cNvPr>
          <p:cNvSpPr/>
          <p:nvPr/>
        </p:nvSpPr>
        <p:spPr>
          <a:xfrm>
            <a:off x="2566933" y="1493785"/>
            <a:ext cx="144016" cy="144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AB322F-B29A-284F-A50D-F621BD091865}"/>
              </a:ext>
            </a:extLst>
          </p:cNvPr>
          <p:cNvSpPr/>
          <p:nvPr/>
        </p:nvSpPr>
        <p:spPr>
          <a:xfrm>
            <a:off x="2800049" y="985292"/>
            <a:ext cx="144773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65F398E-BC3B-0241-9261-FBAC76A5EF60}"/>
              </a:ext>
            </a:extLst>
          </p:cNvPr>
          <p:cNvSpPr/>
          <p:nvPr/>
        </p:nvSpPr>
        <p:spPr>
          <a:xfrm>
            <a:off x="2941794" y="985292"/>
            <a:ext cx="144773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9E639C3-285C-8243-92DE-0C0EA82E0861}"/>
              </a:ext>
            </a:extLst>
          </p:cNvPr>
          <p:cNvSpPr/>
          <p:nvPr/>
        </p:nvSpPr>
        <p:spPr>
          <a:xfrm>
            <a:off x="3231842" y="985292"/>
            <a:ext cx="144773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79671B8-B9F5-A741-BFAA-26A3BFB7F8B5}"/>
              </a:ext>
            </a:extLst>
          </p:cNvPr>
          <p:cNvSpPr/>
          <p:nvPr/>
        </p:nvSpPr>
        <p:spPr>
          <a:xfrm>
            <a:off x="3374220" y="985292"/>
            <a:ext cx="144773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D9FB51A-5011-384B-9633-43340289FD52}"/>
              </a:ext>
            </a:extLst>
          </p:cNvPr>
          <p:cNvSpPr/>
          <p:nvPr/>
        </p:nvSpPr>
        <p:spPr>
          <a:xfrm>
            <a:off x="3519496" y="985292"/>
            <a:ext cx="718944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0484D29-51C4-0946-8B86-0B089D27EB04}"/>
              </a:ext>
            </a:extLst>
          </p:cNvPr>
          <p:cNvSpPr/>
          <p:nvPr/>
        </p:nvSpPr>
        <p:spPr>
          <a:xfrm>
            <a:off x="3519496" y="985292"/>
            <a:ext cx="144773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0FB7DD4-DBE3-614D-97CD-EF008ED8F4A3}"/>
              </a:ext>
            </a:extLst>
          </p:cNvPr>
          <p:cNvSpPr/>
          <p:nvPr/>
        </p:nvSpPr>
        <p:spPr>
          <a:xfrm>
            <a:off x="3661241" y="985292"/>
            <a:ext cx="144773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D9EB193-F050-C447-9BA7-761DC848478D}"/>
              </a:ext>
            </a:extLst>
          </p:cNvPr>
          <p:cNvSpPr/>
          <p:nvPr/>
        </p:nvSpPr>
        <p:spPr>
          <a:xfrm>
            <a:off x="3951289" y="985292"/>
            <a:ext cx="144773" cy="72008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8CDF5E-E2F1-CA43-89BB-0A2B2614701D}"/>
              </a:ext>
            </a:extLst>
          </p:cNvPr>
          <p:cNvSpPr/>
          <p:nvPr/>
        </p:nvSpPr>
        <p:spPr>
          <a:xfrm>
            <a:off x="4093667" y="985292"/>
            <a:ext cx="144773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8124AB1-29F6-5843-94C0-7B06FC7A8BBE}"/>
              </a:ext>
            </a:extLst>
          </p:cNvPr>
          <p:cNvSpPr/>
          <p:nvPr/>
        </p:nvSpPr>
        <p:spPr>
          <a:xfrm>
            <a:off x="5669006" y="98529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dirty="0">
                <a:solidFill>
                  <a:srgbClr val="000000"/>
                </a:solidFill>
                <a:latin typeface="Arial" panose="020B0604020202020204"/>
                <a:ea typeface="微软雅黑"/>
              </a:rPr>
              <a:t>hosts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block[2]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8B20989-F81C-9547-A0B7-67E28188FA44}"/>
              </a:ext>
            </a:extLst>
          </p:cNvPr>
          <p:cNvSpPr/>
          <p:nvPr/>
        </p:nvSpPr>
        <p:spPr>
          <a:xfrm>
            <a:off x="6387950" y="98529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hosts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block[3]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634DCE8-49C6-1B4B-93C4-36EFA357500B}"/>
              </a:ext>
            </a:extLst>
          </p:cNvPr>
          <p:cNvSpPr/>
          <p:nvPr/>
        </p:nvSpPr>
        <p:spPr>
          <a:xfrm>
            <a:off x="7103233" y="98529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hosts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block[4]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3386CE3-E904-F641-BFFC-558B6AE215C1}"/>
              </a:ext>
            </a:extLst>
          </p:cNvPr>
          <p:cNvSpPr/>
          <p:nvPr/>
        </p:nvSpPr>
        <p:spPr>
          <a:xfrm>
            <a:off x="643343" y="98529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9F42E58-F200-A545-94AA-06FBA108580F}"/>
              </a:ext>
            </a:extLst>
          </p:cNvPr>
          <p:cNvSpPr txBox="1"/>
          <p:nvPr/>
        </p:nvSpPr>
        <p:spPr>
          <a:xfrm>
            <a:off x="649476" y="433182"/>
            <a:ext cx="70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Super</a:t>
            </a: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3484795-67FF-A543-9418-DE11E599EED8}"/>
              </a:ext>
            </a:extLst>
          </p:cNvPr>
          <p:cNvSpPr txBox="1"/>
          <p:nvPr/>
        </p:nvSpPr>
        <p:spPr>
          <a:xfrm>
            <a:off x="1359889" y="433181"/>
            <a:ext cx="72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bitmap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5BD2715-4C0A-9343-9703-FD30A53BDBAF}"/>
              </a:ext>
            </a:extLst>
          </p:cNvPr>
          <p:cNvSpPr txBox="1"/>
          <p:nvPr/>
        </p:nvSpPr>
        <p:spPr>
          <a:xfrm>
            <a:off x="2079969" y="429466"/>
            <a:ext cx="72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inode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bitmap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C1E3684-968B-CA47-874E-62B07298CB1F}"/>
              </a:ext>
            </a:extLst>
          </p:cNvPr>
          <p:cNvSpPr txBox="1"/>
          <p:nvPr/>
        </p:nvSpPr>
        <p:spPr>
          <a:xfrm>
            <a:off x="2800049" y="433181"/>
            <a:ext cx="1427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inode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C62AE20-8B38-5A42-B005-9754B27CEF7A}"/>
              </a:ext>
            </a:extLst>
          </p:cNvPr>
          <p:cNvSpPr txBox="1"/>
          <p:nvPr/>
        </p:nvSpPr>
        <p:spPr>
          <a:xfrm>
            <a:off x="4234779" y="409228"/>
            <a:ext cx="3588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blocks</a:t>
            </a:r>
          </a:p>
        </p:txBody>
      </p:sp>
      <p:sp>
        <p:nvSpPr>
          <p:cNvPr id="52" name="右大括号 51">
            <a:extLst>
              <a:ext uri="{FF2B5EF4-FFF2-40B4-BE49-F238E27FC236}">
                <a16:creationId xmlns:a16="http://schemas.microsoft.com/office/drawing/2014/main" id="{C776DBC8-0A63-CF4B-A877-CE57B8B388D9}"/>
              </a:ext>
            </a:extLst>
          </p:cNvPr>
          <p:cNvSpPr/>
          <p:nvPr/>
        </p:nvSpPr>
        <p:spPr>
          <a:xfrm rot="16200000">
            <a:off x="3440041" y="56133"/>
            <a:ext cx="144774" cy="1427029"/>
          </a:xfrm>
          <a:prstGeom prst="rightBrace">
            <a:avLst>
              <a:gd name="adj1" fmla="val 47771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右大括号 52">
            <a:extLst>
              <a:ext uri="{FF2B5EF4-FFF2-40B4-BE49-F238E27FC236}">
                <a16:creationId xmlns:a16="http://schemas.microsoft.com/office/drawing/2014/main" id="{CE4CF959-F11E-5745-9FE9-A3BDDEA1E0FA}"/>
              </a:ext>
            </a:extLst>
          </p:cNvPr>
          <p:cNvSpPr/>
          <p:nvPr/>
        </p:nvSpPr>
        <p:spPr>
          <a:xfrm rot="16200000">
            <a:off x="5956659" y="-1024619"/>
            <a:ext cx="144774" cy="3588534"/>
          </a:xfrm>
          <a:prstGeom prst="rightBrace">
            <a:avLst>
              <a:gd name="adj1" fmla="val 47771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425249E-F360-1C44-8B0F-5D5D34C06FF3}"/>
              </a:ext>
            </a:extLst>
          </p:cNvPr>
          <p:cNvSpPr txBox="1"/>
          <p:nvPr/>
        </p:nvSpPr>
        <p:spPr>
          <a:xfrm>
            <a:off x="2539503" y="1767442"/>
            <a:ext cx="665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root</a:t>
            </a: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inode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5BE4D79-36A5-494C-B705-E7CBBC85760B}"/>
              </a:ext>
            </a:extLst>
          </p:cNvPr>
          <p:cNvSpPr txBox="1"/>
          <p:nvPr/>
        </p:nvSpPr>
        <p:spPr>
          <a:xfrm>
            <a:off x="3144005" y="1777380"/>
            <a:ext cx="60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etc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inode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61B2892-8F4C-B843-8F1D-BF4C7694949A}"/>
              </a:ext>
            </a:extLst>
          </p:cNvPr>
          <p:cNvSpPr txBox="1"/>
          <p:nvPr/>
        </p:nvSpPr>
        <p:spPr>
          <a:xfrm>
            <a:off x="3487602" y="1763780"/>
            <a:ext cx="1072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hosts</a:t>
            </a: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inode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57088DF-603D-BF4C-B9B2-CAF3CD19E6AA}"/>
              </a:ext>
            </a:extLst>
          </p:cNvPr>
          <p:cNvSpPr txBox="1"/>
          <p:nvPr/>
        </p:nvSpPr>
        <p:spPr>
          <a:xfrm>
            <a:off x="1477612" y="2642916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highlight>
                  <a:srgbClr val="FFFF00"/>
                </a:highlight>
              </a:rPr>
              <a:t>write</a:t>
            </a:r>
            <a:endParaRPr kumimoji="1" lang="zh-CN" altLang="en-US" sz="1200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1F72BC3-9008-9044-BAC0-2BE79B0E080F}"/>
              </a:ext>
            </a:extLst>
          </p:cNvPr>
          <p:cNvSpPr txBox="1"/>
          <p:nvPr/>
        </p:nvSpPr>
        <p:spPr>
          <a:xfrm>
            <a:off x="7915122" y="2649384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highlight>
                  <a:srgbClr val="FFFF00"/>
                </a:highlight>
              </a:rPr>
              <a:t>write</a:t>
            </a:r>
            <a:endParaRPr kumimoji="1" lang="zh-CN" altLang="en-US" sz="1200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B704990-F5D6-A744-A077-EA9A03D6211D}"/>
              </a:ext>
            </a:extLst>
          </p:cNvPr>
          <p:cNvSpPr txBox="1"/>
          <p:nvPr/>
        </p:nvSpPr>
        <p:spPr>
          <a:xfrm>
            <a:off x="3710107" y="2641476"/>
            <a:ext cx="627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highlight>
                  <a:srgbClr val="FFFF00"/>
                </a:highlight>
              </a:rPr>
              <a:t>write</a:t>
            </a:r>
            <a:endParaRPr kumimoji="1" lang="zh-CN" altLang="en-US" sz="1200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4A3AFC31-B83D-7F44-9CAD-3196211461FD}"/>
              </a:ext>
            </a:extLst>
          </p:cNvPr>
          <p:cNvCxnSpPr>
            <a:cxnSpLocks/>
          </p:cNvCxnSpPr>
          <p:nvPr/>
        </p:nvCxnSpPr>
        <p:spPr>
          <a:xfrm>
            <a:off x="643343" y="2342600"/>
            <a:ext cx="78989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A170A87F-26FD-E243-8D23-45BD746E3EEC}"/>
              </a:ext>
            </a:extLst>
          </p:cNvPr>
          <p:cNvSpPr txBox="1"/>
          <p:nvPr/>
        </p:nvSpPr>
        <p:spPr>
          <a:xfrm>
            <a:off x="539552" y="2642916"/>
            <a:ext cx="834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append()</a:t>
            </a:r>
            <a:endParaRPr kumimoji="1" lang="zh-CN" altLang="en-US" sz="1200" b="1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2AB00BD-1BBE-2140-9FBF-E6AA35BF266C}"/>
              </a:ext>
            </a:extLst>
          </p:cNvPr>
          <p:cNvSpPr/>
          <p:nvPr/>
        </p:nvSpPr>
        <p:spPr>
          <a:xfrm>
            <a:off x="7822177" y="985292"/>
            <a:ext cx="720080" cy="72008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hosts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block[5]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5" name="内容占位符 2">
            <a:extLst>
              <a:ext uri="{FF2B5EF4-FFF2-40B4-BE49-F238E27FC236}">
                <a16:creationId xmlns:a16="http://schemas.microsoft.com/office/drawing/2014/main" id="{AE07C1D7-CFCC-D045-B38A-5B7E2451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718" y="3203607"/>
            <a:ext cx="2629977" cy="180039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1400" dirty="0"/>
              <a:t>inode of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/</a:t>
            </a:r>
            <a:r>
              <a:rPr kumimoji="1" lang="en-US" altLang="zh-CN" sz="1400" dirty="0" err="1"/>
              <a:t>etc</a:t>
            </a:r>
            <a:r>
              <a:rPr kumimoji="1" lang="en-US" altLang="zh-CN" sz="1400" dirty="0"/>
              <a:t>/hosts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旧</a:t>
            </a:r>
            <a:r>
              <a:rPr kumimoji="1" lang="en-US" altLang="zh-CN" sz="1400" dirty="0"/>
              <a:t>)</a:t>
            </a:r>
          </a:p>
          <a:p>
            <a:pPr indent="-285750">
              <a:spcBef>
                <a:spcPts val="0"/>
              </a:spcBef>
            </a:pPr>
            <a:r>
              <a:rPr kumimoji="1" lang="en-US" altLang="zh-CN" sz="1400" b="0" dirty="0"/>
              <a:t>size : 8000</a:t>
            </a:r>
          </a:p>
          <a:p>
            <a:pPr marL="342900" lvl="1">
              <a:spcBef>
                <a:spcPts val="0"/>
              </a:spcBef>
              <a:buFont typeface="Arial" pitchFamily="34" charset="0"/>
              <a:buChar char="•"/>
            </a:pPr>
            <a:r>
              <a:rPr kumimoji="1" lang="en-US" altLang="zh-CN" sz="1400" dirty="0"/>
              <a:t>pointer : block[3]</a:t>
            </a:r>
          </a:p>
          <a:p>
            <a:pPr marL="342900" lvl="1">
              <a:spcBef>
                <a:spcPts val="0"/>
              </a:spcBef>
              <a:buFont typeface="Arial" pitchFamily="34" charset="0"/>
              <a:buChar char="•"/>
            </a:pPr>
            <a:r>
              <a:rPr kumimoji="1" lang="en-US" altLang="zh-CN" sz="1400" dirty="0"/>
              <a:t>pointer : block[4]</a:t>
            </a:r>
          </a:p>
          <a:p>
            <a:pPr marL="342900" lvl="1">
              <a:spcBef>
                <a:spcPts val="0"/>
              </a:spcBef>
              <a:buFont typeface="Arial" pitchFamily="34" charset="0"/>
              <a:buChar char="•"/>
            </a:pPr>
            <a:r>
              <a:rPr kumimoji="1" lang="en-US" altLang="zh-CN" sz="1400" dirty="0"/>
              <a:t>pointer : null</a:t>
            </a:r>
          </a:p>
        </p:txBody>
      </p:sp>
      <p:sp>
        <p:nvSpPr>
          <p:cNvPr id="86" name="内容占位符 2">
            <a:extLst>
              <a:ext uri="{FF2B5EF4-FFF2-40B4-BE49-F238E27FC236}">
                <a16:creationId xmlns:a16="http://schemas.microsoft.com/office/drawing/2014/main" id="{BA222CA1-9A55-F147-8370-F3248F49509D}"/>
              </a:ext>
            </a:extLst>
          </p:cNvPr>
          <p:cNvSpPr txBox="1">
            <a:spLocks/>
          </p:cNvSpPr>
          <p:nvPr/>
        </p:nvSpPr>
        <p:spPr>
          <a:xfrm>
            <a:off x="5102695" y="3209671"/>
            <a:ext cx="2133601" cy="1800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1pPr>
            <a:lvl2pPr marL="36000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1400" dirty="0"/>
              <a:t>新的</a:t>
            </a:r>
            <a:r>
              <a:rPr kumimoji="1" lang="en-US" altLang="zh-CN" sz="1400" dirty="0"/>
              <a:t>inode</a:t>
            </a:r>
          </a:p>
          <a:p>
            <a:pPr marL="342900" lvl="1">
              <a:spcBef>
                <a:spcPts val="0"/>
              </a:spcBef>
              <a:buFont typeface="Arial" pitchFamily="34" charset="0"/>
              <a:buChar char="•"/>
            </a:pPr>
            <a:r>
              <a:rPr kumimoji="1" lang="en-US" altLang="zh-CN" sz="1400" dirty="0">
                <a:ea typeface="微软雅黑" panose="020B0503020204020204" pitchFamily="34" charset="-122"/>
              </a:rPr>
              <a:t>size : </a:t>
            </a:r>
            <a:r>
              <a:rPr kumimoji="1" lang="en-US" altLang="zh-CN" sz="1400" dirty="0">
                <a:solidFill>
                  <a:schemeClr val="accent1"/>
                </a:solidFill>
                <a:ea typeface="微软雅黑" panose="020B0503020204020204" pitchFamily="34" charset="-122"/>
              </a:rPr>
              <a:t>9000</a:t>
            </a:r>
          </a:p>
          <a:p>
            <a:pPr marL="342900" lvl="1">
              <a:spcBef>
                <a:spcPts val="0"/>
              </a:spcBef>
              <a:buFont typeface="Arial" pitchFamily="34" charset="0"/>
              <a:buChar char="•"/>
            </a:pPr>
            <a:r>
              <a:rPr kumimoji="1" lang="en-US" altLang="zh-CN" sz="1400" dirty="0">
                <a:ea typeface="微软雅黑" panose="020B0503020204020204" pitchFamily="34" charset="-122"/>
              </a:rPr>
              <a:t>pointer : block[3]</a:t>
            </a:r>
          </a:p>
          <a:p>
            <a:pPr marL="342900" lvl="1">
              <a:spcBef>
                <a:spcPts val="0"/>
              </a:spcBef>
              <a:buFont typeface="Arial" pitchFamily="34" charset="0"/>
              <a:buChar char="•"/>
            </a:pPr>
            <a:r>
              <a:rPr kumimoji="1" lang="en-US" altLang="zh-CN" sz="1400" dirty="0">
                <a:ea typeface="微软雅黑" panose="020B0503020204020204" pitchFamily="34" charset="-122"/>
              </a:rPr>
              <a:t>pointer :</a:t>
            </a:r>
            <a:r>
              <a:rPr kumimoji="1" lang="zh-CN" altLang="en-US" sz="1400" dirty="0"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ea typeface="微软雅黑" panose="020B0503020204020204" pitchFamily="34" charset="-122"/>
              </a:rPr>
              <a:t>block[4]</a:t>
            </a:r>
          </a:p>
          <a:p>
            <a:pPr marL="342900" lvl="1">
              <a:spcBef>
                <a:spcPts val="0"/>
              </a:spcBef>
              <a:buFont typeface="Arial" pitchFamily="34" charset="0"/>
              <a:buChar char="•"/>
            </a:pPr>
            <a:r>
              <a:rPr kumimoji="1" lang="en-US" altLang="zh-CN" sz="1400" dirty="0">
                <a:ea typeface="微软雅黑" panose="020B0503020204020204" pitchFamily="34" charset="-122"/>
              </a:rPr>
              <a:t>pointer : </a:t>
            </a:r>
            <a:r>
              <a:rPr kumimoji="1" lang="en-US" altLang="zh-CN" sz="1400" dirty="0">
                <a:solidFill>
                  <a:schemeClr val="accent1"/>
                </a:solidFill>
                <a:ea typeface="微软雅黑" panose="020B0503020204020204" pitchFamily="34" charset="-122"/>
              </a:rPr>
              <a:t>block[5]</a:t>
            </a:r>
          </a:p>
        </p:txBody>
      </p:sp>
      <p:sp>
        <p:nvSpPr>
          <p:cNvPr id="88" name="右大括号 87">
            <a:extLst>
              <a:ext uri="{FF2B5EF4-FFF2-40B4-BE49-F238E27FC236}">
                <a16:creationId xmlns:a16="http://schemas.microsoft.com/office/drawing/2014/main" id="{ABD61CB0-2114-B744-873C-2401723FE92A}"/>
              </a:ext>
            </a:extLst>
          </p:cNvPr>
          <p:cNvSpPr/>
          <p:nvPr/>
        </p:nvSpPr>
        <p:spPr>
          <a:xfrm rot="16200000">
            <a:off x="4630675" y="979249"/>
            <a:ext cx="144774" cy="4202377"/>
          </a:xfrm>
          <a:prstGeom prst="rightBrace">
            <a:avLst>
              <a:gd name="adj1" fmla="val 47771"/>
              <a:gd name="adj2" fmla="val 331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89" name="右大括号 88">
            <a:extLst>
              <a:ext uri="{FF2B5EF4-FFF2-40B4-BE49-F238E27FC236}">
                <a16:creationId xmlns:a16="http://schemas.microsoft.com/office/drawing/2014/main" id="{7896A985-37E7-9840-9CD1-C09BF4B82C6C}"/>
              </a:ext>
            </a:extLst>
          </p:cNvPr>
          <p:cNvSpPr/>
          <p:nvPr/>
        </p:nvSpPr>
        <p:spPr>
          <a:xfrm rot="16200000">
            <a:off x="1498852" y="2543373"/>
            <a:ext cx="144774" cy="1067023"/>
          </a:xfrm>
          <a:prstGeom prst="rightBrace">
            <a:avLst>
              <a:gd name="adj1" fmla="val 47771"/>
              <a:gd name="adj2" fmla="val 7370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68" name="右箭头 67">
            <a:extLst>
              <a:ext uri="{FF2B5EF4-FFF2-40B4-BE49-F238E27FC236}">
                <a16:creationId xmlns:a16="http://schemas.microsoft.com/office/drawing/2014/main" id="{91D78994-E437-8F4D-8AD8-0A91A68A9999}"/>
              </a:ext>
            </a:extLst>
          </p:cNvPr>
          <p:cNvSpPr/>
          <p:nvPr/>
        </p:nvSpPr>
        <p:spPr>
          <a:xfrm>
            <a:off x="4722653" y="3937305"/>
            <a:ext cx="317640" cy="216024"/>
          </a:xfrm>
          <a:prstGeom prst="rightArrow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内容占位符 2">
            <a:extLst>
              <a:ext uri="{FF2B5EF4-FFF2-40B4-BE49-F238E27FC236}">
                <a16:creationId xmlns:a16="http://schemas.microsoft.com/office/drawing/2014/main" id="{EA6329FC-072F-E04B-94A4-37E6E4A26F5D}"/>
              </a:ext>
            </a:extLst>
          </p:cNvPr>
          <p:cNvSpPr txBox="1">
            <a:spLocks/>
          </p:cNvSpPr>
          <p:nvPr/>
        </p:nvSpPr>
        <p:spPr>
          <a:xfrm>
            <a:off x="956910" y="3203607"/>
            <a:ext cx="1349171" cy="676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1400" dirty="0"/>
              <a:t>bitmap[5]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92" name="内容占位符 2">
            <a:extLst>
              <a:ext uri="{FF2B5EF4-FFF2-40B4-BE49-F238E27FC236}">
                <a16:creationId xmlns:a16="http://schemas.microsoft.com/office/drawing/2014/main" id="{7231DDF9-9D5B-0849-AB1F-C49A0365A2A9}"/>
              </a:ext>
            </a:extLst>
          </p:cNvPr>
          <p:cNvSpPr txBox="1">
            <a:spLocks/>
          </p:cNvSpPr>
          <p:nvPr/>
        </p:nvSpPr>
        <p:spPr>
          <a:xfrm>
            <a:off x="7537427" y="3209680"/>
            <a:ext cx="1163489" cy="151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1400" dirty="0"/>
              <a:t>block[5]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 err="1">
                <a:solidFill>
                  <a:schemeClr val="accent1"/>
                </a:solidFill>
              </a:rPr>
              <a:t>xxxxxxxxxxxxxxxxxxxxxxxxxxx</a:t>
            </a:r>
            <a:endParaRPr kumimoji="1" lang="en-US" altLang="zh-CN" sz="1400" dirty="0">
              <a:solidFill>
                <a:schemeClr val="accent1"/>
              </a:solidFill>
            </a:endParaRPr>
          </a:p>
        </p:txBody>
      </p:sp>
      <p:sp>
        <p:nvSpPr>
          <p:cNvPr id="93" name="右大括号 92">
            <a:extLst>
              <a:ext uri="{FF2B5EF4-FFF2-40B4-BE49-F238E27FC236}">
                <a16:creationId xmlns:a16="http://schemas.microsoft.com/office/drawing/2014/main" id="{114B0A3E-FE48-3241-920A-62919FB31043}"/>
              </a:ext>
            </a:extLst>
          </p:cNvPr>
          <p:cNvSpPr/>
          <p:nvPr/>
        </p:nvSpPr>
        <p:spPr>
          <a:xfrm rot="16200000">
            <a:off x="7998552" y="2540392"/>
            <a:ext cx="144774" cy="1067024"/>
          </a:xfrm>
          <a:prstGeom prst="rightBrace">
            <a:avLst>
              <a:gd name="adj1" fmla="val 47771"/>
              <a:gd name="adj2" fmla="val 674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D311279C-19C0-1D44-8968-3DEB5E871B0D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1791180" y="1773643"/>
            <a:ext cx="0" cy="869273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2E221A35-6898-5B4F-845A-1A8FE12A548E}"/>
              </a:ext>
            </a:extLst>
          </p:cNvPr>
          <p:cNvCxnSpPr>
            <a:cxnSpLocks/>
            <a:stCxn id="56" idx="2"/>
            <a:endCxn id="61" idx="0"/>
          </p:cNvCxnSpPr>
          <p:nvPr/>
        </p:nvCxnSpPr>
        <p:spPr>
          <a:xfrm flipH="1">
            <a:off x="4023675" y="2225445"/>
            <a:ext cx="1" cy="41603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F0694101-5344-A74D-9484-05CE29F5CA1D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8228690" y="1773643"/>
            <a:ext cx="0" cy="87574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EB613C3-6283-6443-8945-D0F475A6A9CD}"/>
              </a:ext>
            </a:extLst>
          </p:cNvPr>
          <p:cNvSpPr txBox="1"/>
          <p:nvPr/>
        </p:nvSpPr>
        <p:spPr>
          <a:xfrm>
            <a:off x="298917" y="4264157"/>
            <a:ext cx="2118322" cy="11849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1400" b="1" dirty="0">
                <a:solidFill>
                  <a:schemeClr val="accent1"/>
                </a:solidFill>
              </a:rPr>
              <a:t>append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包含三个磁盘写</a:t>
            </a:r>
            <a:endParaRPr kumimoji="1" lang="en-US" altLang="zh-CN" sz="1400" b="1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kumimoji="1" lang="zh-CN" altLang="en-US" sz="1400" b="0" dirty="0"/>
              <a:t>写入新数据</a:t>
            </a:r>
            <a:endParaRPr kumimoji="1" lang="en-US" altLang="zh-CN" sz="1400" b="0" dirty="0"/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kumimoji="1" lang="zh-CN" altLang="en-US" sz="1400" b="0" dirty="0"/>
              <a:t>写入新</a:t>
            </a:r>
            <a:r>
              <a:rPr kumimoji="1" lang="en-US" altLang="zh-CN" sz="1400" b="0" dirty="0"/>
              <a:t>inode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kumimoji="1" lang="zh-CN" altLang="en-US" sz="1400" b="0" dirty="0"/>
              <a:t>更新</a:t>
            </a:r>
            <a:r>
              <a:rPr kumimoji="1" lang="en-US" altLang="zh-CN" sz="1400" b="0" dirty="0"/>
              <a:t>block</a:t>
            </a:r>
            <a:r>
              <a:rPr kumimoji="1" lang="zh-CN" altLang="en-US" sz="1400" b="0" dirty="0"/>
              <a:t>位图</a:t>
            </a:r>
            <a:endParaRPr lang="zh-CN" altLang="en-US" sz="1400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D66E49F-78BF-F049-87CE-C7DF511DE2D9}"/>
              </a:ext>
            </a:extLst>
          </p:cNvPr>
          <p:cNvSpPr txBox="1"/>
          <p:nvPr/>
        </p:nvSpPr>
        <p:spPr>
          <a:xfrm>
            <a:off x="2539503" y="4731276"/>
            <a:ext cx="6397555" cy="6233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</a:rPr>
              <a:t>若写入过程发生故障，有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6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种可能：仅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个写成功（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3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种），仅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个写成功（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3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种）</a:t>
            </a:r>
            <a:endParaRPr kumimoji="1" lang="en-US" altLang="zh-CN" sz="1400" b="1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</a:rPr>
              <a:t>可能的错误：数据错误、空间浪费</a:t>
            </a:r>
            <a:endParaRPr kumimoji="1" lang="en-US" altLang="zh-CN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37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59" grpId="1"/>
      <p:bldP spid="59" grpId="2"/>
      <p:bldP spid="59" grpId="3"/>
      <p:bldP spid="60" grpId="0"/>
      <p:bldP spid="60" grpId="1"/>
      <p:bldP spid="60" grpId="2"/>
      <p:bldP spid="61" grpId="0"/>
      <p:bldP spid="61" grpId="1"/>
      <p:bldP spid="61" grpId="2"/>
      <p:bldP spid="61" grpId="3"/>
      <p:bldP spid="85" grpId="0" build="p"/>
      <p:bldP spid="86" grpId="0"/>
      <p:bldP spid="86" grpId="1"/>
      <p:bldP spid="86" grpId="2"/>
      <p:bldP spid="86" grpId="3"/>
      <p:bldP spid="88" grpId="0" animBg="1"/>
      <p:bldP spid="88" grpId="1" animBg="1"/>
      <p:bldP spid="88" grpId="2" animBg="1"/>
      <p:bldP spid="88" grpId="3" animBg="1"/>
      <p:bldP spid="89" grpId="0" animBg="1"/>
      <p:bldP spid="89" grpId="1" animBg="1"/>
      <p:bldP spid="89" grpId="2" animBg="1"/>
      <p:bldP spid="89" grpId="3" animBg="1"/>
      <p:bldP spid="68" grpId="0" animBg="1"/>
      <p:bldP spid="90" grpId="0"/>
      <p:bldP spid="90" grpId="1"/>
      <p:bldP spid="90" grpId="2"/>
      <p:bldP spid="90" grpId="3"/>
      <p:bldP spid="92" grpId="0"/>
      <p:bldP spid="92" grpId="1"/>
      <p:bldP spid="92" grpId="2"/>
      <p:bldP spid="93" grpId="0" animBg="1"/>
      <p:bldP spid="93" grpId="1" animBg="1"/>
      <p:bldP spid="93" grpId="2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崩溃一致性：用户期望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重启并恢复后</a:t>
            </a:r>
            <a:r>
              <a:rPr lang="en-US" altLang="zh-CN" sz="2400" dirty="0"/>
              <a:t>… </a:t>
            </a:r>
          </a:p>
          <a:p>
            <a:pPr marL="380985" lvl="1" indent="0">
              <a:buNone/>
            </a:pPr>
            <a:r>
              <a:rPr lang="en-US" altLang="zh-CN" sz="2333" dirty="0"/>
              <a:t>1. </a:t>
            </a:r>
            <a:r>
              <a:rPr lang="zh-CN" altLang="en-US" sz="2333" dirty="0"/>
              <a:t>维护文件系统数据结构的内部的不变量</a:t>
            </a:r>
            <a:r>
              <a:rPr lang="en-US" altLang="zh-CN" sz="2333" dirty="0"/>
              <a:t> </a:t>
            </a:r>
          </a:p>
          <a:p>
            <a:pPr marL="761970" lvl="2" indent="0">
              <a:buNone/>
            </a:pPr>
            <a:r>
              <a:rPr lang="zh-CN" altLang="en-US" dirty="0"/>
              <a:t>例如</a:t>
            </a:r>
            <a:r>
              <a:rPr lang="en-US" altLang="zh-CN" dirty="0"/>
              <a:t>, </a:t>
            </a:r>
            <a:r>
              <a:rPr lang="zh-CN" altLang="en-US" dirty="0"/>
              <a:t>没有磁盘块既在</a:t>
            </a:r>
            <a:r>
              <a:rPr lang="en-US" altLang="zh-CN" dirty="0"/>
              <a:t>free list</a:t>
            </a:r>
            <a:r>
              <a:rPr lang="zh-CN" altLang="en-US" dirty="0"/>
              <a:t>中也在一个文件中</a:t>
            </a:r>
            <a:endParaRPr lang="en-US" altLang="zh-CN" dirty="0"/>
          </a:p>
          <a:p>
            <a:pPr marL="380985" lvl="1" indent="0">
              <a:buNone/>
            </a:pPr>
            <a:r>
              <a:rPr lang="en-US" altLang="zh-CN" sz="2333" dirty="0"/>
              <a:t>2. </a:t>
            </a:r>
            <a:r>
              <a:rPr lang="zh-CN" altLang="en-US" sz="2333" dirty="0"/>
              <a:t>仅有最近的一些操作没有被保存到磁盘中</a:t>
            </a:r>
            <a:endParaRPr lang="en-US" altLang="zh-CN" sz="2333" dirty="0"/>
          </a:p>
          <a:p>
            <a:pPr marL="761970" lvl="2" indent="0">
              <a:buNone/>
            </a:pPr>
            <a:r>
              <a:rPr lang="zh-CN" altLang="en-US" dirty="0"/>
              <a:t>例如：我昨天写的</a:t>
            </a:r>
            <a:r>
              <a:rPr lang="en-US" altLang="zh-CN" dirty="0"/>
              <a:t>OS Lab</a:t>
            </a:r>
            <a:r>
              <a:rPr lang="zh-CN" altLang="en-US" dirty="0"/>
              <a:t>的文件还存在</a:t>
            </a:r>
            <a:r>
              <a:rPr lang="en-US" altLang="zh-CN" dirty="0"/>
              <a:t> </a:t>
            </a:r>
          </a:p>
          <a:p>
            <a:pPr marL="761970" lvl="2" indent="0">
              <a:buNone/>
            </a:pPr>
            <a:r>
              <a:rPr lang="zh-CN" altLang="en-US" dirty="0"/>
              <a:t>用户只需要关心最近的几次修改还在不在</a:t>
            </a:r>
            <a:r>
              <a:rPr lang="en-US" altLang="zh-CN" dirty="0"/>
              <a:t> </a:t>
            </a:r>
          </a:p>
          <a:p>
            <a:pPr marL="380985" lvl="1" indent="0">
              <a:buNone/>
            </a:pPr>
            <a:r>
              <a:rPr lang="en-US" altLang="zh-CN" sz="2333" dirty="0"/>
              <a:t>3. </a:t>
            </a:r>
            <a:r>
              <a:rPr lang="zh-CN" altLang="en-US" sz="2333" dirty="0"/>
              <a:t>没有顺序的异常</a:t>
            </a:r>
            <a:r>
              <a:rPr lang="en-US" altLang="zh-CN" sz="2333" dirty="0"/>
              <a:t> </a:t>
            </a:r>
          </a:p>
          <a:p>
            <a:pPr marL="380985" lvl="1" indent="0">
              <a:buNone/>
            </a:pPr>
            <a:r>
              <a:rPr lang="en-US" altLang="zh-CN" sz="2333" dirty="0"/>
              <a:t>	$ echo 99 &gt; result ; echo done &gt; status </a:t>
            </a:r>
          </a:p>
        </p:txBody>
      </p:sp>
    </p:spTree>
    <p:extLst>
      <p:ext uri="{BB962C8B-B14F-4D97-AF65-F5344CB8AC3E}">
        <p14:creationId xmlns:p14="http://schemas.microsoft.com/office/powerpoint/2010/main" val="3202376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B2BB4-69D0-1740-9BA6-50DAD84D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：同步元数据写</a:t>
            </a:r>
            <a:r>
              <a:rPr kumimoji="1" lang="en-US" altLang="zh-CN" dirty="0"/>
              <a:t>+</a:t>
            </a:r>
            <a:r>
              <a:rPr kumimoji="1" lang="en-US" altLang="zh-CN" dirty="0" err="1"/>
              <a:t>fsck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26779A-27E5-D24A-8981-1AD2F6B40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kumimoji="1" lang="zh-CN" altLang="en-US" sz="1800" dirty="0"/>
              <a:t>同步元数据写</a:t>
            </a:r>
            <a:endParaRPr kumimoji="1" lang="en-US" altLang="zh-CN" sz="1800" dirty="0"/>
          </a:p>
          <a:p>
            <a:r>
              <a:rPr kumimoji="1" lang="zh-CN" altLang="en-US" sz="1800" b="0" dirty="0"/>
              <a:t>每次元数据写入后，运行</a:t>
            </a:r>
            <a:r>
              <a:rPr kumimoji="1" lang="en-US" altLang="zh-CN" sz="1800" b="0" dirty="0"/>
              <a:t>sync()</a:t>
            </a:r>
            <a:r>
              <a:rPr kumimoji="1" lang="zh-CN" altLang="en-US" sz="1800" b="0" dirty="0"/>
              <a:t>保证更新后的元数据入盘</a:t>
            </a:r>
            <a:endParaRPr kumimoji="1" lang="en-US" altLang="zh-CN" sz="1800" b="0" dirty="0"/>
          </a:p>
          <a:p>
            <a:pPr marL="0" indent="0">
              <a:buNone/>
            </a:pPr>
            <a:r>
              <a:rPr kumimoji="1" lang="zh-CN" altLang="en-US" sz="1800" dirty="0"/>
              <a:t>若非正常重启，则运行</a:t>
            </a:r>
            <a:r>
              <a:rPr kumimoji="1" lang="en-US" altLang="zh-CN" sz="1800" dirty="0" err="1"/>
              <a:t>fsck</a:t>
            </a:r>
            <a:r>
              <a:rPr kumimoji="1" lang="zh-CN" altLang="en-US" sz="1800" dirty="0"/>
              <a:t>检查磁盘，具体步骤：</a:t>
            </a:r>
            <a:endParaRPr kumimoji="1" lang="en-US" altLang="zh-CN" sz="1800" dirty="0"/>
          </a:p>
          <a:p>
            <a:r>
              <a:rPr kumimoji="1" lang="en-US" altLang="zh-CN" sz="1800" dirty="0"/>
              <a:t>1.</a:t>
            </a:r>
            <a:r>
              <a:rPr kumimoji="1" lang="zh-CN" altLang="en-US" sz="1800" dirty="0"/>
              <a:t> 检查</a:t>
            </a:r>
            <a:r>
              <a:rPr kumimoji="1" lang="en-US" altLang="zh-CN" sz="1800" dirty="0"/>
              <a:t>superblock</a:t>
            </a:r>
          </a:p>
          <a:p>
            <a:pPr lvl="1"/>
            <a:r>
              <a:rPr kumimoji="1" lang="zh-CN" altLang="en-US" sz="1600" dirty="0"/>
              <a:t>例：保证文件系统大小大于已分配的磁盘块总和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如果出错，则尝试使用</a:t>
            </a:r>
            <a:r>
              <a:rPr kumimoji="1" lang="en-US" altLang="zh-CN" sz="1600" dirty="0"/>
              <a:t>superblock</a:t>
            </a:r>
            <a:r>
              <a:rPr kumimoji="1" lang="zh-CN" altLang="en-US" sz="1600" dirty="0"/>
              <a:t>的备份</a:t>
            </a:r>
            <a:endParaRPr kumimoji="1" lang="en-US" altLang="zh-CN" sz="1600" dirty="0"/>
          </a:p>
          <a:p>
            <a:r>
              <a:rPr kumimoji="1" lang="en-US" altLang="zh-CN" sz="1800" dirty="0"/>
              <a:t>2.</a:t>
            </a:r>
            <a:r>
              <a:rPr kumimoji="1" lang="zh-CN" altLang="en-US" sz="1800" dirty="0"/>
              <a:t> 检查空闲的</a:t>
            </a:r>
            <a:r>
              <a:rPr kumimoji="1" lang="en-US" altLang="zh-CN" sz="1800" dirty="0"/>
              <a:t>block</a:t>
            </a:r>
          </a:p>
          <a:p>
            <a:pPr lvl="1"/>
            <a:r>
              <a:rPr kumimoji="1" lang="zh-CN" altLang="en-US" sz="1600" dirty="0"/>
              <a:t>扫描所有</a:t>
            </a:r>
            <a:r>
              <a:rPr kumimoji="1" lang="en-US" altLang="zh-CN" sz="1600" dirty="0" err="1"/>
              <a:t>inode</a:t>
            </a:r>
            <a:r>
              <a:rPr kumimoji="1" lang="zh-CN" altLang="en-US" sz="1600" dirty="0"/>
              <a:t>的所有包含的磁盘块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用扫描结果来检验磁盘块的</a:t>
            </a:r>
            <a:r>
              <a:rPr kumimoji="1" lang="en-US" altLang="zh-CN" sz="1600" dirty="0"/>
              <a:t>bitmap</a:t>
            </a:r>
          </a:p>
          <a:p>
            <a:pPr lvl="1"/>
            <a:r>
              <a:rPr kumimoji="1" lang="zh-CN" altLang="en-US" sz="1600" dirty="0"/>
              <a:t>对</a:t>
            </a:r>
            <a:r>
              <a:rPr kumimoji="1" lang="en-US" altLang="zh-CN" sz="1600" dirty="0" err="1"/>
              <a:t>inode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bitmap</a:t>
            </a:r>
            <a:r>
              <a:rPr kumimoji="1" lang="zh-CN" altLang="en-US" sz="1600" dirty="0"/>
              <a:t>也用类似方法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753A25-414C-344A-9D09-E77AFB94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688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3DF7E-C1B1-F44B-AAF4-1733C6D3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：同步元数据写</a:t>
            </a:r>
            <a:r>
              <a:rPr kumimoji="1" lang="en-US" altLang="zh-CN" dirty="0"/>
              <a:t>+</a:t>
            </a:r>
            <a:r>
              <a:rPr kumimoji="1" lang="en-US" altLang="zh-CN" dirty="0" err="1"/>
              <a:t>fsck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6499A-D8B6-CF49-B0AF-8FF31BA5C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000" dirty="0"/>
              <a:t>3.</a:t>
            </a:r>
            <a:r>
              <a:rPr kumimoji="1" lang="zh-CN" altLang="en-US" sz="2000" dirty="0"/>
              <a:t> 检查</a:t>
            </a:r>
            <a:r>
              <a:rPr kumimoji="1" lang="en-US" altLang="zh-CN" sz="2000" dirty="0" err="1"/>
              <a:t>inode</a:t>
            </a:r>
            <a:r>
              <a:rPr kumimoji="1" lang="zh-CN" altLang="en-US" sz="2000" dirty="0"/>
              <a:t>的状态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检查类型：如普通文件、目录、符号链接等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若类型错误，则清除掉</a:t>
            </a:r>
            <a:r>
              <a:rPr kumimoji="1" lang="en-US" altLang="zh-CN" sz="1800" dirty="0" err="1"/>
              <a:t>inode</a:t>
            </a:r>
            <a:r>
              <a:rPr kumimoji="1" lang="zh-CN" altLang="en-US" sz="1800" dirty="0"/>
              <a:t>以及对应的</a:t>
            </a:r>
            <a:r>
              <a:rPr kumimoji="1" lang="en-US" altLang="zh-CN" sz="1800" dirty="0"/>
              <a:t>bitmap</a:t>
            </a:r>
          </a:p>
          <a:p>
            <a:r>
              <a:rPr kumimoji="1" lang="en-US" altLang="zh-CN" sz="2000" dirty="0"/>
              <a:t>4.</a:t>
            </a:r>
            <a:r>
              <a:rPr kumimoji="1" lang="zh-CN" altLang="en-US" sz="2000" dirty="0"/>
              <a:t> 检查</a:t>
            </a:r>
            <a:r>
              <a:rPr kumimoji="1" lang="en-US" altLang="zh-CN" sz="2000" dirty="0" err="1"/>
              <a:t>inode</a:t>
            </a:r>
            <a:r>
              <a:rPr kumimoji="1" lang="zh-CN" altLang="en-US" sz="2000" dirty="0"/>
              <a:t>链接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扫描整个文件系统树，核对文件链接的数量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如果某个</a:t>
            </a:r>
            <a:r>
              <a:rPr kumimoji="1" lang="en-US" altLang="zh-CN" sz="1800" dirty="0" err="1"/>
              <a:t>inode</a:t>
            </a:r>
            <a:r>
              <a:rPr kumimoji="1" lang="zh-CN" altLang="en-US" sz="1800" dirty="0"/>
              <a:t>存在但不在任何一个目录，则放到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lost+found</a:t>
            </a:r>
            <a:endParaRPr kumimoji="1" lang="en-US" altLang="zh-CN" sz="1800" dirty="0"/>
          </a:p>
          <a:p>
            <a:r>
              <a:rPr kumimoji="1" lang="en-US" altLang="zh-CN" sz="2000" dirty="0"/>
              <a:t>5.</a:t>
            </a:r>
            <a:r>
              <a:rPr kumimoji="1" lang="zh-CN" altLang="en-US" sz="2000" dirty="0"/>
              <a:t> 检查重复磁盘块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如：两个</a:t>
            </a:r>
            <a:r>
              <a:rPr kumimoji="1" lang="en-US" altLang="zh-CN" sz="1800" dirty="0" err="1"/>
              <a:t>inode</a:t>
            </a:r>
            <a:r>
              <a:rPr kumimoji="1" lang="zh-CN" altLang="en-US" sz="1800" dirty="0"/>
              <a:t>指向同一个磁盘块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如果一个</a:t>
            </a:r>
            <a:r>
              <a:rPr kumimoji="1" lang="en-US" altLang="zh-CN" sz="1800" dirty="0" err="1"/>
              <a:t>inode</a:t>
            </a:r>
            <a:r>
              <a:rPr kumimoji="1" lang="zh-CN" altLang="en-US" sz="1800" dirty="0"/>
              <a:t>明显有问题则删掉，否则复制磁盘块一边给一个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D65324-2842-4943-9712-6D85BA28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598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3DF7E-C1B1-F44B-AAF4-1733C6D3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：同步元数据写</a:t>
            </a:r>
            <a:r>
              <a:rPr kumimoji="1" lang="en-US" altLang="zh-CN" dirty="0"/>
              <a:t>+</a:t>
            </a:r>
            <a:r>
              <a:rPr kumimoji="1" lang="en-US" altLang="zh-CN" dirty="0" err="1"/>
              <a:t>fsck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6499A-D8B6-CF49-B0AF-8FF31BA5C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000" dirty="0"/>
              <a:t>6.</a:t>
            </a:r>
            <a:r>
              <a:rPr kumimoji="1" lang="zh-CN" altLang="en-US" sz="2000" dirty="0"/>
              <a:t> 检查坏的磁盘块</a:t>
            </a:r>
            <a:r>
              <a:rPr kumimoji="1" lang="en-US" altLang="zh-CN" sz="2000" dirty="0"/>
              <a:t>ID</a:t>
            </a:r>
          </a:p>
          <a:p>
            <a:pPr lvl="1"/>
            <a:r>
              <a:rPr kumimoji="1" lang="zh-CN" altLang="en-US" sz="1800" dirty="0"/>
              <a:t>如：指向超出磁盘空间的</a:t>
            </a:r>
            <a:r>
              <a:rPr kumimoji="1" lang="en-US" altLang="zh-CN" sz="1800" dirty="0"/>
              <a:t>ID</a:t>
            </a:r>
          </a:p>
          <a:p>
            <a:pPr lvl="1"/>
            <a:r>
              <a:rPr kumimoji="1" lang="zh-CN" altLang="en-US" sz="1800" dirty="0"/>
              <a:t>问：这种情况下，</a:t>
            </a:r>
            <a:r>
              <a:rPr kumimoji="1" lang="en-US" altLang="zh-CN" sz="1800" dirty="0" err="1"/>
              <a:t>fsck</a:t>
            </a:r>
            <a:r>
              <a:rPr kumimoji="1" lang="zh-CN" altLang="en-US" sz="1800" dirty="0"/>
              <a:t>能做什么呢？仅仅是移除这个指针么？</a:t>
            </a:r>
            <a:endParaRPr kumimoji="1" lang="en-US" altLang="zh-CN" sz="1800" dirty="0"/>
          </a:p>
          <a:p>
            <a:r>
              <a:rPr kumimoji="1" lang="en-US" altLang="zh-CN" sz="2000" dirty="0"/>
              <a:t>7.</a:t>
            </a:r>
            <a:r>
              <a:rPr kumimoji="1" lang="zh-CN" altLang="en-US" sz="2000" dirty="0"/>
              <a:t> 检查目录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这是</a:t>
            </a:r>
            <a:r>
              <a:rPr kumimoji="1" lang="en-US" altLang="zh-CN" sz="1800" dirty="0" err="1"/>
              <a:t>fsck</a:t>
            </a:r>
            <a:r>
              <a:rPr kumimoji="1" lang="zh-CN" altLang="en-US" sz="1800" dirty="0"/>
              <a:t>对数据有更多语义的唯一的一种文件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保证 </a:t>
            </a:r>
            <a:r>
              <a:rPr kumimoji="1" lang="en-US" altLang="zh-CN" sz="1800" dirty="0"/>
              <a:t>.</a:t>
            </a:r>
            <a:r>
              <a:rPr kumimoji="1" lang="zh-CN" altLang="en-US" sz="1800" dirty="0"/>
              <a:t> 和 </a:t>
            </a:r>
            <a:r>
              <a:rPr kumimoji="1" lang="en-US" altLang="zh-CN" sz="1800" dirty="0"/>
              <a:t>..</a:t>
            </a:r>
            <a:r>
              <a:rPr kumimoji="1" lang="zh-CN" altLang="en-US" sz="1800" dirty="0"/>
              <a:t> 是位于头部的目录项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保证目录的链接数只能是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个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保证目录中不会有相同的文件名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D65324-2842-4943-9712-6D85BA28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926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3DF7E-C1B1-F44B-AAF4-1733C6D3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的问题：太慢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6499A-D8B6-CF49-B0AF-8FF31BA5C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000" dirty="0" err="1"/>
              <a:t>fsck</a:t>
            </a:r>
            <a:r>
              <a:rPr kumimoji="1" lang="zh-CN" altLang="en-US" sz="2000" dirty="0"/>
              <a:t>需要用多长时间？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对于服务器</a:t>
            </a:r>
            <a:r>
              <a:rPr kumimoji="1" lang="en-US" altLang="zh-CN" sz="1800" dirty="0"/>
              <a:t>70GB</a:t>
            </a:r>
            <a:r>
              <a:rPr kumimoji="1" lang="zh-CN" altLang="en-US" sz="1800" dirty="0"/>
              <a:t>磁盘（</a:t>
            </a:r>
            <a:r>
              <a:rPr kumimoji="1" lang="en-US" altLang="zh-CN" sz="1800" dirty="0"/>
              <a:t>2</a:t>
            </a:r>
            <a:r>
              <a:rPr kumimoji="1" lang="zh-CN" altLang="en-US" sz="1800" dirty="0"/>
              <a:t>百万个</a:t>
            </a:r>
            <a:r>
              <a:rPr kumimoji="1" lang="en-US" altLang="zh-CN" sz="1800" dirty="0" err="1"/>
              <a:t>inode</a:t>
            </a:r>
            <a:r>
              <a:rPr kumimoji="1" lang="zh-CN" altLang="en-US" sz="1800" dirty="0"/>
              <a:t>），需要</a:t>
            </a:r>
            <a:r>
              <a:rPr kumimoji="1" lang="en-US" altLang="zh-CN" sz="1800" dirty="0"/>
              <a:t>10</a:t>
            </a:r>
            <a:r>
              <a:rPr kumimoji="1" lang="zh-CN" altLang="en-US" sz="1800" dirty="0"/>
              <a:t>分钟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时间与磁盘的大小成比例增长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r>
              <a:rPr kumimoji="1" lang="zh-CN" altLang="en-US" sz="2000" dirty="0"/>
              <a:t>同步元数据写导致创建文件等操作非常慢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例：解压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内核源代码需要多久？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创建一个新文件需要</a:t>
            </a:r>
            <a:r>
              <a:rPr kumimoji="1" lang="en-US" altLang="zh-CN" sz="1600" dirty="0"/>
              <a:t>8</a:t>
            </a:r>
            <a:r>
              <a:rPr kumimoji="1" lang="zh-CN" altLang="en-US" sz="1600" dirty="0"/>
              <a:t>次磁盘写，每次</a:t>
            </a:r>
            <a:r>
              <a:rPr kumimoji="1" lang="en-US" altLang="zh-CN" sz="1600" dirty="0"/>
              <a:t>10ms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Linux</a:t>
            </a:r>
            <a:r>
              <a:rPr kumimoji="1" lang="zh-CN" altLang="en-US" sz="1600" dirty="0"/>
              <a:t>内核大概有</a:t>
            </a:r>
            <a:r>
              <a:rPr kumimoji="1" lang="en-US" altLang="zh-CN" sz="1600" dirty="0"/>
              <a:t>6</a:t>
            </a:r>
            <a:r>
              <a:rPr kumimoji="1" lang="zh-CN" altLang="en-US" sz="1600" dirty="0"/>
              <a:t>万个源文件</a:t>
            </a:r>
            <a:endParaRPr kumimoji="1" lang="en-US" altLang="zh-CN" sz="1600" dirty="0"/>
          </a:p>
          <a:p>
            <a:pPr lvl="2"/>
            <a:r>
              <a:rPr kumimoji="1" lang="en-US" altLang="zh-CN" sz="1600" dirty="0"/>
              <a:t>8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x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10ms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x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60000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1.3</a:t>
            </a:r>
            <a:r>
              <a:rPr kumimoji="1" lang="zh-CN" altLang="en-US" sz="1600" dirty="0"/>
              <a:t>小时</a:t>
            </a:r>
            <a:endParaRPr kumimoji="1" lang="en-US" altLang="zh-CN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D65324-2842-4943-9712-6D85BA28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Picture 2" descr="http://i3.cpcache.com/product/132293746/fsck_it_tshirt.jpg?height=350&amp;width=350">
            <a:extLst>
              <a:ext uri="{FF2B5EF4-FFF2-40B4-BE49-F238E27FC236}">
                <a16:creationId xmlns:a16="http://schemas.microsoft.com/office/drawing/2014/main" id="{70C6E8C5-5B2C-5E4D-B0B6-BBE5E6C0D2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2" b="51163"/>
          <a:stretch/>
        </p:blipFill>
        <p:spPr bwMode="auto">
          <a:xfrm>
            <a:off x="6125863" y="3289548"/>
            <a:ext cx="2988273" cy="13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93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8BB51-4540-774A-BAF5-8E17C0E5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r>
              <a:rPr lang="en-US" altLang="zh-CN" dirty="0"/>
              <a:t>-2</a:t>
            </a:r>
            <a:r>
              <a:rPr lang="zh-CN" altLang="en-US" dirty="0"/>
              <a:t>：</a:t>
            </a:r>
            <a:r>
              <a:rPr lang="zh-CN" altLang="en-CN" dirty="0"/>
              <a:t>日志</a:t>
            </a:r>
            <a:r>
              <a:rPr lang="zh-CN" altLang="en-US" dirty="0"/>
              <a:t>（</a:t>
            </a:r>
            <a:r>
              <a:rPr lang="en-US" altLang="zh-CN" dirty="0"/>
              <a:t>Journaling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83509-F910-9847-A2B5-AF1A31646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CN" sz="2400" dirty="0"/>
              <a:t>在</a:t>
            </a:r>
            <a:r>
              <a:rPr lang="zh-CN" altLang="en-US" sz="2400" dirty="0"/>
              <a:t>进行修改之前，先将修改记录到日志中</a:t>
            </a:r>
            <a:endParaRPr lang="en-US" altLang="zh-CN" sz="2400" dirty="0"/>
          </a:p>
          <a:p>
            <a:pPr lvl="1"/>
            <a:r>
              <a:rPr lang="zh-CN" altLang="en-US" sz="2200" dirty="0"/>
              <a:t>如：如何修改</a:t>
            </a:r>
            <a:r>
              <a:rPr lang="en-US" altLang="zh-CN" sz="2200" dirty="0"/>
              <a:t>block-bitmap</a:t>
            </a:r>
            <a:r>
              <a:rPr lang="zh-CN" altLang="en-US" sz="2200" dirty="0"/>
              <a:t>、如何修改</a:t>
            </a:r>
            <a:r>
              <a:rPr lang="en-US" altLang="zh-CN" sz="2200" dirty="0"/>
              <a:t>data</a:t>
            </a:r>
            <a:endParaRPr lang="en-US" altLang="zh-CN" sz="2200" b="0" dirty="0"/>
          </a:p>
          <a:p>
            <a:r>
              <a:rPr lang="zh-CN" altLang="en-US" sz="2400" dirty="0"/>
              <a:t>所有要进行的修改都记录完毕后，提交日志</a:t>
            </a:r>
            <a:endParaRPr lang="en-US" altLang="zh-CN" sz="2400" dirty="0"/>
          </a:p>
          <a:p>
            <a:r>
              <a:rPr lang="zh-CN" altLang="en-US" sz="2400" dirty="0"/>
              <a:t>确定日志落盘后，再修改数据和元数据</a:t>
            </a:r>
            <a:endParaRPr lang="en-US" altLang="zh-CN" sz="2400" dirty="0"/>
          </a:p>
          <a:p>
            <a:r>
              <a:rPr lang="zh-CN" altLang="en-CN" sz="2400" dirty="0"/>
              <a:t>修改</a:t>
            </a:r>
            <a:r>
              <a:rPr lang="zh-CN" altLang="en-US" sz="2400" dirty="0"/>
              <a:t>完成后，删除日志</a:t>
            </a:r>
            <a:endParaRPr lang="en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AC039-1425-4D45-9CCC-DFFC7715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9E51-9970-F047-A98C-D8F5031E2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213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C0D01-EA3D-D247-B9BC-0C753E3C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CN" altLang="zh-CN"/>
              <a:t>: Ext4</a:t>
            </a:r>
            <a:r>
              <a:rPr lang="zh-CN" altLang="en-US" dirty="0"/>
              <a:t>的日志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6DD59D-A954-6D4B-BF89-F4AAD7944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400" dirty="0"/>
              <a:t>Data mode</a:t>
            </a:r>
            <a:r>
              <a:rPr kumimoji="1" lang="zh-CN" altLang="en-US" sz="2400" dirty="0"/>
              <a:t>（即 </a:t>
            </a:r>
            <a:r>
              <a:rPr kumimoji="1" lang="en-US" altLang="zh-CN" sz="2400" dirty="0"/>
              <a:t>full journaling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lvl="1"/>
            <a:r>
              <a:rPr lang="zh-CN" altLang="en-US" sz="2000" dirty="0"/>
              <a:t>数据和元数据都写入日志区域</a:t>
            </a:r>
            <a:endParaRPr lang="en-US" altLang="zh-CN" sz="2000" dirty="0"/>
          </a:p>
          <a:p>
            <a:r>
              <a:rPr kumimoji="1" lang="en-US" altLang="zh-CN" sz="2400" dirty="0"/>
              <a:t>Ordered mode</a:t>
            </a:r>
          </a:p>
          <a:p>
            <a:pPr lvl="1"/>
            <a:r>
              <a:rPr lang="zh-CN" altLang="en" sz="2000" dirty="0"/>
              <a:t>先</a:t>
            </a:r>
            <a:r>
              <a:rPr lang="zh-CN" altLang="en-US" sz="2000" dirty="0"/>
              <a:t>写数据（原本的文件位置），再写元数据（日志）</a:t>
            </a:r>
            <a:endParaRPr kumimoji="1" lang="en-US" altLang="zh-CN" sz="2000" dirty="0"/>
          </a:p>
          <a:p>
            <a:r>
              <a:rPr kumimoji="1" lang="en-US" altLang="zh-CN" sz="2400" dirty="0"/>
              <a:t>Writeback mode</a:t>
            </a:r>
          </a:p>
          <a:p>
            <a:pPr lvl="1"/>
            <a:r>
              <a:rPr lang="zh-CN" altLang="en-US" sz="2000" dirty="0"/>
              <a:t>仅仅将元数据写入日志</a:t>
            </a:r>
            <a:endParaRPr lang="en" altLang="zh-CN" sz="2000" dirty="0"/>
          </a:p>
          <a:p>
            <a:pPr lvl="1"/>
            <a:r>
              <a:rPr lang="zh-CN" altLang="en-US" sz="2000" dirty="0"/>
              <a:t>数据依然写入原本的位置</a:t>
            </a:r>
            <a:endParaRPr lang="en-US" altLang="zh-CN" sz="2000" dirty="0"/>
          </a:p>
          <a:p>
            <a:pPr lvl="1"/>
            <a:r>
              <a:rPr kumimoji="1" lang="zh-CN" altLang="en-US" sz="2000" dirty="0"/>
              <a:t>日志和数据之间没有顺序保证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ACAC13-85CF-C646-BF35-336AEDDD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BEEA168-0304-9143-B472-44F358E0754F}"/>
              </a:ext>
            </a:extLst>
          </p:cNvPr>
          <p:cNvSpPr/>
          <p:nvPr/>
        </p:nvSpPr>
        <p:spPr>
          <a:xfrm>
            <a:off x="457200" y="2330365"/>
            <a:ext cx="8568952" cy="1054270"/>
          </a:xfrm>
          <a:prstGeom prst="roundRect">
            <a:avLst>
              <a:gd name="adj" fmla="val 8604"/>
            </a:avLst>
          </a:prstGeom>
          <a:noFill/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3B364-CCB8-8E4C-ACC4-1B3852F784D9}"/>
              </a:ext>
            </a:extLst>
          </p:cNvPr>
          <p:cNvSpPr txBox="1"/>
          <p:nvPr/>
        </p:nvSpPr>
        <p:spPr>
          <a:xfrm>
            <a:off x="7815564" y="237657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默认配置</a:t>
            </a:r>
            <a:endParaRPr lang="en-C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99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9C99B-3566-0F4E-BBD9-CFC5489C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Ordered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</a:t>
            </a:r>
            <a:r>
              <a:rPr kumimoji="1" lang="zh-CN" altLang="en-US" dirty="0"/>
              <a:t>：两次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保证顺序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60EE32-7129-A048-86C6-DD4C7F06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8FF710-C1A9-C44D-A3E3-1105DF38863F}"/>
              </a:ext>
            </a:extLst>
          </p:cNvPr>
          <p:cNvSpPr txBox="1"/>
          <p:nvPr/>
        </p:nvSpPr>
        <p:spPr>
          <a:xfrm>
            <a:off x="251520" y="2601406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rgbClr val="7030A0"/>
                </a:solidFill>
              </a:rPr>
              <a:t>文件系统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D9F2E57-3389-7747-81F7-8C5B2CB17124}"/>
              </a:ext>
            </a:extLst>
          </p:cNvPr>
          <p:cNvCxnSpPr/>
          <p:nvPr/>
        </p:nvCxnSpPr>
        <p:spPr>
          <a:xfrm>
            <a:off x="611560" y="3330544"/>
            <a:ext cx="7776864" cy="0"/>
          </a:xfrm>
          <a:prstGeom prst="line">
            <a:avLst/>
          </a:prstGeom>
          <a:ln w="28575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3118BAFB-4D25-AD49-B09B-E1B92EF8620E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971600" y="4163862"/>
            <a:ext cx="7377913" cy="30778"/>
          </a:xfrm>
          <a:prstGeom prst="line">
            <a:avLst/>
          </a:prstGeom>
          <a:ln w="2857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E34529B-F1EF-274B-B169-62139A4D2EAE}"/>
              </a:ext>
            </a:extLst>
          </p:cNvPr>
          <p:cNvSpPr txBox="1"/>
          <p:nvPr/>
        </p:nvSpPr>
        <p:spPr>
          <a:xfrm>
            <a:off x="251520" y="3963807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rgbClr val="7030A0"/>
                </a:solidFill>
              </a:rPr>
              <a:t>磁盘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5923BA-5C10-9B4B-B2E1-C8FCB028FA71}"/>
              </a:ext>
            </a:extLst>
          </p:cNvPr>
          <p:cNvSpPr txBox="1"/>
          <p:nvPr/>
        </p:nvSpPr>
        <p:spPr>
          <a:xfrm>
            <a:off x="755576" y="4654941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7030A0"/>
                </a:solidFill>
              </a:rPr>
              <a:t>盘片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C30AAA-4138-0F40-BFCC-3E4C25B4D237}"/>
              </a:ext>
            </a:extLst>
          </p:cNvPr>
          <p:cNvSpPr txBox="1"/>
          <p:nvPr/>
        </p:nvSpPr>
        <p:spPr>
          <a:xfrm>
            <a:off x="766324" y="357792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7030A0"/>
                </a:solidFill>
              </a:rPr>
              <a:t>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F7DF72-FA21-2A47-8E8F-85031D0CE200}"/>
              </a:ext>
            </a:extLst>
          </p:cNvPr>
          <p:cNvSpPr/>
          <p:nvPr/>
        </p:nvSpPr>
        <p:spPr>
          <a:xfrm>
            <a:off x="2228833" y="4574462"/>
            <a:ext cx="144016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D11511-192E-0941-9F91-5BF5393C3247}"/>
              </a:ext>
            </a:extLst>
          </p:cNvPr>
          <p:cNvSpPr/>
          <p:nvPr/>
        </p:nvSpPr>
        <p:spPr>
          <a:xfrm>
            <a:off x="2372849" y="4574462"/>
            <a:ext cx="144016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9A1939-AED9-504B-AFD4-32D86E7F6BE7}"/>
              </a:ext>
            </a:extLst>
          </p:cNvPr>
          <p:cNvSpPr/>
          <p:nvPr/>
        </p:nvSpPr>
        <p:spPr>
          <a:xfrm>
            <a:off x="2516865" y="4574462"/>
            <a:ext cx="144016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885656-F0B3-9A4D-BD3F-CDA2B7B55B94}"/>
              </a:ext>
            </a:extLst>
          </p:cNvPr>
          <p:cNvSpPr/>
          <p:nvPr/>
        </p:nvSpPr>
        <p:spPr>
          <a:xfrm>
            <a:off x="2660881" y="4574462"/>
            <a:ext cx="144016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2B24D3-3DD7-0B4A-8226-2134F4F79BCD}"/>
              </a:ext>
            </a:extLst>
          </p:cNvPr>
          <p:cNvSpPr/>
          <p:nvPr/>
        </p:nvSpPr>
        <p:spPr>
          <a:xfrm>
            <a:off x="2804547" y="4574462"/>
            <a:ext cx="144016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21F8D2-6AEC-FF48-ACE0-A6EDE66CD4B7}"/>
              </a:ext>
            </a:extLst>
          </p:cNvPr>
          <p:cNvSpPr/>
          <p:nvPr/>
        </p:nvSpPr>
        <p:spPr>
          <a:xfrm>
            <a:off x="2948563" y="4574462"/>
            <a:ext cx="144016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E92D30-30FD-7F4A-BCA1-16ECCAFEB732}"/>
              </a:ext>
            </a:extLst>
          </p:cNvPr>
          <p:cNvSpPr/>
          <p:nvPr/>
        </p:nvSpPr>
        <p:spPr>
          <a:xfrm>
            <a:off x="3092579" y="4574462"/>
            <a:ext cx="144016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BD3ECF9-E4B9-0A48-A136-6F27DB793245}"/>
              </a:ext>
            </a:extLst>
          </p:cNvPr>
          <p:cNvSpPr/>
          <p:nvPr/>
        </p:nvSpPr>
        <p:spPr>
          <a:xfrm>
            <a:off x="3236595" y="4574462"/>
            <a:ext cx="144016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358544-A02B-5347-B2EA-003A0672AEE1}"/>
              </a:ext>
            </a:extLst>
          </p:cNvPr>
          <p:cNvSpPr/>
          <p:nvPr/>
        </p:nvSpPr>
        <p:spPr>
          <a:xfrm>
            <a:off x="3380611" y="4574462"/>
            <a:ext cx="576414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F20FB5-E948-8042-8940-581628509FE3}"/>
              </a:ext>
            </a:extLst>
          </p:cNvPr>
          <p:cNvSpPr/>
          <p:nvPr/>
        </p:nvSpPr>
        <p:spPr>
          <a:xfrm>
            <a:off x="3956325" y="4574462"/>
            <a:ext cx="576414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246798-494A-624C-9332-9C8A08CF75E2}"/>
              </a:ext>
            </a:extLst>
          </p:cNvPr>
          <p:cNvSpPr/>
          <p:nvPr/>
        </p:nvSpPr>
        <p:spPr>
          <a:xfrm>
            <a:off x="4532739" y="4574462"/>
            <a:ext cx="576414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A43D59B-3E68-A844-954B-4D6BF42470D6}"/>
              </a:ext>
            </a:extLst>
          </p:cNvPr>
          <p:cNvSpPr/>
          <p:nvPr/>
        </p:nvSpPr>
        <p:spPr>
          <a:xfrm>
            <a:off x="5108453" y="4574462"/>
            <a:ext cx="576414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85FC8F4-484D-5E4B-A5FC-D413B2BE2260}"/>
              </a:ext>
            </a:extLst>
          </p:cNvPr>
          <p:cNvSpPr/>
          <p:nvPr/>
        </p:nvSpPr>
        <p:spPr>
          <a:xfrm>
            <a:off x="5684867" y="4574462"/>
            <a:ext cx="576414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32E297-756D-E942-B05A-0C0F92061B38}"/>
              </a:ext>
            </a:extLst>
          </p:cNvPr>
          <p:cNvSpPr/>
          <p:nvPr/>
        </p:nvSpPr>
        <p:spPr>
          <a:xfrm>
            <a:off x="6260581" y="4574462"/>
            <a:ext cx="2088932" cy="53029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DD37A705-8A72-174B-B2A9-CE31D3A332B2}"/>
              </a:ext>
            </a:extLst>
          </p:cNvPr>
          <p:cNvSpPr/>
          <p:nvPr/>
        </p:nvSpPr>
        <p:spPr>
          <a:xfrm>
            <a:off x="5004048" y="2635207"/>
            <a:ext cx="1080121" cy="34851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/>
              <a:t>数据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3BAA676-080B-2C4D-9CBC-3C78CDD066BD}"/>
              </a:ext>
            </a:extLst>
          </p:cNvPr>
          <p:cNvGrpSpPr/>
          <p:nvPr/>
        </p:nvGrpSpPr>
        <p:grpSpPr>
          <a:xfrm>
            <a:off x="6062873" y="2634644"/>
            <a:ext cx="762669" cy="366872"/>
            <a:chOff x="6062873" y="2639775"/>
            <a:chExt cx="762669" cy="303200"/>
          </a:xfrm>
        </p:grpSpPr>
        <p:sp>
          <p:nvSpPr>
            <p:cNvPr id="34" name="圆角矩形 33">
              <a:extLst>
                <a:ext uri="{FF2B5EF4-FFF2-40B4-BE49-F238E27FC236}">
                  <a16:creationId xmlns:a16="http://schemas.microsoft.com/office/drawing/2014/main" id="{894EAE0B-5972-F24E-8635-7E18D5A65B94}"/>
                </a:ext>
              </a:extLst>
            </p:cNvPr>
            <p:cNvSpPr/>
            <p:nvPr/>
          </p:nvSpPr>
          <p:spPr>
            <a:xfrm>
              <a:off x="6156176" y="2639775"/>
              <a:ext cx="576064" cy="2880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8F81669-DB17-7442-873C-0AE34F95C51C}"/>
                </a:ext>
              </a:extLst>
            </p:cNvPr>
            <p:cNvSpPr txBox="1"/>
            <p:nvPr/>
          </p:nvSpPr>
          <p:spPr>
            <a:xfrm>
              <a:off x="6062873" y="2665976"/>
              <a:ext cx="7626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chemeClr val="bg1"/>
                  </a:solidFill>
                </a:rPr>
                <a:t>元数据</a:t>
              </a:r>
            </a:p>
          </p:txBody>
        </p:sp>
      </p:grp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5B43AC8-4361-4D45-9947-4A793B205CE4}"/>
              </a:ext>
            </a:extLst>
          </p:cNvPr>
          <p:cNvSpPr/>
          <p:nvPr/>
        </p:nvSpPr>
        <p:spPr>
          <a:xfrm>
            <a:off x="4067944" y="3581094"/>
            <a:ext cx="1049039" cy="34851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/>
              <a:t>数据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A89EC726-B688-BF40-8F25-56976CF5D9E6}"/>
              </a:ext>
            </a:extLst>
          </p:cNvPr>
          <p:cNvSpPr/>
          <p:nvPr/>
        </p:nvSpPr>
        <p:spPr>
          <a:xfrm>
            <a:off x="5201756" y="3581094"/>
            <a:ext cx="576064" cy="34851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282C962-17A7-0F49-908B-8505A520E5C1}"/>
              </a:ext>
            </a:extLst>
          </p:cNvPr>
          <p:cNvSpPr txBox="1"/>
          <p:nvPr/>
        </p:nvSpPr>
        <p:spPr>
          <a:xfrm>
            <a:off x="5108453" y="3587769"/>
            <a:ext cx="762669" cy="335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bg1"/>
                </a:solidFill>
              </a:rPr>
              <a:t>J</a:t>
            </a:r>
            <a:r>
              <a:rPr kumimoji="1" lang="zh-CN" altLang="en-US" sz="1400" b="1" baseline="-25000" dirty="0">
                <a:solidFill>
                  <a:schemeClr val="bg1"/>
                </a:solidFill>
              </a:rPr>
              <a:t>元数据</a:t>
            </a:r>
            <a:endParaRPr kumimoji="1" lang="zh-CN" altLang="en-US" sz="1200" b="1" baseline="-25000" dirty="0">
              <a:solidFill>
                <a:schemeClr val="bg1"/>
              </a:solidFill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05C4357D-0545-7C4D-8CF3-4C10DA9798DB}"/>
              </a:ext>
            </a:extLst>
          </p:cNvPr>
          <p:cNvSpPr/>
          <p:nvPr/>
        </p:nvSpPr>
        <p:spPr>
          <a:xfrm>
            <a:off x="4571651" y="4665348"/>
            <a:ext cx="1084892" cy="34851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/>
              <a:t>数据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4329A18-B5FD-C24D-9A8F-11FF603AE577}"/>
              </a:ext>
            </a:extLst>
          </p:cNvPr>
          <p:cNvGrpSpPr/>
          <p:nvPr/>
        </p:nvGrpSpPr>
        <p:grpSpPr>
          <a:xfrm>
            <a:off x="6300192" y="4665671"/>
            <a:ext cx="762669" cy="358904"/>
            <a:chOff x="6062873" y="2639775"/>
            <a:chExt cx="762669" cy="296615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F5AE8F42-3A4C-D149-91CB-C166D88BEA2C}"/>
                </a:ext>
              </a:extLst>
            </p:cNvPr>
            <p:cNvSpPr/>
            <p:nvPr/>
          </p:nvSpPr>
          <p:spPr>
            <a:xfrm>
              <a:off x="6156176" y="2639775"/>
              <a:ext cx="576064" cy="288032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AFF22F8F-C0E6-BC46-95A8-BB94F7730ADC}"/>
                </a:ext>
              </a:extLst>
            </p:cNvPr>
            <p:cNvSpPr txBox="1"/>
            <p:nvPr/>
          </p:nvSpPr>
          <p:spPr>
            <a:xfrm>
              <a:off x="6062873" y="2659391"/>
              <a:ext cx="7626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bg1"/>
                  </a:solidFill>
                </a:rPr>
                <a:t>J</a:t>
              </a:r>
              <a:r>
                <a:rPr kumimoji="1" lang="zh-CN" altLang="en-US" sz="1400" b="1" baseline="-25000" dirty="0">
                  <a:solidFill>
                    <a:schemeClr val="bg1"/>
                  </a:solidFill>
                </a:rPr>
                <a:t>元数据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5DB24B6-162C-5340-8B9C-8F71590FE712}"/>
              </a:ext>
            </a:extLst>
          </p:cNvPr>
          <p:cNvGrpSpPr/>
          <p:nvPr/>
        </p:nvGrpSpPr>
        <p:grpSpPr>
          <a:xfrm>
            <a:off x="6375310" y="3599819"/>
            <a:ext cx="762669" cy="349644"/>
            <a:chOff x="6062873" y="2639775"/>
            <a:chExt cx="762669" cy="288962"/>
          </a:xfrm>
        </p:grpSpPr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06066DBE-D2CC-CD43-9176-7A388612B1BC}"/>
                </a:ext>
              </a:extLst>
            </p:cNvPr>
            <p:cNvSpPr/>
            <p:nvPr/>
          </p:nvSpPr>
          <p:spPr>
            <a:xfrm>
              <a:off x="6156176" y="2639775"/>
              <a:ext cx="576064" cy="288032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595263D-4371-F342-B9A6-DEBE7677DE6F}"/>
                </a:ext>
              </a:extLst>
            </p:cNvPr>
            <p:cNvSpPr txBox="1"/>
            <p:nvPr/>
          </p:nvSpPr>
          <p:spPr>
            <a:xfrm>
              <a:off x="6062873" y="2651738"/>
              <a:ext cx="7626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 err="1">
                  <a:solidFill>
                    <a:schemeClr val="bg1"/>
                  </a:solidFill>
                </a:rPr>
                <a:t>J</a:t>
              </a:r>
              <a:r>
                <a:rPr kumimoji="1" lang="en-US" altLang="zh-CN" sz="1400" b="1" baseline="-25000" dirty="0" err="1">
                  <a:solidFill>
                    <a:schemeClr val="bg1"/>
                  </a:solidFill>
                </a:rPr>
                <a:t>Cmt</a:t>
              </a:r>
              <a:endParaRPr kumimoji="1" lang="zh-CN" altLang="en-US" sz="1400" b="1" baseline="-25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944380B-5AD7-134A-847B-C53ADDCBAED1}"/>
              </a:ext>
            </a:extLst>
          </p:cNvPr>
          <p:cNvGrpSpPr/>
          <p:nvPr/>
        </p:nvGrpSpPr>
        <p:grpSpPr>
          <a:xfrm>
            <a:off x="6943517" y="4658741"/>
            <a:ext cx="762669" cy="365830"/>
            <a:chOff x="6062873" y="2639775"/>
            <a:chExt cx="762669" cy="302339"/>
          </a:xfrm>
        </p:grpSpPr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DA797E53-6F48-DB4F-8A95-40B0A10CFB7F}"/>
                </a:ext>
              </a:extLst>
            </p:cNvPr>
            <p:cNvSpPr/>
            <p:nvPr/>
          </p:nvSpPr>
          <p:spPr>
            <a:xfrm>
              <a:off x="6156176" y="2639775"/>
              <a:ext cx="576064" cy="288032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EE7AB302-5666-1246-9A06-8CBB5912E869}"/>
                </a:ext>
              </a:extLst>
            </p:cNvPr>
            <p:cNvSpPr txBox="1"/>
            <p:nvPr/>
          </p:nvSpPr>
          <p:spPr>
            <a:xfrm>
              <a:off x="6062873" y="2665115"/>
              <a:ext cx="7626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 err="1">
                  <a:solidFill>
                    <a:schemeClr val="bg1"/>
                  </a:solidFill>
                </a:rPr>
                <a:t>J</a:t>
              </a:r>
              <a:r>
                <a:rPr kumimoji="1" lang="en-US" altLang="zh-CN" sz="1400" b="1" baseline="-25000" dirty="0" err="1">
                  <a:solidFill>
                    <a:schemeClr val="bg1"/>
                  </a:solidFill>
                </a:rPr>
                <a:t>Cmt</a:t>
              </a:r>
              <a:endParaRPr kumimoji="1" lang="zh-CN" altLang="en-US" sz="1400" b="1" baseline="-25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F732BFE-66E8-8C4A-9730-CF646BD6C3A5}"/>
              </a:ext>
            </a:extLst>
          </p:cNvPr>
          <p:cNvGrpSpPr/>
          <p:nvPr/>
        </p:nvGrpSpPr>
        <p:grpSpPr>
          <a:xfrm>
            <a:off x="7704126" y="3580531"/>
            <a:ext cx="762669" cy="349644"/>
            <a:chOff x="6062873" y="2639775"/>
            <a:chExt cx="762669" cy="288962"/>
          </a:xfrm>
        </p:grpSpPr>
        <p:sp>
          <p:nvSpPr>
            <p:cNvPr id="62" name="圆角矩形 61">
              <a:extLst>
                <a:ext uri="{FF2B5EF4-FFF2-40B4-BE49-F238E27FC236}">
                  <a16:creationId xmlns:a16="http://schemas.microsoft.com/office/drawing/2014/main" id="{FCA1F94D-C1CE-A742-9F90-E00CC94EA5A4}"/>
                </a:ext>
              </a:extLst>
            </p:cNvPr>
            <p:cNvSpPr/>
            <p:nvPr/>
          </p:nvSpPr>
          <p:spPr>
            <a:xfrm>
              <a:off x="6156176" y="2639775"/>
              <a:ext cx="576064" cy="2880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765AA15F-48EC-B04C-929C-E69346341CCF}"/>
                </a:ext>
              </a:extLst>
            </p:cNvPr>
            <p:cNvSpPr txBox="1"/>
            <p:nvPr/>
          </p:nvSpPr>
          <p:spPr>
            <a:xfrm>
              <a:off x="6062873" y="2651738"/>
              <a:ext cx="7626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chemeClr val="bg1"/>
                  </a:solidFill>
                </a:rPr>
                <a:t>元数据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6EA0EF93-11A9-AF48-9754-8BAD563F6D04}"/>
              </a:ext>
            </a:extLst>
          </p:cNvPr>
          <p:cNvGrpSpPr/>
          <p:nvPr/>
        </p:nvGrpSpPr>
        <p:grpSpPr>
          <a:xfrm>
            <a:off x="3166200" y="4682164"/>
            <a:ext cx="762669" cy="349644"/>
            <a:chOff x="6062873" y="2639775"/>
            <a:chExt cx="762669" cy="288962"/>
          </a:xfrm>
        </p:grpSpPr>
        <p:sp>
          <p:nvSpPr>
            <p:cNvPr id="66" name="圆角矩形 65">
              <a:extLst>
                <a:ext uri="{FF2B5EF4-FFF2-40B4-BE49-F238E27FC236}">
                  <a16:creationId xmlns:a16="http://schemas.microsoft.com/office/drawing/2014/main" id="{1EFC1954-80DB-C84B-B81B-E9EA5568CC30}"/>
                </a:ext>
              </a:extLst>
            </p:cNvPr>
            <p:cNvSpPr/>
            <p:nvPr/>
          </p:nvSpPr>
          <p:spPr>
            <a:xfrm>
              <a:off x="6156176" y="2639775"/>
              <a:ext cx="576064" cy="2880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B5938D0-5A48-1F40-BEA2-3CBBCC27A8E9}"/>
                </a:ext>
              </a:extLst>
            </p:cNvPr>
            <p:cNvSpPr txBox="1"/>
            <p:nvPr/>
          </p:nvSpPr>
          <p:spPr>
            <a:xfrm>
              <a:off x="6062873" y="2651738"/>
              <a:ext cx="7626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chemeClr val="bg1"/>
                  </a:solidFill>
                </a:rPr>
                <a:t>元数据</a:t>
              </a: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CA44F621-1297-3746-9E3C-7E920D43E5A7}"/>
              </a:ext>
            </a:extLst>
          </p:cNvPr>
          <p:cNvGrpSpPr/>
          <p:nvPr/>
        </p:nvGrpSpPr>
        <p:grpSpPr>
          <a:xfrm>
            <a:off x="5709638" y="3540818"/>
            <a:ext cx="762669" cy="429070"/>
            <a:chOff x="5709638" y="3530600"/>
            <a:chExt cx="762669" cy="429070"/>
          </a:xfrm>
        </p:grpSpPr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50C68EC8-DD46-0844-B7D2-9E43EA96EA55}"/>
                </a:ext>
              </a:extLst>
            </p:cNvPr>
            <p:cNvSpPr/>
            <p:nvPr/>
          </p:nvSpPr>
          <p:spPr>
            <a:xfrm>
              <a:off x="5871122" y="3530600"/>
              <a:ext cx="429070" cy="429070"/>
            </a:xfrm>
            <a:prstGeom prst="ellipse">
              <a:avLst/>
            </a:prstGeom>
            <a:solidFill>
              <a:srgbClr val="9437FF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D7FD1BE-7297-D941-8F09-D7629630787D}"/>
                </a:ext>
              </a:extLst>
            </p:cNvPr>
            <p:cNvSpPr txBox="1"/>
            <p:nvPr/>
          </p:nvSpPr>
          <p:spPr>
            <a:xfrm>
              <a:off x="5709638" y="3630125"/>
              <a:ext cx="76266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050" b="1" dirty="0">
                  <a:solidFill>
                    <a:schemeClr val="bg1"/>
                  </a:solidFill>
                </a:rPr>
                <a:t>Flush</a:t>
              </a:r>
              <a:endParaRPr kumimoji="1" lang="zh-CN" altLang="en-US" sz="105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658119D-B86A-5A46-A7B4-A7F929ECE70D}"/>
              </a:ext>
            </a:extLst>
          </p:cNvPr>
          <p:cNvGrpSpPr/>
          <p:nvPr/>
        </p:nvGrpSpPr>
        <p:grpSpPr>
          <a:xfrm>
            <a:off x="7069797" y="3540818"/>
            <a:ext cx="762669" cy="429070"/>
            <a:chOff x="5709638" y="3530600"/>
            <a:chExt cx="762669" cy="429070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0971041E-DBF5-EB40-8C9C-4A494AAFD8CF}"/>
                </a:ext>
              </a:extLst>
            </p:cNvPr>
            <p:cNvSpPr/>
            <p:nvPr/>
          </p:nvSpPr>
          <p:spPr>
            <a:xfrm>
              <a:off x="5871122" y="3530600"/>
              <a:ext cx="429070" cy="429070"/>
            </a:xfrm>
            <a:prstGeom prst="ellipse">
              <a:avLst/>
            </a:prstGeom>
            <a:solidFill>
              <a:srgbClr val="9437FF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A83CA717-3A1B-6742-A6AD-3558177FDA32}"/>
                </a:ext>
              </a:extLst>
            </p:cNvPr>
            <p:cNvSpPr txBox="1"/>
            <p:nvPr/>
          </p:nvSpPr>
          <p:spPr>
            <a:xfrm>
              <a:off x="5709638" y="3630125"/>
              <a:ext cx="76266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050" b="1" dirty="0">
                  <a:solidFill>
                    <a:schemeClr val="bg1"/>
                  </a:solidFill>
                </a:rPr>
                <a:t>Flush</a:t>
              </a:r>
              <a:endParaRPr kumimoji="1" lang="zh-CN" altLang="en-US" sz="105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B09CCF53-74A3-B048-BD40-E710D44B6DD0}"/>
              </a:ext>
            </a:extLst>
          </p:cNvPr>
          <p:cNvSpPr/>
          <p:nvPr/>
        </p:nvSpPr>
        <p:spPr>
          <a:xfrm>
            <a:off x="6825543" y="2634646"/>
            <a:ext cx="576064" cy="34851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B2D55F5-DE46-6949-BDB2-767CA08294E0}"/>
              </a:ext>
            </a:extLst>
          </p:cNvPr>
          <p:cNvSpPr txBox="1"/>
          <p:nvPr/>
        </p:nvSpPr>
        <p:spPr>
          <a:xfrm>
            <a:off x="6732240" y="2641321"/>
            <a:ext cx="762669" cy="335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bg1"/>
                </a:solidFill>
              </a:rPr>
              <a:t>J</a:t>
            </a:r>
            <a:r>
              <a:rPr kumimoji="1" lang="zh-CN" altLang="en-US" sz="1400" b="1" baseline="-25000" dirty="0">
                <a:solidFill>
                  <a:schemeClr val="bg1"/>
                </a:solidFill>
              </a:rPr>
              <a:t>元数据</a:t>
            </a:r>
            <a:endParaRPr kumimoji="1" lang="zh-CN" altLang="en-US" sz="1200" b="1" baseline="-25000" dirty="0">
              <a:solidFill>
                <a:schemeClr val="bg1"/>
              </a:solidFill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7C0AB8A3-F6CC-9647-9AC7-8E8D9A413787}"/>
              </a:ext>
            </a:extLst>
          </p:cNvPr>
          <p:cNvGrpSpPr/>
          <p:nvPr/>
        </p:nvGrpSpPr>
        <p:grpSpPr>
          <a:xfrm>
            <a:off x="7401606" y="2633279"/>
            <a:ext cx="762669" cy="365830"/>
            <a:chOff x="6062873" y="2639775"/>
            <a:chExt cx="762669" cy="302339"/>
          </a:xfrm>
        </p:grpSpPr>
        <p:sp>
          <p:nvSpPr>
            <p:cNvPr id="79" name="圆角矩形 78">
              <a:extLst>
                <a:ext uri="{FF2B5EF4-FFF2-40B4-BE49-F238E27FC236}">
                  <a16:creationId xmlns:a16="http://schemas.microsoft.com/office/drawing/2014/main" id="{410ADF22-E867-8343-B226-9826DA119E3F}"/>
                </a:ext>
              </a:extLst>
            </p:cNvPr>
            <p:cNvSpPr/>
            <p:nvPr/>
          </p:nvSpPr>
          <p:spPr>
            <a:xfrm>
              <a:off x="6156176" y="2639775"/>
              <a:ext cx="576064" cy="288032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F8CC18A0-7857-CB47-B73D-EE77F15E4106}"/>
                </a:ext>
              </a:extLst>
            </p:cNvPr>
            <p:cNvSpPr txBox="1"/>
            <p:nvPr/>
          </p:nvSpPr>
          <p:spPr>
            <a:xfrm>
              <a:off x="6062873" y="2665115"/>
              <a:ext cx="7626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 err="1">
                  <a:solidFill>
                    <a:schemeClr val="bg1"/>
                  </a:solidFill>
                </a:rPr>
                <a:t>J</a:t>
              </a:r>
              <a:r>
                <a:rPr kumimoji="1" lang="en-US" altLang="zh-CN" sz="1400" b="1" baseline="-25000" dirty="0" err="1">
                  <a:solidFill>
                    <a:schemeClr val="bg1"/>
                  </a:solidFill>
                </a:rPr>
                <a:t>Cmt</a:t>
              </a:r>
              <a:endParaRPr kumimoji="1" lang="zh-CN" altLang="en-US" sz="1400" b="1" baseline="-25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75934526-6D83-8C46-9208-8CA4C98027CD}"/>
              </a:ext>
            </a:extLst>
          </p:cNvPr>
          <p:cNvCxnSpPr/>
          <p:nvPr/>
        </p:nvCxnSpPr>
        <p:spPr>
          <a:xfrm>
            <a:off x="763960" y="2281436"/>
            <a:ext cx="7776864" cy="0"/>
          </a:xfrm>
          <a:prstGeom prst="line">
            <a:avLst/>
          </a:prstGeom>
          <a:ln w="2857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08592A58-7785-C344-8C57-091AF23E8038}"/>
              </a:ext>
            </a:extLst>
          </p:cNvPr>
          <p:cNvSpPr txBox="1"/>
          <p:nvPr/>
        </p:nvSpPr>
        <p:spPr>
          <a:xfrm>
            <a:off x="256637" y="1624313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rgbClr val="7030A0"/>
                </a:solidFill>
              </a:rPr>
              <a:t>应用程序</a:t>
            </a:r>
          </a:p>
        </p:txBody>
      </p:sp>
      <p:sp>
        <p:nvSpPr>
          <p:cNvPr id="83" name="圆角矩形 82">
            <a:extLst>
              <a:ext uri="{FF2B5EF4-FFF2-40B4-BE49-F238E27FC236}">
                <a16:creationId xmlns:a16="http://schemas.microsoft.com/office/drawing/2014/main" id="{3041273C-55C6-9440-BCF4-AB89F0550563}"/>
              </a:ext>
            </a:extLst>
          </p:cNvPr>
          <p:cNvSpPr/>
          <p:nvPr/>
        </p:nvSpPr>
        <p:spPr>
          <a:xfrm>
            <a:off x="6969559" y="1619873"/>
            <a:ext cx="1080121" cy="34851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/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317485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 animBg="1"/>
      <p:bldP spid="37" grpId="1" animBg="1"/>
      <p:bldP spid="38" grpId="0" animBg="1"/>
      <p:bldP spid="38" grpId="1" animBg="1"/>
      <p:bldP spid="39" grpId="0"/>
      <p:bldP spid="39" grpId="1"/>
      <p:bldP spid="42" grpId="0" animBg="1"/>
      <p:bldP spid="76" grpId="0" animBg="1"/>
      <p:bldP spid="7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CE5FE-5009-4F49-92A5-28365009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崩溃后，基于日志恢复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0E65AE-5050-B04D-BDC3-6204112D7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启动后首先检查日志区域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若没有任何日志记录，则无需恢复</a:t>
            </a:r>
            <a:endParaRPr kumimoji="1" lang="en-US" altLang="zh-CN" sz="2000" dirty="0"/>
          </a:p>
          <a:p>
            <a:r>
              <a:rPr kumimoji="1" lang="zh-CN" altLang="en-US" sz="2400" dirty="0"/>
              <a:t>扫描所有已经</a:t>
            </a:r>
            <a:r>
              <a:rPr kumimoji="1" lang="en-US" altLang="zh-CN" sz="2400" dirty="0"/>
              <a:t>COMMIT</a:t>
            </a:r>
            <a:r>
              <a:rPr kumimoji="1" lang="zh-CN" altLang="en-US" sz="2400" dirty="0"/>
              <a:t>的事务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若没有</a:t>
            </a:r>
            <a:r>
              <a:rPr kumimoji="1" lang="en-US" altLang="zh-CN" sz="2000" dirty="0"/>
              <a:t>COMMIT</a:t>
            </a:r>
            <a:r>
              <a:rPr kumimoji="1" lang="zh-CN" altLang="en-US" sz="2000" dirty="0"/>
              <a:t>的事务，则无需恢复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对已经</a:t>
            </a:r>
            <a:r>
              <a:rPr kumimoji="1" lang="en-US" altLang="zh-CN" sz="2000" dirty="0"/>
              <a:t>COMMIT</a:t>
            </a:r>
            <a:r>
              <a:rPr kumimoji="1" lang="zh-CN" altLang="en-US" sz="2000" dirty="0"/>
              <a:t>的事务，将元数据从日志区写到原本位置 </a:t>
            </a:r>
            <a:endParaRPr kumimoji="1" lang="en-US" altLang="zh-CN" sz="2000" dirty="0"/>
          </a:p>
          <a:p>
            <a:r>
              <a:rPr kumimoji="1" lang="zh-CN" altLang="en-US" sz="2400" dirty="0"/>
              <a:t>完成后清空日志区域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BA39A0-96D6-A04F-B2FA-33CE29B5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765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7B3A-1A09-D041-A015-BB449F13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思考时间</a:t>
            </a:r>
            <a:r>
              <a:rPr lang="en-US" altLang="zh-CN" dirty="0"/>
              <a:t>🤔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C7930-3458-E247-8649-98FAE5641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Order</a:t>
            </a:r>
            <a:r>
              <a:rPr lang="zh-CN" altLang="en-US" b="0" dirty="0"/>
              <a:t> </a:t>
            </a:r>
            <a:r>
              <a:rPr lang="en-US" altLang="zh-CN" b="0" dirty="0"/>
              <a:t>mode</a:t>
            </a:r>
            <a:r>
              <a:rPr lang="zh-CN" altLang="en-US" b="0" dirty="0"/>
              <a:t>相对</a:t>
            </a:r>
            <a:r>
              <a:rPr lang="en-US" altLang="zh-CN" b="0" dirty="0"/>
              <a:t>Data</a:t>
            </a:r>
            <a:r>
              <a:rPr lang="zh-CN" altLang="en-US" b="0" dirty="0"/>
              <a:t> </a:t>
            </a:r>
            <a:r>
              <a:rPr lang="en-US" altLang="zh-CN" b="0" dirty="0"/>
              <a:t>mode</a:t>
            </a:r>
            <a:r>
              <a:rPr lang="zh-CN" altLang="en-US" b="0" dirty="0"/>
              <a:t>有什么缺点？</a:t>
            </a:r>
            <a:endParaRPr lang="en-US" altLang="zh-CN" b="0" dirty="0"/>
          </a:p>
          <a:p>
            <a:r>
              <a:rPr lang="zh-CN" altLang="en-CN" b="0" dirty="0"/>
              <a:t>手机</a:t>
            </a:r>
            <a:r>
              <a:rPr lang="zh-CN" altLang="en-US" b="0" dirty="0"/>
              <a:t>和笔记本电脑等设备有电池，数据中心一般会配有</a:t>
            </a:r>
            <a:r>
              <a:rPr lang="en-US" altLang="zh-CN" b="0" dirty="0"/>
              <a:t>UPS</a:t>
            </a:r>
            <a:r>
              <a:rPr lang="zh-CN" altLang="en-US" b="0" dirty="0"/>
              <a:t>（不间断电源），是否还需要保证文件系统崩溃一致性？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023B1-5D7B-1044-B659-3F3E85E0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C6345-3FEA-6840-9C71-4C366B8D5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96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39626</TotalTime>
  <Words>2141</Words>
  <Application>Microsoft Macintosh PowerPoint</Application>
  <PresentationFormat>On-screen Show (16:10)</PresentationFormat>
  <Paragraphs>398</Paragraphs>
  <Slides>32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DengXian</vt:lpstr>
      <vt:lpstr>微软雅黑</vt:lpstr>
      <vt:lpstr>微软雅黑</vt:lpstr>
      <vt:lpstr>宋体</vt:lpstr>
      <vt:lpstr>Arial</vt:lpstr>
      <vt:lpstr>Calibri</vt:lpstr>
      <vt:lpstr>Office 主题​​</vt:lpstr>
      <vt:lpstr>1_Office 主题​​</vt:lpstr>
      <vt:lpstr>PowerPoint Presentation</vt:lpstr>
      <vt:lpstr>版权声明</vt:lpstr>
      <vt:lpstr>UNIX文件系统的API</vt:lpstr>
      <vt:lpstr>回顾：多级inode</vt:lpstr>
      <vt:lpstr>回顾：目录文件与目录项</vt:lpstr>
      <vt:lpstr>文件系统 API</vt:lpstr>
      <vt:lpstr>文件系统API与元数据</vt:lpstr>
      <vt:lpstr>文件的元数据 （磁盘中）</vt:lpstr>
      <vt:lpstr>被打开文件的元数据（内存中）</vt:lpstr>
      <vt:lpstr>文件游标 Cursor</vt:lpstr>
      <vt:lpstr>lseek示例</vt:lpstr>
      <vt:lpstr>lseek示例</vt:lpstr>
      <vt:lpstr>lseek示例</vt:lpstr>
      <vt:lpstr>文件游标共享实例</vt:lpstr>
      <vt:lpstr>write 和 close</vt:lpstr>
      <vt:lpstr>删除一个打开的文件</vt:lpstr>
      <vt:lpstr>fsync</vt:lpstr>
      <vt:lpstr>问题</vt:lpstr>
      <vt:lpstr>PowerPoint Presentation</vt:lpstr>
      <vt:lpstr>文件系统的崩溃一致性</vt:lpstr>
      <vt:lpstr>文件系统的崩溃一致性</vt:lpstr>
      <vt:lpstr>PowerPoint Presentation</vt:lpstr>
      <vt:lpstr>崩溃一致性：用户期望</vt:lpstr>
      <vt:lpstr>方法-1：同步元数据写+fsck</vt:lpstr>
      <vt:lpstr>方法-1：同步元数据写+fsck</vt:lpstr>
      <vt:lpstr>方法-1：同步元数据写+fsck</vt:lpstr>
      <vt:lpstr>方法-1的问题：太慢</vt:lpstr>
      <vt:lpstr>方法-2：日志（Journaling）</vt:lpstr>
      <vt:lpstr>例: Ext4的日志</vt:lpstr>
      <vt:lpstr>Ordered Mode：两次Flush保证顺序</vt:lpstr>
      <vt:lpstr>崩溃后，基于日志恢复</vt:lpstr>
      <vt:lpstr>思考时间🤔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1100</cp:revision>
  <cp:lastPrinted>2020-03-02T13:38:09Z</cp:lastPrinted>
  <dcterms:created xsi:type="dcterms:W3CDTF">2017-11-24T09:35:45Z</dcterms:created>
  <dcterms:modified xsi:type="dcterms:W3CDTF">2025-12-15T15:37:37Z</dcterms:modified>
</cp:coreProperties>
</file>